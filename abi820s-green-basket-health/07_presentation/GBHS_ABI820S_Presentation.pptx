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8aedaae8-1358-73a0-d1ae-791a956b1655}">
          <p14:sldIdLst>
            <p14:sldId id="256"/>
            <p14:sldId id="257"/>
            <p14:sldId id="258"/>
          </p14:sldIdLst>
        </p14:section>
        <p14:section name="Solution" id="{ae65c352-4228-9c0d-99f2-8393af4f38b8}">
          <p14:sldIdLst>
            <p14:sldId id="259"/>
            <p14:sldId id="260"/>
            <p14:sldId id="261"/>
            <p14:sldId id="262"/>
            <p14:sldId id="263"/>
            <p14:sldId id="264"/>
          </p14:sldIdLst>
        </p14:section>
        <p14:section name="Insights" id="{fb8b5ab0-0663-a4b2-c570-ce7ed8a712af}">
          <p14:sldIdLst>
            <p14:sldId id="265"/>
            <p14:sldId id="266"/>
            <p14:sldId id="267"/>
            <p14:sldId id="268"/>
          </p14:sldIdLst>
        </p14:section>
        <p14:section name="Close" id="{bdab69c2-0690-4c68-0b2e-e8d4de58cd37}">
          <p14:sldIdLst>
            <p14:sldId id="269"/>
          </p14:sldIdLst>
        </p14:section>
        <p14:section name="Backup" id="{98bf26e9-ed2d-0b7c-a45c-2c2defa9b08e}">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ED patients seen within their SATS triage target, % (target 80 %)</a:t>
            </a:r>
          </a:p>
        </c:rich>
      </c:tx>
      <c:layout/>
      <c:overlay val="0"/>
    </c:title>
    <c:autoTitleDeleted val="0"/>
    <c:plotArea>
      <c:layout/>
      <c:barChart>
        <c:barDir val="col"/>
        <c:grouping val="clustered"/>
        <c:varyColors val="0"/>
        <c:ser>
          <c:idx val="0"/>
          <c:order val="0"/>
          <c:tx>
            <c:strRef>
              <c:f>Sheet1!$B$1</c:f>
              <c:strCache>
                <c:ptCount val="1"/>
                <c:pt idx="0">
                  <c:v>Seen within target</c:v>
                </c:pt>
              </c:strCache>
            </c:strRef>
          </c:tx>
          <c:spPr>
            <a:solidFill>
              <a:srgbClr val="2A78D6"/>
            </a:solidFill>
            <a:effectLst/>
          </c:spPr>
          <c:invertIfNegative val="0"/>
          <c:dLbls>
            <c:numFmt formatCode="0.0&quot; %&quot;"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cat>
            <c:multiLvlStrRef>
              <c:f>Sheet1!$A$2:$A$6</c:f>
              <c:multiLvlStrCache>
                <c:ptCount val="5"/>
                <c:lvl>
                  <c:pt idx="0">
                    <c:v>2022</c:v>
                  </c:pt>
                  <c:pt idx="1">
                    <c:v>2023</c:v>
                  </c:pt>
                  <c:pt idx="2">
                    <c:v>2024</c:v>
                  </c:pt>
                  <c:pt idx="3">
                    <c:v>2025</c:v>
                  </c:pt>
                  <c:pt idx="4">
                    <c:v>2026 YTD</c:v>
                  </c:pt>
                </c:lvl>
              </c:multiLvlStrCache>
            </c:multiLvlStrRef>
          </c:cat>
          <c:val>
            <c:numRef>
              <c:f>Sheet1!$B$2:$B$6</c:f>
              <c:numCache>
                <c:formatCode>General</c:formatCode>
                <c:ptCount val="5"/>
                <c:pt idx="0">
                  <c:v>78.8</c:v>
                </c:pt>
                <c:pt idx="1">
                  <c:v>78</c:v>
                </c:pt>
                <c:pt idx="2">
                  <c:v>77.3</c:v>
                </c:pt>
                <c:pt idx="3">
                  <c:v>67.5</c:v>
                </c:pt>
                <c:pt idx="4">
                  <c:v>66.7</c:v>
                </c:pt>
              </c:numCache>
            </c:numRef>
          </c:val>
        </c:ser>
        <c:dLbls>
          <c:numFmt formatCode="0.0&quot; %&quot;"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Rundu medical ward, monthly bed occupancy %</a:t>
            </a:r>
          </a:p>
        </c:rich>
      </c:tx>
      <c:layout/>
      <c:overlay val="0"/>
    </c:title>
    <c:autoTitleDeleted val="0"/>
    <c:plotArea>
      <c:layout/>
      <c:lineChart>
        <c:varyColors val="0"/>
        <c:ser>
          <c:idx val="0"/>
          <c:order val="0"/>
          <c:tx>
            <c:strRef>
              <c:f>Sheet1!$B$1</c:f>
              <c:strCache>
                <c:ptCount val="1"/>
                <c:pt idx="0">
                  <c:v>Beds valid that month (SCD Type 2)</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100" u="none">
                    <a:solidFill>
                      <a:srgbClr val="52514E"/>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Sheet1!$A$2:$A$28</c:f>
              <c:multiLvlStrCache>
                <c:ptCount val="27"/>
                <c:lvl>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pt idx="12">
                    <c:v>2025-07</c:v>
                  </c:pt>
                  <c:pt idx="13">
                    <c:v>2025-08</c:v>
                  </c:pt>
                  <c:pt idx="14">
                    <c:v>2025-09</c:v>
                  </c:pt>
                  <c:pt idx="15">
                    <c:v>2025-10</c:v>
                  </c:pt>
                  <c:pt idx="16">
                    <c:v>2025-11</c:v>
                  </c:pt>
                  <c:pt idx="17">
                    <c:v>2025-12</c:v>
                  </c:pt>
                  <c:pt idx="18">
                    <c:v>2026-01</c:v>
                  </c:pt>
                  <c:pt idx="19">
                    <c:v>2026-02</c:v>
                  </c:pt>
                  <c:pt idx="20">
                    <c:v>2026-03</c:v>
                  </c:pt>
                  <c:pt idx="21">
                    <c:v>2026-04</c:v>
                  </c:pt>
                  <c:pt idx="22">
                    <c:v>2026-05</c:v>
                  </c:pt>
                  <c:pt idx="23">
                    <c:v>2026-06</c:v>
                  </c:pt>
                  <c:pt idx="24">
                    <c:v>2026-07</c:v>
                  </c:pt>
                  <c:pt idx="25">
                    <c:v>2026-08</c:v>
                  </c:pt>
                  <c:pt idx="26">
                    <c:v>2026-09</c:v>
                  </c:pt>
                </c:lvl>
              </c:multiLvlStrCache>
            </c:multiLvlStrRef>
          </c:cat>
          <c:val>
            <c:numRef>
              <c:f>Sheet1!$B$2:$B$28</c:f>
              <c:numCache>
                <c:formatCode>General</c:formatCode>
                <c:ptCount val="27"/>
                <c:pt idx="0">
                  <c:v>93.9</c:v>
                </c:pt>
                <c:pt idx="1">
                  <c:v>104</c:v>
                </c:pt>
                <c:pt idx="2">
                  <c:v>97.2</c:v>
                </c:pt>
                <c:pt idx="3">
                  <c:v>89.7</c:v>
                </c:pt>
                <c:pt idx="4">
                  <c:v>106.1</c:v>
                </c:pt>
                <c:pt idx="5">
                  <c:v>117.6</c:v>
                </c:pt>
                <c:pt idx="6">
                  <c:v>152.4</c:v>
                </c:pt>
                <c:pt idx="7">
                  <c:v>139.3</c:v>
                </c:pt>
                <c:pt idx="8">
                  <c:v>118.1</c:v>
                </c:pt>
                <c:pt idx="9">
                  <c:v>84.2</c:v>
                </c:pt>
                <c:pt idx="10">
                  <c:v>86.6</c:v>
                </c:pt>
                <c:pt idx="11">
                  <c:v>67.2</c:v>
                </c:pt>
                <c:pt idx="12">
                  <c:v>88.7</c:v>
                </c:pt>
                <c:pt idx="13">
                  <c:v>81.6</c:v>
                </c:pt>
                <c:pt idx="14">
                  <c:v>60.2</c:v>
                </c:pt>
                <c:pt idx="15">
                  <c:v>72.6</c:v>
                </c:pt>
                <c:pt idx="16">
                  <c:v>74.7</c:v>
                </c:pt>
                <c:pt idx="17">
                  <c:v>88</c:v>
                </c:pt>
                <c:pt idx="18">
                  <c:v>84.4</c:v>
                </c:pt>
                <c:pt idx="19">
                  <c:v>85.2</c:v>
                </c:pt>
                <c:pt idx="20">
                  <c:v>83.7</c:v>
                </c:pt>
                <c:pt idx="21">
                  <c:v>91.2</c:v>
                </c:pt>
                <c:pt idx="22">
                  <c:v>85.8</c:v>
                </c:pt>
                <c:pt idx="23">
                  <c:v>96.9</c:v>
                </c:pt>
                <c:pt idx="24">
                  <c:v>90.3</c:v>
                </c:pt>
                <c:pt idx="25">
                  <c:v>77.6</c:v>
                </c:pt>
                <c:pt idx="26">
                  <c:v>83.5</c:v>
                </c:pt>
              </c:numCache>
            </c:numRef>
          </c:val>
          <c:smooth val="0"/>
        </c:ser>
        <c:ser>
          <c:idx val="1"/>
          <c:order val="1"/>
          <c:tx>
            <c:strRef>
              <c:f>Sheet1!$C$1</c:f>
              <c:strCache>
                <c:ptCount val="1"/>
                <c:pt idx="0">
                  <c:v>Today's 36 beds (no history)</c:v>
                </c:pt>
              </c:strCache>
            </c:strRef>
          </c:tx>
          <c:spPr>
            <a:solidFill>
              <a:srgbClr val="B9B8B1"/>
            </a:solidFill>
            <a:ln w="25400" cap="flat">
              <a:solidFill>
                <a:srgbClr val="B9B8B1"/>
              </a:solidFill>
              <a:prstDash val="solid"/>
              <a:round/>
            </a:ln>
            <a:effectLst/>
          </c:spPr>
          <c:invertIfNegative val="0"/>
          <c:dLbls>
            <c:numFmt formatCode="#,##0" sourceLinked="0"/>
            <c:txPr>
              <a:bodyPr/>
              <a:lstStyle/>
              <a:p>
                <a:pPr>
                  <a:defRPr b="0" i="0" strike="noStrike" sz="1100" u="none">
                    <a:solidFill>
                      <a:srgbClr val="52514E"/>
                    </a:solidFill>
                    <a:latin typeface="+mn-lt"/>
                  </a:defRPr>
                </a:pPr>
              </a:p>
            </c:txPr>
            <c:showLegendKey val="0"/>
            <c:showVal val="0"/>
            <c:showCatName val="0"/>
            <c:showSerName val="0"/>
            <c:showPercent val="0"/>
            <c:showBubbleSize val="0"/>
            <c:showLeaderLines val="0"/>
          </c:dLbls>
          <c:marker>
            <c:symbol val="none"/>
            <c:size val="6"/>
            <c:spPr>
              <a:solidFill>
                <a:srgbClr val="B9B8B1"/>
              </a:solidFill>
              <a:ln w="9525" cap="flat">
                <a:solidFill>
                  <a:srgbClr val="B9B8B1"/>
                </a:solidFill>
                <a:prstDash val="solid"/>
                <a:round/>
              </a:ln>
              <a:effectLst/>
            </c:spPr>
          </c:marker>
          <c:cat>
            <c:multiLvlStrRef>
              <c:f>Sheet1!$A$2:$A$28</c:f>
              <c:multiLvlStrCache>
                <c:ptCount val="27"/>
                <c:lvl>
                  <c:pt idx="0">
                    <c:v>2024-07</c:v>
                  </c:pt>
                  <c:pt idx="1">
                    <c:v>2024-08</c:v>
                  </c:pt>
                  <c:pt idx="2">
                    <c:v>2024-09</c:v>
                  </c:pt>
                  <c:pt idx="3">
                    <c:v>2024-10</c:v>
                  </c:pt>
                  <c:pt idx="4">
                    <c:v>2024-11</c:v>
                  </c:pt>
                  <c:pt idx="5">
                    <c:v>2024-12</c:v>
                  </c:pt>
                  <c:pt idx="6">
                    <c:v>2025-01</c:v>
                  </c:pt>
                  <c:pt idx="7">
                    <c:v>2025-02</c:v>
                  </c:pt>
                  <c:pt idx="8">
                    <c:v>2025-03</c:v>
                  </c:pt>
                  <c:pt idx="9">
                    <c:v>2025-04</c:v>
                  </c:pt>
                  <c:pt idx="10">
                    <c:v>2025-05</c:v>
                  </c:pt>
                  <c:pt idx="11">
                    <c:v>2025-06</c:v>
                  </c:pt>
                  <c:pt idx="12">
                    <c:v>2025-07</c:v>
                  </c:pt>
                  <c:pt idx="13">
                    <c:v>2025-08</c:v>
                  </c:pt>
                  <c:pt idx="14">
                    <c:v>2025-09</c:v>
                  </c:pt>
                  <c:pt idx="15">
                    <c:v>2025-10</c:v>
                  </c:pt>
                  <c:pt idx="16">
                    <c:v>2025-11</c:v>
                  </c:pt>
                  <c:pt idx="17">
                    <c:v>2025-12</c:v>
                  </c:pt>
                  <c:pt idx="18">
                    <c:v>2026-01</c:v>
                  </c:pt>
                  <c:pt idx="19">
                    <c:v>2026-02</c:v>
                  </c:pt>
                  <c:pt idx="20">
                    <c:v>2026-03</c:v>
                  </c:pt>
                  <c:pt idx="21">
                    <c:v>2026-04</c:v>
                  </c:pt>
                  <c:pt idx="22">
                    <c:v>2026-05</c:v>
                  </c:pt>
                  <c:pt idx="23">
                    <c:v>2026-06</c:v>
                  </c:pt>
                  <c:pt idx="24">
                    <c:v>2026-07</c:v>
                  </c:pt>
                  <c:pt idx="25">
                    <c:v>2026-08</c:v>
                  </c:pt>
                  <c:pt idx="26">
                    <c:v>2026-09</c:v>
                  </c:pt>
                </c:lvl>
              </c:multiLvlStrCache>
            </c:multiLvlStrRef>
          </c:cat>
          <c:val>
            <c:numRef>
              <c:f>Sheet1!$C$2:$C$28</c:f>
              <c:numCache>
                <c:formatCode>General</c:formatCode>
                <c:ptCount val="27"/>
                <c:pt idx="0">
                  <c:v>61.8</c:v>
                </c:pt>
                <c:pt idx="1">
                  <c:v>69.4</c:v>
                </c:pt>
                <c:pt idx="2">
                  <c:v>64.8</c:v>
                </c:pt>
                <c:pt idx="3">
                  <c:v>59.8</c:v>
                </c:pt>
                <c:pt idx="4">
                  <c:v>70.7</c:v>
                </c:pt>
                <c:pt idx="5">
                  <c:v>78.4</c:v>
                </c:pt>
                <c:pt idx="6">
                  <c:v>101.6</c:v>
                </c:pt>
                <c:pt idx="7">
                  <c:v>92.9</c:v>
                </c:pt>
                <c:pt idx="8">
                  <c:v>78.8</c:v>
                </c:pt>
                <c:pt idx="9">
                  <c:v>70.7</c:v>
                </c:pt>
                <c:pt idx="10">
                  <c:v>75.8</c:v>
                </c:pt>
                <c:pt idx="11">
                  <c:v>59.7</c:v>
                </c:pt>
                <c:pt idx="12">
                  <c:v>78.9</c:v>
                </c:pt>
                <c:pt idx="13">
                  <c:v>71.1</c:v>
                </c:pt>
                <c:pt idx="14">
                  <c:v>53.5</c:v>
                </c:pt>
                <c:pt idx="15">
                  <c:v>64</c:v>
                </c:pt>
                <c:pt idx="16">
                  <c:v>64.9</c:v>
                </c:pt>
                <c:pt idx="17">
                  <c:v>77.4</c:v>
                </c:pt>
                <c:pt idx="18">
                  <c:v>75</c:v>
                </c:pt>
                <c:pt idx="19">
                  <c:v>74.5</c:v>
                </c:pt>
                <c:pt idx="20">
                  <c:v>74.4</c:v>
                </c:pt>
                <c:pt idx="21">
                  <c:v>81.1</c:v>
                </c:pt>
                <c:pt idx="22">
                  <c:v>75.1</c:v>
                </c:pt>
                <c:pt idx="23">
                  <c:v>86.1</c:v>
                </c:pt>
                <c:pt idx="24">
                  <c:v>80.3</c:v>
                </c:pt>
                <c:pt idx="25">
                  <c:v>69</c:v>
                </c:pt>
                <c:pt idx="26">
                  <c:v>74.3</c:v>
                </c:pt>
              </c:numCache>
            </c:numRef>
          </c:val>
          <c:smooth val="0"/>
        </c:ser>
        <c:dLbls>
          <c:numFmt formatCode="#,##0" sourceLinked="0"/>
          <c:txPr>
            <a:bodyPr/>
            <a:lstStyle/>
            <a:p>
              <a:pPr>
                <a:defRPr b="0" i="0" strike="noStrike" sz="1100" u="none">
                  <a:solidFill>
                    <a:srgbClr val="52514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tickLblSkip val="6"/>
      </c:catAx>
      <c:valAx>
        <c:axId val="2094734552"/>
        <c:scaling>
          <c:orientation val="minMax"/>
          <c:min val="0"/>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251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Issues logged in the full load, by DQ dimension (log scale)</a:t>
            </a:r>
          </a:p>
        </c:rich>
      </c:tx>
      <c:layout/>
      <c:overlay val="0"/>
    </c:title>
    <c:autoTitleDeleted val="0"/>
    <c:plotArea>
      <c:layout/>
      <c:barChart>
        <c:barDir val="bar"/>
        <c:grouping val="clustered"/>
        <c:varyColors val="0"/>
        <c:ser>
          <c:idx val="0"/>
          <c:order val="0"/>
          <c:tx>
            <c:strRef>
              <c:f>Sheet1!$B$1</c:f>
              <c:strCache>
                <c:ptCount val="1"/>
                <c:pt idx="0">
                  <c:v>Issues</c:v>
                </c:pt>
              </c:strCache>
            </c:strRef>
          </c:tx>
          <c:spPr>
            <a:solidFill>
              <a:srgbClr val="2A78D6"/>
            </a:solidFill>
            <a:effectLst/>
          </c:spPr>
          <c:invertIfNegative val="0"/>
          <c:dLbls>
            <c:numFmt formatCode="#,##0"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cat>
            <c:multiLvlStrRef>
              <c:f>Sheet1!$A$2:$A$7</c:f>
              <c:multiLvlStrCache>
                <c:ptCount val="6"/>
                <c:lvl>
                  <c:pt idx="0">
                    <c:v>Consistency</c:v>
                  </c:pt>
                  <c:pt idx="1">
                    <c:v>Uniqueness</c:v>
                  </c:pt>
                  <c:pt idx="2">
                    <c:v>Completeness</c:v>
                  </c:pt>
                  <c:pt idx="3">
                    <c:v>Validity</c:v>
                  </c:pt>
                  <c:pt idx="4">
                    <c:v>Accuracy</c:v>
                  </c:pt>
                  <c:pt idx="5">
                    <c:v>Timeliness</c:v>
                  </c:pt>
                </c:lvl>
              </c:multiLvlStrCache>
            </c:multiLvlStrRef>
          </c:cat>
          <c:val>
            <c:numRef>
              <c:f>Sheet1!$B$2:$B$7</c:f>
              <c:numCache>
                <c:formatCode>General</c:formatCode>
                <c:ptCount val="6"/>
                <c:pt idx="0">
                  <c:v>109479</c:v>
                </c:pt>
                <c:pt idx="1">
                  <c:v>19727</c:v>
                </c:pt>
                <c:pt idx="2">
                  <c:v>4799</c:v>
                </c:pt>
                <c:pt idx="3">
                  <c:v>1807</c:v>
                </c:pt>
                <c:pt idx="4">
                  <c:v>333</c:v>
                </c:pt>
                <c:pt idx="5">
                  <c:v>40</c:v>
                </c:pt>
              </c:numCache>
            </c:numRef>
          </c:val>
        </c:ser>
        <c:dLbls>
          <c:numFmt formatCode="#,##0"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logBase val="10"/>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Median wait of urgent (YELLOW) patients, minutes, by arrivals per doctor in the 12-hour shift</a:t>
            </a:r>
          </a:p>
        </c:rich>
      </c:tx>
      <c:layout/>
      <c:overlay val="0"/>
    </c:title>
    <c:autoTitleDeleted val="0"/>
    <c:plotArea>
      <c:layout/>
      <c:barChart>
        <c:barDir val="col"/>
        <c:grouping val="clustered"/>
        <c:varyColors val="0"/>
        <c:ser>
          <c:idx val="0"/>
          <c:order val="0"/>
          <c:tx>
            <c:strRef>
              <c:f>Sheet1!$B$1</c:f>
              <c:strCache>
                <c:ptCount val="1"/>
                <c:pt idx="0">
                  <c:v>Median wait</c:v>
                </c:pt>
              </c:strCache>
            </c:strRef>
          </c:tx>
          <c:spPr>
            <a:solidFill>
              <a:srgbClr val="2A78D6"/>
            </a:solidFill>
            <a:effectLst/>
          </c:spPr>
          <c:invertIfNegative val="0"/>
          <c:dLbls>
            <c:numFmt formatCode="0"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cat>
            <c:multiLvlStrRef>
              <c:f>Sheet1!$A$2:$A$8</c:f>
              <c:multiLvlStrCache>
                <c:ptCount val="7"/>
                <c:lvl>
                  <c:pt idx="0">
                    <c:v>&lt;4</c:v>
                  </c:pt>
                  <c:pt idx="1">
                    <c:v>4-6</c:v>
                  </c:pt>
                  <c:pt idx="2">
                    <c:v>6-8</c:v>
                  </c:pt>
                  <c:pt idx="3">
                    <c:v>8-10</c:v>
                  </c:pt>
                  <c:pt idx="4">
                    <c:v>10-12</c:v>
                  </c:pt>
                  <c:pt idx="5">
                    <c:v>12-16</c:v>
                  </c:pt>
                  <c:pt idx="6">
                    <c:v>16+</c:v>
                  </c:pt>
                </c:lvl>
              </c:multiLvlStrCache>
            </c:multiLvlStrRef>
          </c:cat>
          <c:val>
            <c:numRef>
              <c:f>Sheet1!$B$2:$B$8</c:f>
              <c:numCache>
                <c:formatCode>General</c:formatCode>
                <c:ptCount val="7"/>
                <c:pt idx="0">
                  <c:v>22</c:v>
                </c:pt>
                <c:pt idx="1">
                  <c:v>23</c:v>
                </c:pt>
                <c:pt idx="2">
                  <c:v>27</c:v>
                </c:pt>
                <c:pt idx="3">
                  <c:v>30</c:v>
                </c:pt>
                <c:pt idx="4">
                  <c:v>33</c:v>
                </c:pt>
                <c:pt idx="5">
                  <c:v>40</c:v>
                </c:pt>
                <c:pt idx="6">
                  <c:v>68</c:v>
                </c:pt>
              </c:numCache>
            </c:numRef>
          </c:val>
        </c:ser>
        <c:dLbls>
          <c:numFmt formatCode="0"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Weekly malaria attendances, Rundu, Katima Mulilo and Nkurenkuru (PAS, ICD-10 B50-B54)</a:t>
            </a:r>
          </a:p>
        </c:rich>
      </c:tx>
      <c:layout/>
      <c:overlay val="0"/>
    </c:title>
    <c:autoTitleDeleted val="0"/>
    <c:plotArea>
      <c:layout/>
      <c:lineChart>
        <c:varyColors val="0"/>
        <c:ser>
          <c:idx val="0"/>
          <c:order val="0"/>
          <c:tx>
            <c:strRef>
              <c:f>Sheet1!$B$1</c:f>
              <c:strCache>
                <c:ptCount val="1"/>
                <c:pt idx="0">
                  <c:v>Malaria attendances</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52514E"/>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Sheet1!$A$2:$A$248</c:f>
              <c:multiLvlStrCache>
                <c:ptCount val="247"/>
                <c:lvl>
                  <c:pt idx="0">
                    <c:v>2022-W01</c:v>
                  </c:pt>
                  <c:pt idx="1">
                    <c:v>2022-W02</c:v>
                  </c:pt>
                  <c:pt idx="2">
                    <c:v>2022-W03</c:v>
                  </c:pt>
                  <c:pt idx="3">
                    <c:v>2022-W04</c:v>
                  </c:pt>
                  <c:pt idx="4">
                    <c:v>2022-W05</c:v>
                  </c:pt>
                  <c:pt idx="5">
                    <c:v>2022-W06</c:v>
                  </c:pt>
                  <c:pt idx="6">
                    <c:v>2022-W07</c:v>
                  </c:pt>
                  <c:pt idx="7">
                    <c:v>2022-W08</c:v>
                  </c:pt>
                  <c:pt idx="8">
                    <c:v>2022-W09</c:v>
                  </c:pt>
                  <c:pt idx="9">
                    <c:v>2022-W10</c:v>
                  </c:pt>
                  <c:pt idx="10">
                    <c:v>2022-W11</c:v>
                  </c:pt>
                  <c:pt idx="11">
                    <c:v>2022-W12</c:v>
                  </c:pt>
                  <c:pt idx="12">
                    <c:v>2022-W13</c:v>
                  </c:pt>
                  <c:pt idx="13">
                    <c:v>2022-W14</c:v>
                  </c:pt>
                  <c:pt idx="14">
                    <c:v>2022-W15</c:v>
                  </c:pt>
                  <c:pt idx="15">
                    <c:v>2022-W16</c:v>
                  </c:pt>
                  <c:pt idx="16">
                    <c:v>2022-W17</c:v>
                  </c:pt>
                  <c:pt idx="17">
                    <c:v>2022-W18</c:v>
                  </c:pt>
                  <c:pt idx="18">
                    <c:v>2022-W19</c:v>
                  </c:pt>
                  <c:pt idx="19">
                    <c:v>2022-W20</c:v>
                  </c:pt>
                  <c:pt idx="20">
                    <c:v>2022-W21</c:v>
                  </c:pt>
                  <c:pt idx="21">
                    <c:v>2022-W22</c:v>
                  </c:pt>
                  <c:pt idx="22">
                    <c:v>2022-W23</c:v>
                  </c:pt>
                  <c:pt idx="23">
                    <c:v>2022-W24</c:v>
                  </c:pt>
                  <c:pt idx="24">
                    <c:v>2022-W25</c:v>
                  </c:pt>
                  <c:pt idx="25">
                    <c:v>2022-W26</c:v>
                  </c:pt>
                  <c:pt idx="26">
                    <c:v>2022-W27</c:v>
                  </c:pt>
                  <c:pt idx="27">
                    <c:v>2022-W28</c:v>
                  </c:pt>
                  <c:pt idx="28">
                    <c:v>2022-W29</c:v>
                  </c:pt>
                  <c:pt idx="29">
                    <c:v>2022-W30</c:v>
                  </c:pt>
                  <c:pt idx="30">
                    <c:v>2022-W31</c:v>
                  </c:pt>
                  <c:pt idx="31">
                    <c:v>2022-W32</c:v>
                  </c:pt>
                  <c:pt idx="32">
                    <c:v>2022-W33</c:v>
                  </c:pt>
                  <c:pt idx="33">
                    <c:v>2022-W34</c:v>
                  </c:pt>
                  <c:pt idx="34">
                    <c:v>2022-W35</c:v>
                  </c:pt>
                  <c:pt idx="35">
                    <c:v>2022-W36</c:v>
                  </c:pt>
                  <c:pt idx="36">
                    <c:v>2022-W37</c:v>
                  </c:pt>
                  <c:pt idx="37">
                    <c:v>2022-W38</c:v>
                  </c:pt>
                  <c:pt idx="38">
                    <c:v>2022-W39</c:v>
                  </c:pt>
                  <c:pt idx="39">
                    <c:v>2022-W40</c:v>
                  </c:pt>
                  <c:pt idx="40">
                    <c:v>2022-W41</c:v>
                  </c:pt>
                  <c:pt idx="41">
                    <c:v>2022-W42</c:v>
                  </c:pt>
                  <c:pt idx="42">
                    <c:v>2022-W43</c:v>
                  </c:pt>
                  <c:pt idx="43">
                    <c:v>2022-W44</c:v>
                  </c:pt>
                  <c:pt idx="44">
                    <c:v>2022-W45</c:v>
                  </c:pt>
                  <c:pt idx="45">
                    <c:v>2022-W46</c:v>
                  </c:pt>
                  <c:pt idx="46">
                    <c:v>2022-W47</c:v>
                  </c:pt>
                  <c:pt idx="47">
                    <c:v>2022-W48</c:v>
                  </c:pt>
                  <c:pt idx="48">
                    <c:v>2022-W49</c:v>
                  </c:pt>
                  <c:pt idx="49">
                    <c:v>2022-W50</c:v>
                  </c:pt>
                  <c:pt idx="50">
                    <c:v>2022-W51</c:v>
                  </c:pt>
                  <c:pt idx="51">
                    <c:v>2022-W52</c:v>
                  </c:pt>
                  <c:pt idx="52">
                    <c:v>2023-W01</c:v>
                  </c:pt>
                  <c:pt idx="53">
                    <c:v>2023-W02</c:v>
                  </c:pt>
                  <c:pt idx="54">
                    <c:v>2023-W03</c:v>
                  </c:pt>
                  <c:pt idx="55">
                    <c:v>2023-W04</c:v>
                  </c:pt>
                  <c:pt idx="56">
                    <c:v>2023-W05</c:v>
                  </c:pt>
                  <c:pt idx="57">
                    <c:v>2023-W06</c:v>
                  </c:pt>
                  <c:pt idx="58">
                    <c:v>2023-W07</c:v>
                  </c:pt>
                  <c:pt idx="59">
                    <c:v>2023-W08</c:v>
                  </c:pt>
                  <c:pt idx="60">
                    <c:v>2023-W09</c:v>
                  </c:pt>
                  <c:pt idx="61">
                    <c:v>2023-W10</c:v>
                  </c:pt>
                  <c:pt idx="62">
                    <c:v>2023-W11</c:v>
                  </c:pt>
                  <c:pt idx="63">
                    <c:v>2023-W12</c:v>
                  </c:pt>
                  <c:pt idx="64">
                    <c:v>2023-W13</c:v>
                  </c:pt>
                  <c:pt idx="65">
                    <c:v>2023-W14</c:v>
                  </c:pt>
                  <c:pt idx="66">
                    <c:v>2023-W15</c:v>
                  </c:pt>
                  <c:pt idx="67">
                    <c:v>2023-W16</c:v>
                  </c:pt>
                  <c:pt idx="68">
                    <c:v>2023-W17</c:v>
                  </c:pt>
                  <c:pt idx="69">
                    <c:v>2023-W18</c:v>
                  </c:pt>
                  <c:pt idx="70">
                    <c:v>2023-W19</c:v>
                  </c:pt>
                  <c:pt idx="71">
                    <c:v>2023-W20</c:v>
                  </c:pt>
                  <c:pt idx="72">
                    <c:v>2023-W21</c:v>
                  </c:pt>
                  <c:pt idx="73">
                    <c:v>2023-W22</c:v>
                  </c:pt>
                  <c:pt idx="74">
                    <c:v>2023-W23</c:v>
                  </c:pt>
                  <c:pt idx="75">
                    <c:v>2023-W24</c:v>
                  </c:pt>
                  <c:pt idx="76">
                    <c:v>2023-W25</c:v>
                  </c:pt>
                  <c:pt idx="77">
                    <c:v>2023-W26</c:v>
                  </c:pt>
                  <c:pt idx="78">
                    <c:v>2023-W27</c:v>
                  </c:pt>
                  <c:pt idx="79">
                    <c:v>2023-W28</c:v>
                  </c:pt>
                  <c:pt idx="80">
                    <c:v>2023-W29</c:v>
                  </c:pt>
                  <c:pt idx="81">
                    <c:v>2023-W30</c:v>
                  </c:pt>
                  <c:pt idx="82">
                    <c:v>2023-W31</c:v>
                  </c:pt>
                  <c:pt idx="83">
                    <c:v>2023-W32</c:v>
                  </c:pt>
                  <c:pt idx="84">
                    <c:v>2023-W33</c:v>
                  </c:pt>
                  <c:pt idx="85">
                    <c:v>2023-W34</c:v>
                  </c:pt>
                  <c:pt idx="86">
                    <c:v>2023-W35</c:v>
                  </c:pt>
                  <c:pt idx="87">
                    <c:v>2023-W36</c:v>
                  </c:pt>
                  <c:pt idx="88">
                    <c:v>2023-W37</c:v>
                  </c:pt>
                  <c:pt idx="89">
                    <c:v>2023-W38</c:v>
                  </c:pt>
                  <c:pt idx="90">
                    <c:v>2023-W39</c:v>
                  </c:pt>
                  <c:pt idx="91">
                    <c:v>2023-W40</c:v>
                  </c:pt>
                  <c:pt idx="92">
                    <c:v>2023-W41</c:v>
                  </c:pt>
                  <c:pt idx="93">
                    <c:v>2023-W42</c:v>
                  </c:pt>
                  <c:pt idx="94">
                    <c:v>2023-W43</c:v>
                  </c:pt>
                  <c:pt idx="95">
                    <c:v>2023-W44</c:v>
                  </c:pt>
                  <c:pt idx="96">
                    <c:v>2023-W45</c:v>
                  </c:pt>
                  <c:pt idx="97">
                    <c:v>2023-W46</c:v>
                  </c:pt>
                  <c:pt idx="98">
                    <c:v>2023-W47</c:v>
                  </c:pt>
                  <c:pt idx="99">
                    <c:v>2023-W48</c:v>
                  </c:pt>
                  <c:pt idx="100">
                    <c:v>2023-W49</c:v>
                  </c:pt>
                  <c:pt idx="101">
                    <c:v>2023-W50</c:v>
                  </c:pt>
                  <c:pt idx="102">
                    <c:v>2023-W51</c:v>
                  </c:pt>
                  <c:pt idx="103">
                    <c:v>2023-W52</c:v>
                  </c:pt>
                  <c:pt idx="104">
                    <c:v>2024-W01</c:v>
                  </c:pt>
                  <c:pt idx="105">
                    <c:v>2024-W02</c:v>
                  </c:pt>
                  <c:pt idx="106">
                    <c:v>2024-W03</c:v>
                  </c:pt>
                  <c:pt idx="107">
                    <c:v>2024-W04</c:v>
                  </c:pt>
                  <c:pt idx="108">
                    <c:v>2024-W05</c:v>
                  </c:pt>
                  <c:pt idx="109">
                    <c:v>2024-W06</c:v>
                  </c:pt>
                  <c:pt idx="110">
                    <c:v>2024-W07</c:v>
                  </c:pt>
                  <c:pt idx="111">
                    <c:v>2024-W08</c:v>
                  </c:pt>
                  <c:pt idx="112">
                    <c:v>2024-W09</c:v>
                  </c:pt>
                  <c:pt idx="113">
                    <c:v>2024-W10</c:v>
                  </c:pt>
                  <c:pt idx="114">
                    <c:v>2024-W11</c:v>
                  </c:pt>
                  <c:pt idx="115">
                    <c:v>2024-W12</c:v>
                  </c:pt>
                  <c:pt idx="116">
                    <c:v>2024-W13</c:v>
                  </c:pt>
                  <c:pt idx="117">
                    <c:v>2024-W14</c:v>
                  </c:pt>
                  <c:pt idx="118">
                    <c:v>2024-W15</c:v>
                  </c:pt>
                  <c:pt idx="119">
                    <c:v>2024-W16</c:v>
                  </c:pt>
                  <c:pt idx="120">
                    <c:v>2024-W17</c:v>
                  </c:pt>
                  <c:pt idx="121">
                    <c:v>2024-W18</c:v>
                  </c:pt>
                  <c:pt idx="122">
                    <c:v>2024-W19</c:v>
                  </c:pt>
                  <c:pt idx="123">
                    <c:v>2024-W20</c:v>
                  </c:pt>
                  <c:pt idx="124">
                    <c:v>2024-W21</c:v>
                  </c:pt>
                  <c:pt idx="125">
                    <c:v>2024-W22</c:v>
                  </c:pt>
                  <c:pt idx="126">
                    <c:v>2024-W23</c:v>
                  </c:pt>
                  <c:pt idx="127">
                    <c:v>2024-W24</c:v>
                  </c:pt>
                  <c:pt idx="128">
                    <c:v>2024-W25</c:v>
                  </c:pt>
                  <c:pt idx="129">
                    <c:v>2024-W26</c:v>
                  </c:pt>
                  <c:pt idx="130">
                    <c:v>2024-W27</c:v>
                  </c:pt>
                  <c:pt idx="131">
                    <c:v>2024-W28</c:v>
                  </c:pt>
                  <c:pt idx="132">
                    <c:v>2024-W29</c:v>
                  </c:pt>
                  <c:pt idx="133">
                    <c:v>2024-W30</c:v>
                  </c:pt>
                  <c:pt idx="134">
                    <c:v>2024-W31</c:v>
                  </c:pt>
                  <c:pt idx="135">
                    <c:v>2024-W32</c:v>
                  </c:pt>
                  <c:pt idx="136">
                    <c:v>2024-W33</c:v>
                  </c:pt>
                  <c:pt idx="137">
                    <c:v>2024-W34</c:v>
                  </c:pt>
                  <c:pt idx="138">
                    <c:v>2024-W35</c:v>
                  </c:pt>
                  <c:pt idx="139">
                    <c:v>2024-W36</c:v>
                  </c:pt>
                  <c:pt idx="140">
                    <c:v>2024-W37</c:v>
                  </c:pt>
                  <c:pt idx="141">
                    <c:v>2024-W38</c:v>
                  </c:pt>
                  <c:pt idx="142">
                    <c:v>2024-W39</c:v>
                  </c:pt>
                  <c:pt idx="143">
                    <c:v>2024-W40</c:v>
                  </c:pt>
                  <c:pt idx="144">
                    <c:v>2024-W41</c:v>
                  </c:pt>
                  <c:pt idx="145">
                    <c:v>2024-W42</c:v>
                  </c:pt>
                  <c:pt idx="146">
                    <c:v>2024-W43</c:v>
                  </c:pt>
                  <c:pt idx="147">
                    <c:v>2024-W44</c:v>
                  </c:pt>
                  <c:pt idx="148">
                    <c:v>2024-W45</c:v>
                  </c:pt>
                  <c:pt idx="149">
                    <c:v>2024-W46</c:v>
                  </c:pt>
                  <c:pt idx="150">
                    <c:v>2024-W47</c:v>
                  </c:pt>
                  <c:pt idx="151">
                    <c:v>2024-W48</c:v>
                  </c:pt>
                  <c:pt idx="152">
                    <c:v>2024-W49</c:v>
                  </c:pt>
                  <c:pt idx="153">
                    <c:v>2024-W50</c:v>
                  </c:pt>
                  <c:pt idx="154">
                    <c:v>2024-W51</c:v>
                  </c:pt>
                  <c:pt idx="155">
                    <c:v>2024-W52</c:v>
                  </c:pt>
                  <c:pt idx="156">
                    <c:v>2025-W01</c:v>
                  </c:pt>
                  <c:pt idx="157">
                    <c:v>2025-W02</c:v>
                  </c:pt>
                  <c:pt idx="158">
                    <c:v>2025-W03</c:v>
                  </c:pt>
                  <c:pt idx="159">
                    <c:v>2025-W04</c:v>
                  </c:pt>
                  <c:pt idx="160">
                    <c:v>2025-W05</c:v>
                  </c:pt>
                  <c:pt idx="161">
                    <c:v>2025-W06</c:v>
                  </c:pt>
                  <c:pt idx="162">
                    <c:v>2025-W07</c:v>
                  </c:pt>
                  <c:pt idx="163">
                    <c:v>2025-W08</c:v>
                  </c:pt>
                  <c:pt idx="164">
                    <c:v>2025-W09</c:v>
                  </c:pt>
                  <c:pt idx="165">
                    <c:v>2025-W10</c:v>
                  </c:pt>
                  <c:pt idx="166">
                    <c:v>2025-W11</c:v>
                  </c:pt>
                  <c:pt idx="167">
                    <c:v>2025-W12</c:v>
                  </c:pt>
                  <c:pt idx="168">
                    <c:v>2025-W13</c:v>
                  </c:pt>
                  <c:pt idx="169">
                    <c:v>2025-W14</c:v>
                  </c:pt>
                  <c:pt idx="170">
                    <c:v>2025-W15</c:v>
                  </c:pt>
                  <c:pt idx="171">
                    <c:v>2025-W16</c:v>
                  </c:pt>
                  <c:pt idx="172">
                    <c:v>2025-W17</c:v>
                  </c:pt>
                  <c:pt idx="173">
                    <c:v>2025-W18</c:v>
                  </c:pt>
                  <c:pt idx="174">
                    <c:v>2025-W19</c:v>
                  </c:pt>
                  <c:pt idx="175">
                    <c:v>2025-W20</c:v>
                  </c:pt>
                  <c:pt idx="176">
                    <c:v>2025-W21</c:v>
                  </c:pt>
                  <c:pt idx="177">
                    <c:v>2025-W22</c:v>
                  </c:pt>
                  <c:pt idx="178">
                    <c:v>2025-W23</c:v>
                  </c:pt>
                  <c:pt idx="179">
                    <c:v>2025-W24</c:v>
                  </c:pt>
                  <c:pt idx="180">
                    <c:v>2025-W25</c:v>
                  </c:pt>
                  <c:pt idx="181">
                    <c:v>2025-W26</c:v>
                  </c:pt>
                  <c:pt idx="182">
                    <c:v>2025-W27</c:v>
                  </c:pt>
                  <c:pt idx="183">
                    <c:v>2025-W28</c:v>
                  </c:pt>
                  <c:pt idx="184">
                    <c:v>2025-W29</c:v>
                  </c:pt>
                  <c:pt idx="185">
                    <c:v>2025-W30</c:v>
                  </c:pt>
                  <c:pt idx="186">
                    <c:v>2025-W31</c:v>
                  </c:pt>
                  <c:pt idx="187">
                    <c:v>2025-W32</c:v>
                  </c:pt>
                  <c:pt idx="188">
                    <c:v>2025-W33</c:v>
                  </c:pt>
                  <c:pt idx="189">
                    <c:v>2025-W34</c:v>
                  </c:pt>
                  <c:pt idx="190">
                    <c:v>2025-W35</c:v>
                  </c:pt>
                  <c:pt idx="191">
                    <c:v>2025-W36</c:v>
                  </c:pt>
                  <c:pt idx="192">
                    <c:v>2025-W37</c:v>
                  </c:pt>
                  <c:pt idx="193">
                    <c:v>2025-W38</c:v>
                  </c:pt>
                  <c:pt idx="194">
                    <c:v>2025-W39</c:v>
                  </c:pt>
                  <c:pt idx="195">
                    <c:v>2025-W40</c:v>
                  </c:pt>
                  <c:pt idx="196">
                    <c:v>2025-W41</c:v>
                  </c:pt>
                  <c:pt idx="197">
                    <c:v>2025-W42</c:v>
                  </c:pt>
                  <c:pt idx="198">
                    <c:v>2025-W43</c:v>
                  </c:pt>
                  <c:pt idx="199">
                    <c:v>2025-W44</c:v>
                  </c:pt>
                  <c:pt idx="200">
                    <c:v>2025-W45</c:v>
                  </c:pt>
                  <c:pt idx="201">
                    <c:v>2025-W46</c:v>
                  </c:pt>
                  <c:pt idx="202">
                    <c:v>2025-W47</c:v>
                  </c:pt>
                  <c:pt idx="203">
                    <c:v>2025-W48</c:v>
                  </c:pt>
                  <c:pt idx="204">
                    <c:v>2025-W49</c:v>
                  </c:pt>
                  <c:pt idx="205">
                    <c:v>2025-W50</c:v>
                  </c:pt>
                  <c:pt idx="206">
                    <c:v>2025-W51</c:v>
                  </c:pt>
                  <c:pt idx="207">
                    <c:v>2025-W52</c:v>
                  </c:pt>
                  <c:pt idx="208">
                    <c:v>2026-W01</c:v>
                  </c:pt>
                  <c:pt idx="209">
                    <c:v>2026-W02</c:v>
                  </c:pt>
                  <c:pt idx="210">
                    <c:v>2026-W03</c:v>
                  </c:pt>
                  <c:pt idx="211">
                    <c:v>2026-W04</c:v>
                  </c:pt>
                  <c:pt idx="212">
                    <c:v>2026-W05</c:v>
                  </c:pt>
                  <c:pt idx="213">
                    <c:v>2026-W06</c:v>
                  </c:pt>
                  <c:pt idx="214">
                    <c:v>2026-W07</c:v>
                  </c:pt>
                  <c:pt idx="215">
                    <c:v>2026-W08</c:v>
                  </c:pt>
                  <c:pt idx="216">
                    <c:v>2026-W09</c:v>
                  </c:pt>
                  <c:pt idx="217">
                    <c:v>2026-W10</c:v>
                  </c:pt>
                  <c:pt idx="218">
                    <c:v>2026-W11</c:v>
                  </c:pt>
                  <c:pt idx="219">
                    <c:v>2026-W12</c:v>
                  </c:pt>
                  <c:pt idx="220">
                    <c:v>2026-W13</c:v>
                  </c:pt>
                  <c:pt idx="221">
                    <c:v>2026-W14</c:v>
                  </c:pt>
                  <c:pt idx="222">
                    <c:v>2026-W15</c:v>
                  </c:pt>
                  <c:pt idx="223">
                    <c:v>2026-W16</c:v>
                  </c:pt>
                  <c:pt idx="224">
                    <c:v>2026-W17</c:v>
                  </c:pt>
                  <c:pt idx="225">
                    <c:v>2026-W18</c:v>
                  </c:pt>
                  <c:pt idx="226">
                    <c:v>2026-W19</c:v>
                  </c:pt>
                  <c:pt idx="227">
                    <c:v>2026-W20</c:v>
                  </c:pt>
                  <c:pt idx="228">
                    <c:v>2026-W21</c:v>
                  </c:pt>
                  <c:pt idx="229">
                    <c:v>2026-W22</c:v>
                  </c:pt>
                  <c:pt idx="230">
                    <c:v>2026-W23</c:v>
                  </c:pt>
                  <c:pt idx="231">
                    <c:v>2026-W24</c:v>
                  </c:pt>
                  <c:pt idx="232">
                    <c:v>2026-W25</c:v>
                  </c:pt>
                  <c:pt idx="233">
                    <c:v>2026-W26</c:v>
                  </c:pt>
                  <c:pt idx="234">
                    <c:v>2026-W27</c:v>
                  </c:pt>
                  <c:pt idx="235">
                    <c:v>2026-W28</c:v>
                  </c:pt>
                  <c:pt idx="236">
                    <c:v>2026-W29</c:v>
                  </c:pt>
                  <c:pt idx="237">
                    <c:v>2026-W30</c:v>
                  </c:pt>
                  <c:pt idx="238">
                    <c:v>2026-W31</c:v>
                  </c:pt>
                  <c:pt idx="239">
                    <c:v>2026-W32</c:v>
                  </c:pt>
                  <c:pt idx="240">
                    <c:v>2026-W33</c:v>
                  </c:pt>
                  <c:pt idx="241">
                    <c:v>2026-W34</c:v>
                  </c:pt>
                  <c:pt idx="242">
                    <c:v>2026-W35</c:v>
                  </c:pt>
                  <c:pt idx="243">
                    <c:v>2026-W36</c:v>
                  </c:pt>
                  <c:pt idx="244">
                    <c:v>2026-W37</c:v>
                  </c:pt>
                  <c:pt idx="245">
                    <c:v>2026-W38</c:v>
                  </c:pt>
                  <c:pt idx="246">
                    <c:v>2026-W39</c:v>
                  </c:pt>
                </c:lvl>
              </c:multiLvlStrCache>
            </c:multiLvlStrRef>
          </c:cat>
          <c:val>
            <c:numRef>
              <c:f>Sheet1!$B$2:$B$248</c:f>
              <c:numCache>
                <c:formatCode>General</c:formatCode>
                <c:ptCount val="247"/>
                <c:pt idx="0">
                  <c:v>119</c:v>
                </c:pt>
                <c:pt idx="1">
                  <c:v>125</c:v>
                </c:pt>
                <c:pt idx="2">
                  <c:v>92</c:v>
                </c:pt>
                <c:pt idx="3">
                  <c:v>138</c:v>
                </c:pt>
                <c:pt idx="4">
                  <c:v>172</c:v>
                </c:pt>
                <c:pt idx="5">
                  <c:v>151</c:v>
                </c:pt>
                <c:pt idx="6">
                  <c:v>180</c:v>
                </c:pt>
                <c:pt idx="7">
                  <c:v>206</c:v>
                </c:pt>
                <c:pt idx="8">
                  <c:v>169</c:v>
                </c:pt>
                <c:pt idx="9">
                  <c:v>172</c:v>
                </c:pt>
                <c:pt idx="10">
                  <c:v>161</c:v>
                </c:pt>
                <c:pt idx="11">
                  <c:v>201</c:v>
                </c:pt>
                <c:pt idx="12">
                  <c:v>189</c:v>
                </c:pt>
                <c:pt idx="13">
                  <c:v>168</c:v>
                </c:pt>
                <c:pt idx="14">
                  <c:v>198</c:v>
                </c:pt>
                <c:pt idx="15">
                  <c:v>161</c:v>
                </c:pt>
                <c:pt idx="16">
                  <c:v>163</c:v>
                </c:pt>
                <c:pt idx="17">
                  <c:v>117</c:v>
                </c:pt>
                <c:pt idx="18">
                  <c:v>92</c:v>
                </c:pt>
                <c:pt idx="19">
                  <c:v>78</c:v>
                </c:pt>
                <c:pt idx="20">
                  <c:v>50</c:v>
                </c:pt>
                <c:pt idx="21">
                  <c:v>21</c:v>
                </c:pt>
                <c:pt idx="22">
                  <c:v>32</c:v>
                </c:pt>
                <c:pt idx="23">
                  <c:v>23</c:v>
                </c:pt>
                <c:pt idx="24">
                  <c:v>23</c:v>
                </c:pt>
                <c:pt idx="25">
                  <c:v>23</c:v>
                </c:pt>
                <c:pt idx="26">
                  <c:v>17</c:v>
                </c:pt>
                <c:pt idx="27">
                  <c:v>7</c:v>
                </c:pt>
                <c:pt idx="28">
                  <c:v>9</c:v>
                </c:pt>
                <c:pt idx="29">
                  <c:v>7</c:v>
                </c:pt>
                <c:pt idx="30">
                  <c:v>5</c:v>
                </c:pt>
                <c:pt idx="31">
                  <c:v>4</c:v>
                </c:pt>
                <c:pt idx="32">
                  <c:v>11</c:v>
                </c:pt>
                <c:pt idx="33">
                  <c:v>10</c:v>
                </c:pt>
                <c:pt idx="34">
                  <c:v>6</c:v>
                </c:pt>
                <c:pt idx="35">
                  <c:v>11</c:v>
                </c:pt>
                <c:pt idx="36">
                  <c:v>6</c:v>
                </c:pt>
                <c:pt idx="37">
                  <c:v>1</c:v>
                </c:pt>
                <c:pt idx="38">
                  <c:v>4</c:v>
                </c:pt>
                <c:pt idx="39">
                  <c:v>5</c:v>
                </c:pt>
                <c:pt idx="40">
                  <c:v>7</c:v>
                </c:pt>
                <c:pt idx="41">
                  <c:v>5</c:v>
                </c:pt>
                <c:pt idx="42">
                  <c:v>16</c:v>
                </c:pt>
                <c:pt idx="43">
                  <c:v>21</c:v>
                </c:pt>
                <c:pt idx="44">
                  <c:v>15</c:v>
                </c:pt>
                <c:pt idx="45">
                  <c:v>23</c:v>
                </c:pt>
                <c:pt idx="46">
                  <c:v>29</c:v>
                </c:pt>
                <c:pt idx="47">
                  <c:v>45</c:v>
                </c:pt>
                <c:pt idx="48">
                  <c:v>31</c:v>
                </c:pt>
                <c:pt idx="49">
                  <c:v>50</c:v>
                </c:pt>
                <c:pt idx="50">
                  <c:v>91</c:v>
                </c:pt>
                <c:pt idx="51">
                  <c:v>106</c:v>
                </c:pt>
                <c:pt idx="52">
                  <c:v>110</c:v>
                </c:pt>
                <c:pt idx="53">
                  <c:v>145</c:v>
                </c:pt>
                <c:pt idx="54">
                  <c:v>154</c:v>
                </c:pt>
                <c:pt idx="55">
                  <c:v>146</c:v>
                </c:pt>
                <c:pt idx="56">
                  <c:v>125</c:v>
                </c:pt>
                <c:pt idx="57">
                  <c:v>140</c:v>
                </c:pt>
                <c:pt idx="58">
                  <c:v>174</c:v>
                </c:pt>
                <c:pt idx="59">
                  <c:v>161</c:v>
                </c:pt>
                <c:pt idx="60">
                  <c:v>157</c:v>
                </c:pt>
                <c:pt idx="61">
                  <c:v>144</c:v>
                </c:pt>
                <c:pt idx="62">
                  <c:v>141</c:v>
                </c:pt>
                <c:pt idx="63">
                  <c:v>123</c:v>
                </c:pt>
                <c:pt idx="64">
                  <c:v>123</c:v>
                </c:pt>
                <c:pt idx="65">
                  <c:v>174</c:v>
                </c:pt>
                <c:pt idx="66">
                  <c:v>124</c:v>
                </c:pt>
                <c:pt idx="67">
                  <c:v>172</c:v>
                </c:pt>
                <c:pt idx="68">
                  <c:v>161</c:v>
                </c:pt>
                <c:pt idx="69">
                  <c:v>172</c:v>
                </c:pt>
                <c:pt idx="70">
                  <c:v>188</c:v>
                </c:pt>
                <c:pt idx="71">
                  <c:v>192</c:v>
                </c:pt>
                <c:pt idx="72">
                  <c:v>91</c:v>
                </c:pt>
                <c:pt idx="73">
                  <c:v>62</c:v>
                </c:pt>
                <c:pt idx="74">
                  <c:v>53</c:v>
                </c:pt>
                <c:pt idx="75">
                  <c:v>43</c:v>
                </c:pt>
                <c:pt idx="76">
                  <c:v>24</c:v>
                </c:pt>
                <c:pt idx="77">
                  <c:v>8</c:v>
                </c:pt>
                <c:pt idx="78">
                  <c:v>9</c:v>
                </c:pt>
                <c:pt idx="79">
                  <c:v>12</c:v>
                </c:pt>
                <c:pt idx="80">
                  <c:v>8</c:v>
                </c:pt>
                <c:pt idx="81">
                  <c:v>11</c:v>
                </c:pt>
                <c:pt idx="82">
                  <c:v>3</c:v>
                </c:pt>
                <c:pt idx="83">
                  <c:v>3</c:v>
                </c:pt>
                <c:pt idx="84">
                  <c:v>8</c:v>
                </c:pt>
                <c:pt idx="85">
                  <c:v>5</c:v>
                </c:pt>
                <c:pt idx="86">
                  <c:v>5</c:v>
                </c:pt>
                <c:pt idx="87">
                  <c:v>11</c:v>
                </c:pt>
                <c:pt idx="88">
                  <c:v>5</c:v>
                </c:pt>
                <c:pt idx="89">
                  <c:v>10</c:v>
                </c:pt>
                <c:pt idx="90">
                  <c:v>11</c:v>
                </c:pt>
                <c:pt idx="91">
                  <c:v>7</c:v>
                </c:pt>
                <c:pt idx="92">
                  <c:v>7</c:v>
                </c:pt>
                <c:pt idx="93">
                  <c:v>12</c:v>
                </c:pt>
                <c:pt idx="94">
                  <c:v>20</c:v>
                </c:pt>
                <c:pt idx="95">
                  <c:v>14</c:v>
                </c:pt>
                <c:pt idx="96">
                  <c:v>21</c:v>
                </c:pt>
                <c:pt idx="97">
                  <c:v>13</c:v>
                </c:pt>
                <c:pt idx="98">
                  <c:v>8</c:v>
                </c:pt>
                <c:pt idx="99">
                  <c:v>29</c:v>
                </c:pt>
                <c:pt idx="100">
                  <c:v>25</c:v>
                </c:pt>
                <c:pt idx="101">
                  <c:v>25</c:v>
                </c:pt>
                <c:pt idx="102">
                  <c:v>24</c:v>
                </c:pt>
                <c:pt idx="103">
                  <c:v>31</c:v>
                </c:pt>
                <c:pt idx="104">
                  <c:v>52</c:v>
                </c:pt>
                <c:pt idx="105">
                  <c:v>76</c:v>
                </c:pt>
                <c:pt idx="106">
                  <c:v>100</c:v>
                </c:pt>
                <c:pt idx="107">
                  <c:v>101</c:v>
                </c:pt>
                <c:pt idx="108">
                  <c:v>96</c:v>
                </c:pt>
                <c:pt idx="109">
                  <c:v>91</c:v>
                </c:pt>
                <c:pt idx="110">
                  <c:v>87</c:v>
                </c:pt>
                <c:pt idx="111">
                  <c:v>82</c:v>
                </c:pt>
                <c:pt idx="112">
                  <c:v>69</c:v>
                </c:pt>
                <c:pt idx="113">
                  <c:v>59</c:v>
                </c:pt>
                <c:pt idx="114">
                  <c:v>56</c:v>
                </c:pt>
                <c:pt idx="115">
                  <c:v>75</c:v>
                </c:pt>
                <c:pt idx="116">
                  <c:v>43</c:v>
                </c:pt>
                <c:pt idx="117">
                  <c:v>56</c:v>
                </c:pt>
                <c:pt idx="118">
                  <c:v>79</c:v>
                </c:pt>
                <c:pt idx="119">
                  <c:v>59</c:v>
                </c:pt>
                <c:pt idx="120">
                  <c:v>43</c:v>
                </c:pt>
                <c:pt idx="121">
                  <c:v>41</c:v>
                </c:pt>
                <c:pt idx="122">
                  <c:v>55</c:v>
                </c:pt>
                <c:pt idx="123">
                  <c:v>35</c:v>
                </c:pt>
                <c:pt idx="124">
                  <c:v>59</c:v>
                </c:pt>
                <c:pt idx="125">
                  <c:v>46</c:v>
                </c:pt>
                <c:pt idx="126">
                  <c:v>24</c:v>
                </c:pt>
                <c:pt idx="127">
                  <c:v>20</c:v>
                </c:pt>
                <c:pt idx="128">
                  <c:v>21</c:v>
                </c:pt>
                <c:pt idx="129">
                  <c:v>13</c:v>
                </c:pt>
                <c:pt idx="130">
                  <c:v>7</c:v>
                </c:pt>
                <c:pt idx="131">
                  <c:v>6</c:v>
                </c:pt>
                <c:pt idx="132">
                  <c:v>7</c:v>
                </c:pt>
                <c:pt idx="133">
                  <c:v>9</c:v>
                </c:pt>
                <c:pt idx="134">
                  <c:v>11</c:v>
                </c:pt>
                <c:pt idx="135">
                  <c:v>4</c:v>
                </c:pt>
                <c:pt idx="136">
                  <c:v>9</c:v>
                </c:pt>
                <c:pt idx="137">
                  <c:v>6</c:v>
                </c:pt>
                <c:pt idx="138">
                  <c:v>4</c:v>
                </c:pt>
                <c:pt idx="139">
                  <c:v>5</c:v>
                </c:pt>
                <c:pt idx="140">
                  <c:v>9</c:v>
                </c:pt>
                <c:pt idx="141">
                  <c:v>7</c:v>
                </c:pt>
                <c:pt idx="142">
                  <c:v>9</c:v>
                </c:pt>
                <c:pt idx="143">
                  <c:v>9</c:v>
                </c:pt>
                <c:pt idx="144">
                  <c:v>12</c:v>
                </c:pt>
                <c:pt idx="145">
                  <c:v>10</c:v>
                </c:pt>
                <c:pt idx="146">
                  <c:v>22</c:v>
                </c:pt>
                <c:pt idx="147">
                  <c:v>66</c:v>
                </c:pt>
                <c:pt idx="148">
                  <c:v>78</c:v>
                </c:pt>
                <c:pt idx="149">
                  <c:v>75</c:v>
                </c:pt>
                <c:pt idx="150">
                  <c:v>60</c:v>
                </c:pt>
                <c:pt idx="151">
                  <c:v>95</c:v>
                </c:pt>
                <c:pt idx="152">
                  <c:v>112</c:v>
                </c:pt>
                <c:pt idx="153">
                  <c:v>142</c:v>
                </c:pt>
                <c:pt idx="154">
                  <c:v>218</c:v>
                </c:pt>
                <c:pt idx="155">
                  <c:v>291</c:v>
                </c:pt>
                <c:pt idx="156">
                  <c:v>399</c:v>
                </c:pt>
                <c:pt idx="157">
                  <c:v>481</c:v>
                </c:pt>
                <c:pt idx="158">
                  <c:v>545</c:v>
                </c:pt>
                <c:pt idx="159">
                  <c:v>666</c:v>
                </c:pt>
                <c:pt idx="160">
                  <c:v>679</c:v>
                </c:pt>
                <c:pt idx="161">
                  <c:v>787</c:v>
                </c:pt>
                <c:pt idx="162">
                  <c:v>797</c:v>
                </c:pt>
                <c:pt idx="163">
                  <c:v>751</c:v>
                </c:pt>
                <c:pt idx="164">
                  <c:v>736</c:v>
                </c:pt>
                <c:pt idx="165">
                  <c:v>768</c:v>
                </c:pt>
                <c:pt idx="166">
                  <c:v>750</c:v>
                </c:pt>
                <c:pt idx="167">
                  <c:v>633</c:v>
                </c:pt>
                <c:pt idx="168">
                  <c:v>607</c:v>
                </c:pt>
                <c:pt idx="169">
                  <c:v>569</c:v>
                </c:pt>
                <c:pt idx="170">
                  <c:v>478</c:v>
                </c:pt>
                <c:pt idx="171">
                  <c:v>416</c:v>
                </c:pt>
                <c:pt idx="172">
                  <c:v>408</c:v>
                </c:pt>
                <c:pt idx="173">
                  <c:v>323</c:v>
                </c:pt>
                <c:pt idx="174">
                  <c:v>290</c:v>
                </c:pt>
                <c:pt idx="175">
                  <c:v>181</c:v>
                </c:pt>
                <c:pt idx="176">
                  <c:v>103</c:v>
                </c:pt>
                <c:pt idx="177">
                  <c:v>36</c:v>
                </c:pt>
                <c:pt idx="178">
                  <c:v>34</c:v>
                </c:pt>
                <c:pt idx="179">
                  <c:v>46</c:v>
                </c:pt>
                <c:pt idx="180">
                  <c:v>24</c:v>
                </c:pt>
                <c:pt idx="181">
                  <c:v>17</c:v>
                </c:pt>
                <c:pt idx="182">
                  <c:v>18</c:v>
                </c:pt>
                <c:pt idx="183">
                  <c:v>15</c:v>
                </c:pt>
                <c:pt idx="184">
                  <c:v>8</c:v>
                </c:pt>
                <c:pt idx="185">
                  <c:v>8</c:v>
                </c:pt>
                <c:pt idx="186">
                  <c:v>3</c:v>
                </c:pt>
                <c:pt idx="187">
                  <c:v>8</c:v>
                </c:pt>
                <c:pt idx="188">
                  <c:v>8</c:v>
                </c:pt>
                <c:pt idx="189">
                  <c:v>5</c:v>
                </c:pt>
                <c:pt idx="190">
                  <c:v>6</c:v>
                </c:pt>
                <c:pt idx="191">
                  <c:v>9</c:v>
                </c:pt>
                <c:pt idx="192">
                  <c:v>4</c:v>
                </c:pt>
                <c:pt idx="193">
                  <c:v>4</c:v>
                </c:pt>
                <c:pt idx="194">
                  <c:v>8</c:v>
                </c:pt>
                <c:pt idx="195">
                  <c:v>6</c:v>
                </c:pt>
                <c:pt idx="196">
                  <c:v>10</c:v>
                </c:pt>
                <c:pt idx="197">
                  <c:v>5</c:v>
                </c:pt>
                <c:pt idx="198">
                  <c:v>14</c:v>
                </c:pt>
                <c:pt idx="199">
                  <c:v>23</c:v>
                </c:pt>
                <c:pt idx="200">
                  <c:v>51</c:v>
                </c:pt>
                <c:pt idx="201">
                  <c:v>72</c:v>
                </c:pt>
                <c:pt idx="202">
                  <c:v>69</c:v>
                </c:pt>
                <c:pt idx="203">
                  <c:v>113</c:v>
                </c:pt>
                <c:pt idx="204">
                  <c:v>115</c:v>
                </c:pt>
                <c:pt idx="205">
                  <c:v>153</c:v>
                </c:pt>
                <c:pt idx="206">
                  <c:v>208</c:v>
                </c:pt>
                <c:pt idx="207">
                  <c:v>305</c:v>
                </c:pt>
                <c:pt idx="208">
                  <c:v>405</c:v>
                </c:pt>
                <c:pt idx="209">
                  <c:v>637</c:v>
                </c:pt>
                <c:pt idx="210">
                  <c:v>861</c:v>
                </c:pt>
                <c:pt idx="211">
                  <c:v>1088</c:v>
                </c:pt>
                <c:pt idx="212">
                  <c:v>1240</c:v>
                </c:pt>
                <c:pt idx="213">
                  <c:v>1113</c:v>
                </c:pt>
                <c:pt idx="214">
                  <c:v>1048</c:v>
                </c:pt>
                <c:pt idx="215">
                  <c:v>874</c:v>
                </c:pt>
                <c:pt idx="216">
                  <c:v>723</c:v>
                </c:pt>
                <c:pt idx="217">
                  <c:v>647</c:v>
                </c:pt>
                <c:pt idx="218">
                  <c:v>655</c:v>
                </c:pt>
                <c:pt idx="219">
                  <c:v>522</c:v>
                </c:pt>
                <c:pt idx="220">
                  <c:v>549</c:v>
                </c:pt>
                <c:pt idx="221">
                  <c:v>606</c:v>
                </c:pt>
                <c:pt idx="222">
                  <c:v>581</c:v>
                </c:pt>
                <c:pt idx="223">
                  <c:v>641</c:v>
                </c:pt>
                <c:pt idx="224">
                  <c:v>689</c:v>
                </c:pt>
                <c:pt idx="225">
                  <c:v>635</c:v>
                </c:pt>
                <c:pt idx="226">
                  <c:v>544</c:v>
                </c:pt>
                <c:pt idx="227">
                  <c:v>438</c:v>
                </c:pt>
                <c:pt idx="228">
                  <c:v>287</c:v>
                </c:pt>
                <c:pt idx="229">
                  <c:v>208</c:v>
                </c:pt>
                <c:pt idx="230">
                  <c:v>177</c:v>
                </c:pt>
                <c:pt idx="231">
                  <c:v>131</c:v>
                </c:pt>
                <c:pt idx="232">
                  <c:v>120</c:v>
                </c:pt>
                <c:pt idx="233">
                  <c:v>68</c:v>
                </c:pt>
                <c:pt idx="234">
                  <c:v>23</c:v>
                </c:pt>
                <c:pt idx="235">
                  <c:v>13</c:v>
                </c:pt>
                <c:pt idx="236">
                  <c:v>5</c:v>
                </c:pt>
                <c:pt idx="237">
                  <c:v>12</c:v>
                </c:pt>
                <c:pt idx="238">
                  <c:v>12</c:v>
                </c:pt>
                <c:pt idx="239">
                  <c:v>5</c:v>
                </c:pt>
                <c:pt idx="240">
                  <c:v>5</c:v>
                </c:pt>
                <c:pt idx="241">
                  <c:v>10</c:v>
                </c:pt>
                <c:pt idx="242">
                  <c:v>8</c:v>
                </c:pt>
                <c:pt idx="243">
                  <c:v>10</c:v>
                </c:pt>
                <c:pt idx="244">
                  <c:v>9</c:v>
                </c:pt>
                <c:pt idx="245">
                  <c:v>11</c:v>
                </c:pt>
                <c:pt idx="246">
                  <c:v>5</c:v>
                </c:pt>
              </c:numCache>
            </c:numRef>
          </c:val>
          <c:smooth val="0"/>
        </c:ser>
        <c:dLbls>
          <c:numFmt formatCode="#,##0" sourceLinked="0"/>
          <c:txPr>
            <a:bodyPr/>
            <a:lstStyle/>
            <a:p>
              <a:pPr>
                <a:defRPr b="0" i="0" strike="noStrike" sz="1100" u="none">
                  <a:solidFill>
                    <a:srgbClr val="52514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tickLblSkip val="52"/>
      </c:catAx>
      <c:valAx>
        <c:axId val="2094734552"/>
        <c:scaling>
          <c:orientation val="minMax"/>
          <c:min val="0"/>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30-day readmission rate by decile of predicted risk, test set (%)</a:t>
            </a:r>
          </a:p>
        </c:rich>
      </c:tx>
      <c:layout/>
      <c:overlay val="0"/>
    </c:title>
    <c:autoTitleDeleted val="0"/>
    <c:plotArea>
      <c:layout/>
      <c:barChart>
        <c:barDir val="col"/>
        <c:grouping val="clustered"/>
        <c:varyColors val="0"/>
        <c:ser>
          <c:idx val="0"/>
          <c:order val="0"/>
          <c:tx>
            <c:strRef>
              <c:f>Sheet1!$B$1</c:f>
              <c:strCache>
                <c:ptCount val="1"/>
                <c:pt idx="0">
                  <c:v>Predicted</c:v>
                </c:pt>
              </c:strCache>
            </c:strRef>
          </c:tx>
          <c:spPr>
            <a:solidFill>
              <a:srgbClr val="B9B8B1"/>
            </a:solidFill>
            <a:effectLst/>
          </c:spPr>
          <c:invertIfNegative val="0"/>
          <c:dLbls>
            <c:numFmt formatCode="#,##0" sourceLinked="0"/>
            <c:txPr>
              <a:bodyPr/>
              <a:lstStyle/>
              <a:p>
                <a:pPr>
                  <a:defRPr b="0" i="0" strike="noStrike" sz="1100" u="none">
                    <a:solidFill>
                      <a:srgbClr val="52514E"/>
                    </a:solidFill>
                    <a:latin typeface="+mn-lt"/>
                  </a:defRPr>
                </a:pPr>
              </a:p>
            </c:txPr>
            <c:showLegendKey val="0"/>
            <c:showVal val="0"/>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5.7</c:v>
                </c:pt>
                <c:pt idx="1">
                  <c:v>7</c:v>
                </c:pt>
                <c:pt idx="2">
                  <c:v>8.5</c:v>
                </c:pt>
                <c:pt idx="3">
                  <c:v>9.9</c:v>
                </c:pt>
                <c:pt idx="4">
                  <c:v>11.2</c:v>
                </c:pt>
                <c:pt idx="5">
                  <c:v>12.7</c:v>
                </c:pt>
                <c:pt idx="6">
                  <c:v>14.7</c:v>
                </c:pt>
                <c:pt idx="7">
                  <c:v>17.1</c:v>
                </c:pt>
                <c:pt idx="8">
                  <c:v>21.1</c:v>
                </c:pt>
                <c:pt idx="9">
                  <c:v>28.2</c:v>
                </c:pt>
              </c:numCache>
            </c:numRef>
          </c:val>
        </c:ser>
        <c:ser>
          <c:idx val="1"/>
          <c:order val="1"/>
          <c:tx>
            <c:strRef>
              <c:f>Sheet1!$C$1</c:f>
              <c:strCache>
                <c:ptCount val="1"/>
                <c:pt idx="0">
                  <c:v>Observed</c:v>
                </c:pt>
              </c:strCache>
            </c:strRef>
          </c:tx>
          <c:spPr>
            <a:solidFill>
              <a:srgbClr val="2A78D6"/>
            </a:solidFill>
            <a:effectLst/>
          </c:spPr>
          <c:invertIfNegative val="0"/>
          <c:dLbls>
            <c:numFmt formatCode="#,##0" sourceLinked="0"/>
            <c:txPr>
              <a:bodyPr/>
              <a:lstStyle/>
              <a:p>
                <a:pPr>
                  <a:defRPr b="0" i="0" strike="noStrike" sz="1100" u="none">
                    <a:solidFill>
                      <a:srgbClr val="52514E"/>
                    </a:solidFill>
                    <a:latin typeface="+mn-lt"/>
                  </a:defRPr>
                </a:pPr>
              </a:p>
            </c:txPr>
            <c:showLegendKey val="0"/>
            <c:showVal val="0"/>
            <c:showCatName val="0"/>
            <c:showSerName val="0"/>
            <c:showPercent val="0"/>
            <c:showBubbleSize val="0"/>
            <c:showLeaderLines val="0"/>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5.8</c:v>
                </c:pt>
                <c:pt idx="1">
                  <c:v>6.7</c:v>
                </c:pt>
                <c:pt idx="2">
                  <c:v>8.5</c:v>
                </c:pt>
                <c:pt idx="3">
                  <c:v>10.4</c:v>
                </c:pt>
                <c:pt idx="4">
                  <c:v>10</c:v>
                </c:pt>
                <c:pt idx="5">
                  <c:v>11.4</c:v>
                </c:pt>
                <c:pt idx="6">
                  <c:v>14.6</c:v>
                </c:pt>
                <c:pt idx="7">
                  <c:v>18.3</c:v>
                </c:pt>
                <c:pt idx="8">
                  <c:v>21.7</c:v>
                </c:pt>
                <c:pt idx="9">
                  <c:v>28.7</c:v>
                </c:pt>
              </c:numCache>
            </c:numRef>
          </c:val>
        </c:ser>
        <c:dLbls>
          <c:numFmt formatCode="#,##0" sourceLinked="0"/>
          <c:txPr>
            <a:bodyPr/>
            <a:lstStyle/>
            <a:p>
              <a:pPr>
                <a:defRPr b="0" i="0" strike="noStrike" sz="1100" u="none">
                  <a:solidFill>
                    <a:srgbClr val="52514E"/>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2514E"/>
                    </a:solidFill>
                    <a:latin typeface="+mn-lt"/>
                  </a:defRPr>
                </a:pPr>
                <a:r>
                  <a:rPr sz="1100" b="0" i="0" u="none" strike="noStrike">
                    <a:solidFill>
                      <a:srgbClr val="52514E"/>
                    </a:solidFill>
                    <a:latin typeface="+mn-lt"/>
                  </a:rPr>
                  <a:t>Risk decile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251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Warehouse query latency, ms (median of 7 runs, log scale)</a:t>
            </a:r>
          </a:p>
        </c:rich>
      </c:tx>
      <c:layout/>
      <c:overlay val="0"/>
    </c:title>
    <c:autoTitleDeleted val="0"/>
    <c:plotArea>
      <c:layout/>
      <c:barChart>
        <c:barDir val="col"/>
        <c:grouping val="clustered"/>
        <c:varyColors val="0"/>
        <c:ser>
          <c:idx val="0"/>
          <c:order val="0"/>
          <c:tx>
            <c:strRef>
              <c:f>Sheet1!$B$1</c:f>
              <c:strCache>
                <c:ptCount val="1"/>
                <c:pt idx="0">
                  <c:v>Baseline (primary keys only)</c:v>
                </c:pt>
              </c:strCache>
            </c:strRef>
          </c:tx>
          <c:spPr>
            <a:solidFill>
              <a:srgbClr val="EB6834"/>
            </a:solidFill>
            <a:effectLst/>
          </c:spPr>
          <c:invertIfNegative val="0"/>
          <c:dLbls>
            <c:numFmt formatCode="#,##0" sourceLinked="0"/>
            <c:txPr>
              <a:bodyPr/>
              <a:lstStyle/>
              <a:p>
                <a:pPr>
                  <a:defRPr b="0" i="0" strike="noStrike" sz="1100" u="none">
                    <a:solidFill>
                      <a:srgbClr val="52514E"/>
                    </a:solidFill>
                    <a:latin typeface="+mn-lt"/>
                  </a:defRPr>
                </a:pPr>
              </a:p>
            </c:txPr>
            <c:showLegendKey val="0"/>
            <c:showVal val="0"/>
            <c:showCatName val="0"/>
            <c:showSerName val="0"/>
            <c:showPercent val="0"/>
            <c:showBubbleSize val="0"/>
            <c:showLeaderLines val="0"/>
          </c:dLbls>
          <c:cat>
            <c:multiLvlStrRef>
              <c:f>Sheet1!$A$2:$A$7</c:f>
              <c:multiLvlStrCache>
                <c:ptCount val="6"/>
                <c:lvl>
                  <c:pt idx="0">
                    <c:v>Q1 monthly KPIs</c:v>
                  </c:pt>
                  <c:pt idx="1">
                    <c:v>Q2 slicer</c:v>
                  </c:pt>
                  <c:pt idx="2">
                    <c:v>Q3 ward drill</c:v>
                  </c:pt>
                  <c:pt idx="3">
                    <c:v>Q4 patient drill</c:v>
                  </c:pt>
                  <c:pt idx="4">
                    <c:v>Q5 refresh window</c:v>
                  </c:pt>
                  <c:pt idx="5">
                    <c:v>Q6 aggregate</c:v>
                  </c:pt>
                </c:lvl>
              </c:multiLvlStrCache>
            </c:multiLvlStrRef>
          </c:cat>
          <c:val>
            <c:numRef>
              <c:f>Sheet1!$B$2:$B$7</c:f>
              <c:numCache>
                <c:formatCode>General</c:formatCode>
                <c:ptCount val="6"/>
                <c:pt idx="0">
                  <c:v>39.1</c:v>
                </c:pt>
                <c:pt idx="1">
                  <c:v>21</c:v>
                </c:pt>
                <c:pt idx="2">
                  <c:v>0.2</c:v>
                </c:pt>
                <c:pt idx="3">
                  <c:v>25</c:v>
                </c:pt>
                <c:pt idx="4">
                  <c:v>23</c:v>
                </c:pt>
                <c:pt idx="5">
                  <c:v>217.8</c:v>
                </c:pt>
              </c:numCache>
            </c:numRef>
          </c:val>
        </c:ser>
        <c:ser>
          <c:idx val="1"/>
          <c:order val="1"/>
          <c:tx>
            <c:strRef>
              <c:f>Sheet1!$C$1</c:f>
              <c:strCache>
                <c:ptCount val="1"/>
                <c:pt idx="0">
                  <c:v>Optimised</c:v>
                </c:pt>
              </c:strCache>
            </c:strRef>
          </c:tx>
          <c:spPr>
            <a:solidFill>
              <a:srgbClr val="2A78D6"/>
            </a:solidFill>
            <a:effectLst/>
          </c:spPr>
          <c:invertIfNegative val="0"/>
          <c:dLbls>
            <c:numFmt formatCode="#,##0" sourceLinked="0"/>
            <c:txPr>
              <a:bodyPr/>
              <a:lstStyle/>
              <a:p>
                <a:pPr>
                  <a:defRPr b="0" i="0" strike="noStrike" sz="1100" u="none">
                    <a:solidFill>
                      <a:srgbClr val="52514E"/>
                    </a:solidFill>
                    <a:latin typeface="+mn-lt"/>
                  </a:defRPr>
                </a:pPr>
              </a:p>
            </c:txPr>
            <c:showLegendKey val="0"/>
            <c:showVal val="0"/>
            <c:showCatName val="0"/>
            <c:showSerName val="0"/>
            <c:showPercent val="0"/>
            <c:showBubbleSize val="0"/>
            <c:showLeaderLines val="0"/>
          </c:dLbls>
          <c:cat>
            <c:multiLvlStrRef>
              <c:f>Sheet1!$A$2:$A$7</c:f>
              <c:multiLvlStrCache>
                <c:ptCount val="6"/>
                <c:lvl>
                  <c:pt idx="0">
                    <c:v>Q1 monthly KPIs</c:v>
                  </c:pt>
                  <c:pt idx="1">
                    <c:v>Q2 slicer</c:v>
                  </c:pt>
                  <c:pt idx="2">
                    <c:v>Q3 ward drill</c:v>
                  </c:pt>
                  <c:pt idx="3">
                    <c:v>Q4 patient drill</c:v>
                  </c:pt>
                  <c:pt idx="4">
                    <c:v>Q5 refresh window</c:v>
                  </c:pt>
                  <c:pt idx="5">
                    <c:v>Q6 aggregate</c:v>
                  </c:pt>
                </c:lvl>
              </c:multiLvlStrCache>
            </c:multiLvlStrRef>
          </c:cat>
          <c:val>
            <c:numRef>
              <c:f>Sheet1!$C$2:$C$7</c:f>
              <c:numCache>
                <c:formatCode>General</c:formatCode>
                <c:ptCount val="6"/>
                <c:pt idx="0">
                  <c:v>48.875</c:v>
                </c:pt>
                <c:pt idx="1">
                  <c:v>1.81</c:v>
                </c:pt>
                <c:pt idx="2">
                  <c:v>0.286</c:v>
                </c:pt>
                <c:pt idx="3">
                  <c:v>0.055</c:v>
                </c:pt>
                <c:pt idx="4">
                  <c:v>15.333</c:v>
                </c:pt>
                <c:pt idx="5">
                  <c:v>34.031</c:v>
                </c:pt>
              </c:numCache>
            </c:numRef>
          </c:val>
        </c:ser>
        <c:dLbls>
          <c:numFmt formatCode="#,##0" sourceLinked="0"/>
          <c:txPr>
            <a:bodyPr/>
            <a:lstStyle/>
            <a:p>
              <a:pPr>
                <a:defRPr b="0" i="0" strike="noStrike" sz="1100" u="none">
                  <a:solidFill>
                    <a:srgbClr val="52514E"/>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logBase val="10"/>
          <c:orientation val="minMax"/>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2514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(0:00-0:30). Good morning. We are the consulting team engaged by Green Basket Health Services, five hospitals and five clinics in nine Namibian regions. In ten minutes we show how we turned nine disconnected data sources into one trusted view of patient flow, beds and staff, and disease surveillance, and what that view tells management. All patient data are synthetic; the census figures are real NSA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(0:30-1:15). Between 2022 and 2024 about 77 percent of ED patients were seen within their South African Triage Scale target. In 2025 that fell to 67.5 percent and it has not recovered. Management could not tell whether demand, beds or staff were to blame, because the data sat in nine places: the patient administration system, paper ward returns, the e-roster, weekly IDSR returns, a master-data workbook and two external sources. Profiling found 2,966 duplicate attendance rows, 16,223 superseded spell images and 30 spellings of nine notifiable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(1:15-1:45). Five business questions, each tied to one of the five strategic objectives, a KPI with an explicit definition, a 2025 baseline from the warehouse and a 2027 target agreed with the executive committee. Every page of the dashboard answers one or two of these questions; nothing on a page exists without a question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(1:45-2:30). Extract, load, then transform inside PostgreSQL. Raw files land unchanged as text with their file name and row number, so any number can be traced back. Cleansed staging applies 44 rules; the dimensional layer holds 8 facts and 13 conformed dimensions; thin mart views feed Power BI, and the Python analytics write forecasts, risk deciles and outbreak alerts back to the same schema. One command rebuilds everything, including a day-2 incremental load, in about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(2:30-3:15). Eight fact tables of four types - transaction, accumulating snapshot, periodic snapshot and factless coverage - share 13 conformed dimensions. We snowflaked Care Unit to Facility to Region because attendances and the census are recorded per ward while IDSR returns and weather are recorded per facility: one conformed Facility table filters both. Wards and patients keep Type 2 history. The chart shows why: Rundu's medical ward grew from 24 to 32 beds in April 2025 and to 36 in October 2026. Measured against the beds it actually had, it ran at 152 percent in January 2025; against today's beds that crowding would vanish. Another example: WHK-MED2 was a COVID-19 isolation ward from January to March 2022, and spells in that period keep that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(3:15-4:00). Because the internal data are synthetic, the generator recorded every defect it injected, so we could measure our rules instead of trusting them. 134,964 of 134,992 damaged records were flagged by their own rule and the remaining 28 by another rule; no good record was changed. Validation also improved two rules: a x10 keying error in a small ward slipped under a '3 times the beds' test until we added the PAS midnight count as a second witness, and the deaths-greater-than-cases rule fired on genuine deaths reported a week after the case until we allowed a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(4:00-4:30). 22 reconciliation checks run after every load: row counts, control totals, cross-source comparisons, integrity and plausibility. 20 pass. The two warnings are findings, not pipeline errors: 25 spells never closed in the PAS, and three implausible ward-days. Every rule has a named steward. Security is layered: least-privilege database roles, dynamic row-level security per facility, object-level security for the Ministry's surveillance partner, sensitivity labels, pseudonymisation and small-cell suppression. Namibia's Data Protection Bill is not yet enacted, so we design to its principles and benchmark against GDPR, POPIA and HIPAA.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(4:30-5:15). Import mode: about 0.9 million rows compress to roughly 12.5 megabytes, and incremental refresh re-reads only the last ten days. 108 measures carry descriptions and display folders. One example on the left: IDSR reports by ISO epi week, and epi year 2025 began on 30 December 2024, so a calendar TOTALYTD would cut weeks in half; this measure filters the Epi Year attribute instead. Malaria incidence uses person-time, so one measure works for a week or for five years. Row-level security maps each facility manager to their facilities from a warehouse table; the expected totals per identity come from SQL, and the View-as test in Desktop must match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(5:15-6:45). Demo path. One: the Executive Overview with Calendar Year 2026 - attendances, seen within target, median wait, occupancy and readmissions, each against target. Two: right-click Katima Mulilo in the scorecard and drill through to Facility Detail. Three: the Patient Flow page, expanding the matrix from Region to Facility to Ward; then the Disease Surveillance page with the epi-week trend and the rainfall lead indicator. Four: Modeling, View as role, fm.katima - one facility, 13,072 attendances in 2025; then the Surveillance Partner role, where the patient tables disappear from the field list. If the live demo fails, use backup slides 15 to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(6:45-7:30). We joined each attendance to the doctors rostered in its shift and to hospital occupancy that day - a drill-across through conformed dimensions. After adjusting for triage and facility, each extra arrival per doctor in a shift adds +6.3 % to the wait; at more than 16 arrivals per doctor the median urgent patient waits 68 minutes against a 60-minute target. The 2026 natural experiment confirms it: with a second day-shift doctor from January to June, Katima Mulilo improved by 12.7 points and Rundu by 9.6, while Oshakati, without one, moved 1.6. The regression is observational; the experiment is the stronger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(7:30-8:15). Malaria in the north-east follows the rains with a lag: rainfall four to eight weeks earlier is a significant driver in our SARIMAX model. The WHO-style historical-limits threshold fired 2 to 6 weeks before the 2025 and 2026 peaks - enough to start the roster uplift, but less than our 4-week objective, so the next step is rainfall-triggered thresholds. For stock planning, Holt-Winters forecasts one week ahead with 19.4 % weighted error in a 52-week rolling-origin back-test.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(8:15-8:45). Thirty-day readmissions: a gradient-boosting model trained on spells before July 2025 and tested on later ones. An AUC of 0.66 is typical for readmission models, and the model is well calibrated. Its value is prioritisation: calling the top 20 percent of patients by risk - about 3,601 a year - reaches 37 percent of all readmissions. It ranks a call list; it never decides care. For surveillance, the generator injected 12 outbreaks; CUSUM found 11 of 12 with a median delay of one week, EARS C2 found 9 of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(8:45-9:15). We measured before we optimised. Seven techniques: B-tree indexes on fact foreign keys, a BRIN index on the arrival date, an aggregate table, removing unused and high-cardinality columns such as the encounter number, incremental refresh, a set-based idempotent ELT, and a stored durable patient key. Results: the patient drill-through is 454 times faster, the model is 46 percent smaller, and a daily refresh reads 3,214 rows instead of 560,557. Two queries did not improve, because a full scan is already optimal for them; we report that rather than hide it. Power BI timings are recorded with Performance Analyzer and DAX Studio in Desktop.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(9:15-10:00). Four recommendations, each traced to evidence in the warehouse. First, trigger a roster uplift with the malaria season: the extra doctor was the only intervention with a measured effect. Second, discharge before noon and keep occupancy below 85 percent, so that morning beds are free for the afternoon ED peak. Third, a 72-hour follow-up call for the highest-risk fifth of discharges. Fourth, run the data-quality process weekly with named stewards and publish the Power BI app with row-level security. Thank you - each of us will answer questions on the part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demo: design mock-up rendered from warehouse data (replace with the Power BI Desktop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demo: design mock-up rendered from warehouse data (replace with the Power BI Desktop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demo: design mock-up rendered from warehouse data (replace with the Power BI Desktop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demo: design mock-up rendered from warehouse data (replace with the Power BI Desktop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BHS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21945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94760"/>
            <a:ext cx="10698480" cy="11887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4" name="Text 0"/>
          <p:cNvSpPr/>
          <p:nvPr/>
        </p:nvSpPr>
        <p:spPr>
          <a:xfrm>
            <a:off x="731520" y="6035040"/>
            <a:ext cx="10698480" cy="365760"/>
          </a:xfrm>
          <a:prstGeom prst="rect">
            <a:avLst/>
          </a:prstGeom>
          <a:noFill/>
          <a:ln/>
        </p:spPr>
        <p:txBody>
          <a:bodyPr wrap="square" rtlCol="0" anchor="ctr"/>
          <a:lstStyle/>
          <a:p>
            <a:pPr indent="0" marL="0">
              <a:buNone/>
            </a:pPr>
            <a:r>
              <a:rPr lang="en-US" sz="1200" dirty="0">
                <a:solidFill>
                  <a:schemeClr val="bg2"/>
                </a:solidFill>
              </a:rPr>
              <a:t>ABI820S Advanced Business Intelligence and Analytics | NUST | 28 October 2026</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BHS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tx1"/>
                </a:solidFill>
              </a:rPr>
              <a:t>Green Basket Health Services (GBHS) | ABI820S group project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BHS_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5-1.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2194560"/>
          </a:xfrm>
          <a:prstGeom prst="rect">
            <a:avLst/>
          </a:prstGeom>
          <a:noFill/>
          <a:ln/>
        </p:spPr>
        <p:txBody>
          <a:bodyPr wrap="square" rtlCol="0" anchor="b"/>
          <a:lstStyle/>
          <a:p>
            <a:pPr algn="l" indent="0" marL="0">
              <a:buNone/>
            </a:pPr>
            <a:r>
              <a:rPr lang="en-US" sz="4000" b="1" dirty="0">
                <a:solidFill>
                  <a:schemeClr val="bg1"/>
                </a:solidFill>
              </a:rPr>
              <a:t>Green Basket Health Services: one trusted view of patient flow, resource use and disease surveillance</a:t>
            </a:r>
            <a:endParaRPr lang="en-US" sz="4000" dirty="0"/>
          </a:p>
        </p:txBody>
      </p:sp>
      <p:sp>
        <p:nvSpPr>
          <p:cNvPr id="3" name="Text 0"/>
          <p:cNvSpPr/>
          <p:nvPr>
            <p:ph idx="101" type="body" hasCustomPrompt="1"/>
          </p:nvPr>
        </p:nvSpPr>
        <p:spPr>
          <a:xfrm>
            <a:off x="731520" y="3794760"/>
            <a:ext cx="10698480" cy="1188720"/>
          </a:xfrm>
          <a:prstGeom prst="rect">
            <a:avLst/>
          </a:prstGeom>
          <a:noFill/>
          <a:ln/>
        </p:spPr>
        <p:txBody>
          <a:bodyPr wrap="square" rtlCol="0" anchor="t"/>
          <a:lstStyle/>
          <a:p>
            <a:pPr algn="l" indent="0" marL="0">
              <a:buNone/>
            </a:pPr>
            <a:r>
              <a:rPr lang="en-US" sz="2000" dirty="0">
                <a:solidFill>
                  <a:schemeClr val="bg2"/>
                </a:solidFill>
              </a:rPr>
              <a:t>End-to-end BI solution: PostgreSQL data warehouse, ELT with validated data quality, Power BI with row-level security, and four analytics techniques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ED patients seen on time fell from 79 % to 67 %</a:t>
            </a:r>
            <a:endParaRPr lang="en-US" sz="2800" dirty="0"/>
          </a:p>
        </p:txBody>
      </p:sp>
      <p:graphicFrame>
        <p:nvGraphicFramePr>
          <p:cNvPr id="3" name="Chart 0" descr=""/>
          <p:cNvGraphicFramePr/>
          <p:nvPr/>
        </p:nvGraphicFramePr>
        <p:xfrm>
          <a:off x="548640" y="1234440"/>
          <a:ext cx="6766560" cy="42976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623560"/>
            <a:ext cx="6766560" cy="640080"/>
          </a:xfrm>
          <a:prstGeom prst="rect">
            <a:avLst/>
          </a:prstGeom>
          <a:noFill/>
          <a:ln/>
        </p:spPr>
        <p:txBody>
          <a:bodyPr wrap="square" lIns="0" tIns="0" rIns="0" bIns="0" rtlCol="0" anchor="t"/>
          <a:lstStyle/>
          <a:p>
            <a:pPr indent="0" marL="0">
              <a:buNone/>
            </a:pPr>
            <a:r>
              <a:rPr lang="en-US" sz="1400" dirty="0">
                <a:solidFill>
                  <a:schemeClr val="tx1"/>
                </a:solidFill>
              </a:rPr>
              <a:t>Attendances rose 14 % in 2025 with the malaria upsurge, and patients leaving without being seen almost doubled (3.3 % to 6.2 %).</a:t>
            </a:r>
            <a:endParaRPr lang="en-US" sz="1400" dirty="0"/>
          </a:p>
        </p:txBody>
      </p:sp>
      <p:sp>
        <p:nvSpPr>
          <p:cNvPr id="5" name="Text 2"/>
          <p:cNvSpPr txBox="1"/>
          <p:nvPr/>
        </p:nvSpPr>
        <p:spPr>
          <a:xfrm>
            <a:off x="7680960" y="1280160"/>
            <a:ext cx="3931920" cy="411480"/>
          </a:xfrm>
          <a:prstGeom prst="rect">
            <a:avLst/>
          </a:prstGeom>
          <a:noFill/>
          <a:ln/>
        </p:spPr>
        <p:txBody>
          <a:bodyPr wrap="square" lIns="0" tIns="0" rIns="0" bIns="0" rtlCol="0" anchor="t"/>
          <a:lstStyle/>
          <a:p>
            <a:pPr indent="0" marL="0">
              <a:buNone/>
            </a:pPr>
            <a:r>
              <a:rPr lang="en-US" sz="1800" b="1" dirty="0">
                <a:solidFill>
                  <a:schemeClr val="tx2"/>
                </a:solidFill>
              </a:rPr>
              <a:t>Nine sources, no single truth</a:t>
            </a:r>
            <a:endParaRPr lang="en-US" sz="1800" dirty="0"/>
          </a:p>
        </p:txBody>
      </p:sp>
      <p:sp>
        <p:nvSpPr>
          <p:cNvPr id="6" name="Text 3"/>
          <p:cNvSpPr txBox="1"/>
          <p:nvPr/>
        </p:nvSpPr>
        <p:spPr>
          <a:xfrm>
            <a:off x="7680960" y="1783080"/>
            <a:ext cx="3931920" cy="685800"/>
          </a:xfrm>
          <a:prstGeom prst="rect">
            <a:avLst/>
          </a:prstGeom>
          <a:noFill/>
          <a:ln/>
        </p:spPr>
        <p:txBody>
          <a:bodyPr wrap="square" lIns="0" tIns="0" rIns="0" bIns="0" rtlCol="0" anchor="b"/>
          <a:lstStyle/>
          <a:p>
            <a:pPr indent="0" marL="0">
              <a:buNone/>
            </a:pPr>
            <a:r>
              <a:rPr lang="en-US" sz="3200" b="1" dirty="0">
                <a:solidFill>
                  <a:schemeClr val="accent2"/>
                </a:solidFill>
                <a:latin typeface="Cambria" pitchFamily="34" charset="0"/>
                <a:ea typeface="Cambria" pitchFamily="34" charset="-122"/>
                <a:cs typeface="Cambria" pitchFamily="34" charset="-120"/>
              </a:rPr>
              <a:t>2,966</a:t>
            </a:r>
            <a:endParaRPr lang="en-US" sz="3200" dirty="0"/>
          </a:p>
        </p:txBody>
      </p:sp>
      <p:sp>
        <p:nvSpPr>
          <p:cNvPr id="7" name="Text 4"/>
          <p:cNvSpPr txBox="1"/>
          <p:nvPr/>
        </p:nvSpPr>
        <p:spPr>
          <a:xfrm>
            <a:off x="7680960" y="2514600"/>
            <a:ext cx="3931920" cy="685800"/>
          </a:xfrm>
          <a:prstGeom prst="rect">
            <a:avLst/>
          </a:prstGeom>
          <a:noFill/>
          <a:ln/>
        </p:spPr>
        <p:txBody>
          <a:bodyPr wrap="square" lIns="0" tIns="0" rIns="0" bIns="0" rtlCol="0" anchor="t"/>
          <a:lstStyle/>
          <a:p>
            <a:pPr indent="0" marL="0">
              <a:buNone/>
            </a:pPr>
            <a:r>
              <a:rPr lang="en-US" sz="1400" dirty="0">
                <a:solidFill>
                  <a:schemeClr val="tx1"/>
                </a:solidFill>
              </a:rPr>
              <a:t>duplicate attendance rows from overlapping yearly extracts</a:t>
            </a:r>
            <a:endParaRPr lang="en-US" sz="1400" dirty="0"/>
          </a:p>
        </p:txBody>
      </p:sp>
      <p:sp>
        <p:nvSpPr>
          <p:cNvPr id="8" name="Text 5"/>
          <p:cNvSpPr txBox="1"/>
          <p:nvPr/>
        </p:nvSpPr>
        <p:spPr>
          <a:xfrm>
            <a:off x="7680960" y="3246120"/>
            <a:ext cx="3931920" cy="685800"/>
          </a:xfrm>
          <a:prstGeom prst="rect">
            <a:avLst/>
          </a:prstGeom>
          <a:noFill/>
          <a:ln/>
        </p:spPr>
        <p:txBody>
          <a:bodyPr wrap="square" lIns="0" tIns="0" rIns="0" bIns="0" rtlCol="0" anchor="b"/>
          <a:lstStyle/>
          <a:p>
            <a:pPr indent="0" marL="0">
              <a:buNone/>
            </a:pPr>
            <a:r>
              <a:rPr lang="en-US" sz="3200" b="1" dirty="0">
                <a:solidFill>
                  <a:schemeClr val="accent2"/>
                </a:solidFill>
                <a:latin typeface="Cambria" pitchFamily="34" charset="0"/>
                <a:ea typeface="Cambria" pitchFamily="34" charset="-122"/>
                <a:cs typeface="Cambria" pitchFamily="34" charset="-120"/>
              </a:rPr>
              <a:t>16,223</a:t>
            </a:r>
            <a:endParaRPr lang="en-US" sz="3200" dirty="0"/>
          </a:p>
        </p:txBody>
      </p:sp>
      <p:sp>
        <p:nvSpPr>
          <p:cNvPr id="9" name="Text 6"/>
          <p:cNvSpPr txBox="1"/>
          <p:nvPr/>
        </p:nvSpPr>
        <p:spPr>
          <a:xfrm>
            <a:off x="7680960" y="3977640"/>
            <a:ext cx="3931920" cy="685800"/>
          </a:xfrm>
          <a:prstGeom prst="rect">
            <a:avLst/>
          </a:prstGeom>
          <a:noFill/>
          <a:ln/>
        </p:spPr>
        <p:txBody>
          <a:bodyPr wrap="square" lIns="0" tIns="0" rIns="0" bIns="0" rtlCol="0" anchor="t"/>
          <a:lstStyle/>
          <a:p>
            <a:pPr indent="0" marL="0">
              <a:buNone/>
            </a:pPr>
            <a:r>
              <a:rPr lang="en-US" sz="1400" dirty="0">
                <a:solidFill>
                  <a:schemeClr val="tx1"/>
                </a:solidFill>
              </a:rPr>
              <a:t>superseded spell images in the change-data-capture export</a:t>
            </a:r>
            <a:endParaRPr lang="en-US" sz="1400" dirty="0"/>
          </a:p>
        </p:txBody>
      </p:sp>
      <p:sp>
        <p:nvSpPr>
          <p:cNvPr id="10" name="Text 7"/>
          <p:cNvSpPr txBox="1"/>
          <p:nvPr/>
        </p:nvSpPr>
        <p:spPr>
          <a:xfrm>
            <a:off x="7680960" y="4709160"/>
            <a:ext cx="3931920" cy="685800"/>
          </a:xfrm>
          <a:prstGeom prst="rect">
            <a:avLst/>
          </a:prstGeom>
          <a:noFill/>
          <a:ln/>
        </p:spPr>
        <p:txBody>
          <a:bodyPr wrap="square" lIns="0" tIns="0" rIns="0" bIns="0" rtlCol="0" anchor="b"/>
          <a:lstStyle/>
          <a:p>
            <a:pPr indent="0" marL="0">
              <a:buNone/>
            </a:pPr>
            <a:r>
              <a:rPr lang="en-US" sz="3200" b="1" dirty="0">
                <a:solidFill>
                  <a:schemeClr val="accent2"/>
                </a:solidFill>
                <a:latin typeface="Cambria" pitchFamily="34" charset="0"/>
                <a:ea typeface="Cambria" pitchFamily="34" charset="-122"/>
                <a:cs typeface="Cambria" pitchFamily="34" charset="-120"/>
              </a:rPr>
              <a:t>30</a:t>
            </a:r>
            <a:endParaRPr lang="en-US" sz="3200" dirty="0"/>
          </a:p>
        </p:txBody>
      </p:sp>
      <p:sp>
        <p:nvSpPr>
          <p:cNvPr id="11" name="Text 8"/>
          <p:cNvSpPr txBox="1"/>
          <p:nvPr/>
        </p:nvSpPr>
        <p:spPr>
          <a:xfrm>
            <a:off x="7680960" y="5440680"/>
            <a:ext cx="3931920" cy="685800"/>
          </a:xfrm>
          <a:prstGeom prst="rect">
            <a:avLst/>
          </a:prstGeom>
          <a:noFill/>
          <a:ln/>
        </p:spPr>
        <p:txBody>
          <a:bodyPr wrap="square" lIns="0" tIns="0" rIns="0" bIns="0" rtlCol="0" anchor="t"/>
          <a:lstStyle/>
          <a:p>
            <a:pPr indent="0" marL="0">
              <a:buNone/>
            </a:pPr>
            <a:r>
              <a:rPr lang="en-US" sz="1400" dirty="0">
                <a:solidFill>
                  <a:schemeClr val="tx1"/>
                </a:solidFill>
              </a:rPr>
              <a:t>spellings of 9 notifiable conditions in the IDSR returns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Five business questions, each tied to a KPI and a 2027 target</a:t>
            </a:r>
            <a:endParaRPr lang="en-US" sz="2800" dirty="0"/>
          </a:p>
        </p:txBody>
      </p:sp>
      <p:sp>
        <p:nvSpPr>
          <p:cNvPr id="3" name="Text 1"/>
          <p:cNvSpPr txBox="1"/>
          <p:nvPr/>
        </p:nvSpPr>
        <p:spPr>
          <a:xfrm>
            <a:off x="8366760" y="1188720"/>
            <a:ext cx="3246120" cy="320040"/>
          </a:xfrm>
          <a:prstGeom prst="rect">
            <a:avLst/>
          </a:prstGeom>
          <a:noFill/>
          <a:ln/>
        </p:spPr>
        <p:txBody>
          <a:bodyPr wrap="square" lIns="0" tIns="0" rIns="0" bIns="0" rtlCol="0" anchor="t"/>
          <a:lstStyle/>
          <a:p>
            <a:pPr indent="0" marL="0">
              <a:buNone/>
            </a:pPr>
            <a:r>
              <a:rPr lang="en-US" sz="1400" b="1" dirty="0">
                <a:solidFill>
                  <a:schemeClr val="tx2"/>
                </a:solidFill>
              </a:rPr>
              <a:t>Target 2027 and 2025 baseline</a:t>
            </a:r>
            <a:endParaRPr lang="en-US" sz="1400" dirty="0"/>
          </a:p>
        </p:txBody>
      </p:sp>
      <p:sp>
        <p:nvSpPr>
          <p:cNvPr id="4" name="step 1"/>
          <p:cNvSpPr/>
          <p:nvPr/>
        </p:nvSpPr>
        <p:spPr>
          <a:xfrm>
            <a:off x="548640" y="1709928"/>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80160" y="1600200"/>
            <a:ext cx="6858000" cy="868680"/>
          </a:xfrm>
          <a:prstGeom prst="rect">
            <a:avLst/>
          </a:prstGeom>
          <a:noFill/>
          <a:ln/>
        </p:spPr>
        <p:txBody>
          <a:bodyPr wrap="square" lIns="0" tIns="0" rIns="0" bIns="0" rtlCol="0" anchor="t"/>
          <a:lstStyle/>
          <a:p>
            <a:pPr indent="0" marL="0">
              <a:buNone/>
            </a:pPr>
            <a:r>
              <a:rPr lang="en-US" sz="1600" b="1" dirty="0">
                <a:solidFill>
                  <a:schemeClr val="tx1"/>
                </a:solidFill>
              </a:rPr>
              <a:t>Patient flow: are ED patients seen within their triage target, and what drives the delays?</a:t>
            </a:r>
            <a:endParaRPr lang="en-US" sz="1400" dirty="0"/>
          </a:p>
          <a:p>
            <a:pPr indent="0" marL="0">
              <a:buNone/>
            </a:pPr>
            <a:r>
              <a:rPr lang="en-US" sz="1400" dirty="0">
                <a:solidFill>
                  <a:schemeClr val="tx1"/>
                </a:solidFill>
              </a:rPr>
              <a:t>Seen within target %, median door-to-doctor, LWBS %, arrivals per doctor-shift</a:t>
            </a:r>
            <a:endParaRPr lang="en-US" sz="1400" dirty="0"/>
          </a:p>
        </p:txBody>
      </p:sp>
      <p:sp>
        <p:nvSpPr>
          <p:cNvPr id="6" name="target 1"/>
          <p:cNvSpPr/>
          <p:nvPr/>
        </p:nvSpPr>
        <p:spPr>
          <a:xfrm>
            <a:off x="8366760" y="1600200"/>
            <a:ext cx="3246120" cy="804672"/>
          </a:xfrm>
          <a:prstGeom prst="roundRect">
            <a:avLst>
              <a:gd name="adj" fmla="val 9091"/>
            </a:avLst>
          </a:prstGeom>
          <a:solidFill>
            <a:schemeClr val="bg2"/>
          </a:solidFill>
          <a:ln w="12700">
            <a:solidFill>
              <a:schemeClr val="bg2"/>
            </a:solidFill>
            <a:prstDash val="solid"/>
          </a:ln>
        </p:spPr>
      </p:sp>
      <p:sp>
        <p:nvSpPr>
          <p:cNvPr id="7" name="Text 5"/>
          <p:cNvSpPr txBox="1"/>
          <p:nvPr/>
        </p:nvSpPr>
        <p:spPr>
          <a:xfrm>
            <a:off x="8503920" y="1655064"/>
            <a:ext cx="3017520" cy="694944"/>
          </a:xfrm>
          <a:prstGeom prst="rect">
            <a:avLst/>
          </a:prstGeom>
          <a:noFill/>
          <a:ln/>
        </p:spPr>
        <p:txBody>
          <a:bodyPr wrap="square" lIns="0" tIns="0" rIns="0" bIns="0" rtlCol="0" anchor="ctr"/>
          <a:lstStyle/>
          <a:p>
            <a:pPr indent="0" marL="0">
              <a:buNone/>
            </a:pPr>
            <a:r>
              <a:rPr lang="en-US" sz="1400" b="1" dirty="0">
                <a:solidFill>
                  <a:schemeClr val="tx2"/>
                </a:solidFill>
              </a:rPr>
              <a:t>≥ 80 % seen within target</a:t>
            </a:r>
            <a:endParaRPr lang="en-US" sz="1400" dirty="0"/>
          </a:p>
          <a:p>
            <a:pPr indent="0" marL="0">
              <a:buNone/>
            </a:pPr>
            <a:r>
              <a:rPr lang="en-US" sz="1400" dirty="0">
                <a:solidFill>
                  <a:schemeClr val="tx1"/>
                </a:solidFill>
              </a:rPr>
              <a:t>2025: 67.5 %</a:t>
            </a:r>
            <a:endParaRPr lang="en-US" sz="1400" dirty="0"/>
          </a:p>
        </p:txBody>
      </p:sp>
      <p:sp>
        <p:nvSpPr>
          <p:cNvPr id="8" name="step 2"/>
          <p:cNvSpPr/>
          <p:nvPr/>
        </p:nvSpPr>
        <p:spPr>
          <a:xfrm>
            <a:off x="548640" y="265176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280160" y="2542032"/>
            <a:ext cx="6858000" cy="868680"/>
          </a:xfrm>
          <a:prstGeom prst="rect">
            <a:avLst/>
          </a:prstGeom>
          <a:noFill/>
          <a:ln/>
        </p:spPr>
        <p:txBody>
          <a:bodyPr wrap="square" lIns="0" tIns="0" rIns="0" bIns="0" rtlCol="0" anchor="t"/>
          <a:lstStyle/>
          <a:p>
            <a:pPr indent="0" marL="0">
              <a:buNone/>
            </a:pPr>
            <a:r>
              <a:rPr lang="en-US" sz="1600" b="1" dirty="0">
                <a:solidFill>
                  <a:schemeClr val="tx1"/>
                </a:solidFill>
              </a:rPr>
              <a:t>Resource use: are beds and nursing hours matched to demand by facility, ward and season?</a:t>
            </a:r>
            <a:endParaRPr lang="en-US" sz="1400" dirty="0"/>
          </a:p>
          <a:p>
            <a:pPr indent="0" marL="0">
              <a:buNone/>
            </a:pPr>
            <a:r>
              <a:rPr lang="en-US" sz="1400" dirty="0">
                <a:solidFill>
                  <a:schemeClr val="tx1"/>
                </a:solidFill>
              </a:rPr>
              <a:t>Bed occupancy, discharges before noon, length of stay, nursing hours per patient day</a:t>
            </a:r>
            <a:endParaRPr lang="en-US" sz="1400" dirty="0"/>
          </a:p>
        </p:txBody>
      </p:sp>
      <p:sp>
        <p:nvSpPr>
          <p:cNvPr id="10" name="target 2"/>
          <p:cNvSpPr/>
          <p:nvPr/>
        </p:nvSpPr>
        <p:spPr>
          <a:xfrm>
            <a:off x="8366760" y="2542032"/>
            <a:ext cx="3246120" cy="804672"/>
          </a:xfrm>
          <a:prstGeom prst="roundRect">
            <a:avLst>
              <a:gd name="adj" fmla="val 9091"/>
            </a:avLst>
          </a:prstGeom>
          <a:solidFill>
            <a:schemeClr val="bg2"/>
          </a:solidFill>
          <a:ln w="12700">
            <a:solidFill>
              <a:schemeClr val="bg2"/>
            </a:solidFill>
            <a:prstDash val="solid"/>
          </a:ln>
        </p:spPr>
      </p:sp>
      <p:sp>
        <p:nvSpPr>
          <p:cNvPr id="11" name="Text 9"/>
          <p:cNvSpPr txBox="1"/>
          <p:nvPr/>
        </p:nvSpPr>
        <p:spPr>
          <a:xfrm>
            <a:off x="8503920" y="2596896"/>
            <a:ext cx="3017520" cy="694944"/>
          </a:xfrm>
          <a:prstGeom prst="rect">
            <a:avLst/>
          </a:prstGeom>
          <a:noFill/>
          <a:ln/>
        </p:spPr>
        <p:txBody>
          <a:bodyPr wrap="square" lIns="0" tIns="0" rIns="0" bIns="0" rtlCol="0" anchor="ctr"/>
          <a:lstStyle/>
          <a:p>
            <a:pPr indent="0" marL="0">
              <a:buNone/>
            </a:pPr>
            <a:r>
              <a:rPr lang="en-US" sz="1400" b="1" dirty="0">
                <a:solidFill>
                  <a:schemeClr val="tx2"/>
                </a:solidFill>
              </a:rPr>
              <a:t>≥ 40 % discharged before noon</a:t>
            </a:r>
            <a:endParaRPr lang="en-US" sz="1400" dirty="0"/>
          </a:p>
          <a:p>
            <a:pPr indent="0" marL="0">
              <a:buNone/>
            </a:pPr>
            <a:r>
              <a:rPr lang="en-US" sz="1400" dirty="0">
                <a:solidFill>
                  <a:schemeClr val="tx1"/>
                </a:solidFill>
              </a:rPr>
              <a:t>2025: 26.9 %</a:t>
            </a:r>
            <a:endParaRPr lang="en-US" sz="1400" dirty="0"/>
          </a:p>
        </p:txBody>
      </p:sp>
      <p:sp>
        <p:nvSpPr>
          <p:cNvPr id="12" name="step 3"/>
          <p:cNvSpPr/>
          <p:nvPr/>
        </p:nvSpPr>
        <p:spPr>
          <a:xfrm>
            <a:off x="548640" y="3593592"/>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280160" y="3483864"/>
            <a:ext cx="6858000" cy="868680"/>
          </a:xfrm>
          <a:prstGeom prst="rect">
            <a:avLst/>
          </a:prstGeom>
          <a:noFill/>
          <a:ln/>
        </p:spPr>
        <p:txBody>
          <a:bodyPr wrap="square" lIns="0" tIns="0" rIns="0" bIns="0" rtlCol="0" anchor="t"/>
          <a:lstStyle/>
          <a:p>
            <a:pPr indent="0" marL="0">
              <a:buNone/>
            </a:pPr>
            <a:r>
              <a:rPr lang="en-US" sz="1600" b="1" dirty="0">
                <a:solidFill>
                  <a:schemeClr val="tx1"/>
                </a:solidFill>
              </a:rPr>
              <a:t>Surveillance: where are notifiable diseases rising, and is IDSR reporting complete and on time?</a:t>
            </a:r>
            <a:endParaRPr lang="en-US" sz="1400" dirty="0"/>
          </a:p>
          <a:p>
            <a:pPr indent="0" marL="0">
              <a:buNone/>
            </a:pPr>
            <a:r>
              <a:rPr lang="en-US" sz="1400" dirty="0">
                <a:solidFill>
                  <a:schemeClr val="tx1"/>
                </a:solidFill>
              </a:rPr>
              <a:t>Notified cases, incidence per 1,000 person-years, positivity, completeness, timeliness</a:t>
            </a:r>
            <a:endParaRPr lang="en-US" sz="1400" dirty="0"/>
          </a:p>
        </p:txBody>
      </p:sp>
      <p:sp>
        <p:nvSpPr>
          <p:cNvPr id="14" name="target 3"/>
          <p:cNvSpPr/>
          <p:nvPr/>
        </p:nvSpPr>
        <p:spPr>
          <a:xfrm>
            <a:off x="8366760" y="3483864"/>
            <a:ext cx="3246120" cy="804672"/>
          </a:xfrm>
          <a:prstGeom prst="roundRect">
            <a:avLst>
              <a:gd name="adj" fmla="val 9091"/>
            </a:avLst>
          </a:prstGeom>
          <a:solidFill>
            <a:schemeClr val="bg2"/>
          </a:solidFill>
          <a:ln w="12700">
            <a:solidFill>
              <a:schemeClr val="bg2"/>
            </a:solidFill>
            <a:prstDash val="solid"/>
          </a:ln>
        </p:spPr>
      </p:sp>
      <p:sp>
        <p:nvSpPr>
          <p:cNvPr id="15" name="Text 13"/>
          <p:cNvSpPr txBox="1"/>
          <p:nvPr/>
        </p:nvSpPr>
        <p:spPr>
          <a:xfrm>
            <a:off x="8503920" y="3538728"/>
            <a:ext cx="3017520" cy="694944"/>
          </a:xfrm>
          <a:prstGeom prst="rect">
            <a:avLst/>
          </a:prstGeom>
          <a:noFill/>
          <a:ln/>
        </p:spPr>
        <p:txBody>
          <a:bodyPr wrap="square" lIns="0" tIns="0" rIns="0" bIns="0" rtlCol="0" anchor="ctr"/>
          <a:lstStyle/>
          <a:p>
            <a:pPr indent="0" marL="0">
              <a:buNone/>
            </a:pPr>
            <a:r>
              <a:rPr lang="en-US" sz="1400" b="1" dirty="0">
                <a:solidFill>
                  <a:schemeClr val="tx2"/>
                </a:solidFill>
              </a:rPr>
              <a:t>≥ 80 % complete and on time</a:t>
            </a:r>
            <a:endParaRPr lang="en-US" sz="1400" dirty="0"/>
          </a:p>
          <a:p>
            <a:pPr indent="0" marL="0">
              <a:buNone/>
            </a:pPr>
            <a:r>
              <a:rPr lang="en-US" sz="1400" dirty="0">
                <a:solidFill>
                  <a:schemeClr val="tx1"/>
                </a:solidFill>
              </a:rPr>
              <a:t>2025: 98.7 % and 92.9 %</a:t>
            </a:r>
            <a:endParaRPr lang="en-US" sz="1400" dirty="0"/>
          </a:p>
        </p:txBody>
      </p:sp>
      <p:sp>
        <p:nvSpPr>
          <p:cNvPr id="16" name="step 4"/>
          <p:cNvSpPr/>
          <p:nvPr/>
        </p:nvSpPr>
        <p:spPr>
          <a:xfrm>
            <a:off x="548640" y="4535424"/>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280160" y="4425696"/>
            <a:ext cx="6858000" cy="868680"/>
          </a:xfrm>
          <a:prstGeom prst="rect">
            <a:avLst/>
          </a:prstGeom>
          <a:noFill/>
          <a:ln/>
        </p:spPr>
        <p:txBody>
          <a:bodyPr wrap="square" lIns="0" tIns="0" rIns="0" bIns="0" rtlCol="0" anchor="t"/>
          <a:lstStyle/>
          <a:p>
            <a:pPr indent="0" marL="0">
              <a:buNone/>
            </a:pPr>
            <a:r>
              <a:rPr lang="en-US" sz="1600" b="1" dirty="0">
                <a:solidFill>
                  <a:schemeClr val="tx1"/>
                </a:solidFill>
              </a:rPr>
              <a:t>Preparedness: how many malaria cases should the north-east expect in the next 4–13 weeks?</a:t>
            </a:r>
            <a:endParaRPr lang="en-US" sz="1400" dirty="0"/>
          </a:p>
          <a:p>
            <a:pPr indent="0" marL="0">
              <a:buNone/>
            </a:pPr>
            <a:r>
              <a:rPr lang="en-US" sz="1400" dirty="0">
                <a:solidFill>
                  <a:schemeClr val="tx1"/>
                </a:solidFill>
              </a:rPr>
              <a:t>Forecast with 80 % interval, back-test error (WAPE)</a:t>
            </a:r>
            <a:endParaRPr lang="en-US" sz="1400" dirty="0"/>
          </a:p>
        </p:txBody>
      </p:sp>
      <p:sp>
        <p:nvSpPr>
          <p:cNvPr id="18" name="target 4"/>
          <p:cNvSpPr/>
          <p:nvPr/>
        </p:nvSpPr>
        <p:spPr>
          <a:xfrm>
            <a:off x="8366760" y="4425696"/>
            <a:ext cx="3246120" cy="804672"/>
          </a:xfrm>
          <a:prstGeom prst="roundRect">
            <a:avLst>
              <a:gd name="adj" fmla="val 9091"/>
            </a:avLst>
          </a:prstGeom>
          <a:solidFill>
            <a:schemeClr val="bg2"/>
          </a:solidFill>
          <a:ln w="12700">
            <a:solidFill>
              <a:schemeClr val="bg2"/>
            </a:solidFill>
            <a:prstDash val="solid"/>
          </a:ln>
        </p:spPr>
      </p:sp>
      <p:sp>
        <p:nvSpPr>
          <p:cNvPr id="19" name="Text 17"/>
          <p:cNvSpPr txBox="1"/>
          <p:nvPr/>
        </p:nvSpPr>
        <p:spPr>
          <a:xfrm>
            <a:off x="8503920" y="4480560"/>
            <a:ext cx="3017520" cy="694944"/>
          </a:xfrm>
          <a:prstGeom prst="rect">
            <a:avLst/>
          </a:prstGeom>
          <a:noFill/>
          <a:ln/>
        </p:spPr>
        <p:txBody>
          <a:bodyPr wrap="square" lIns="0" tIns="0" rIns="0" bIns="0" rtlCol="0" anchor="ctr"/>
          <a:lstStyle/>
          <a:p>
            <a:pPr indent="0" marL="0">
              <a:buNone/>
            </a:pPr>
            <a:r>
              <a:rPr lang="en-US" sz="1400" b="1" dirty="0">
                <a:solidFill>
                  <a:schemeClr val="tx2"/>
                </a:solidFill>
              </a:rPr>
              <a:t>≥ 4 weeks' warning before the peak</a:t>
            </a:r>
            <a:endParaRPr lang="en-US" sz="1400" dirty="0"/>
          </a:p>
          <a:p>
            <a:pPr indent="0" marL="0">
              <a:buNone/>
            </a:pPr>
            <a:r>
              <a:rPr lang="en-US" sz="1400" dirty="0">
                <a:solidFill>
                  <a:schemeClr val="tx1"/>
                </a:solidFill>
              </a:rPr>
              <a:t>2025: 3–6 weeks</a:t>
            </a:r>
            <a:endParaRPr lang="en-US" sz="1400" dirty="0"/>
          </a:p>
        </p:txBody>
      </p:sp>
      <p:sp>
        <p:nvSpPr>
          <p:cNvPr id="20" name="step 5"/>
          <p:cNvSpPr/>
          <p:nvPr/>
        </p:nvSpPr>
        <p:spPr>
          <a:xfrm>
            <a:off x="548640" y="5477256"/>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Text 19"/>
          <p:cNvSpPr txBox="1"/>
          <p:nvPr/>
        </p:nvSpPr>
        <p:spPr>
          <a:xfrm>
            <a:off x="1280160" y="5367528"/>
            <a:ext cx="6858000" cy="868680"/>
          </a:xfrm>
          <a:prstGeom prst="rect">
            <a:avLst/>
          </a:prstGeom>
          <a:noFill/>
          <a:ln/>
        </p:spPr>
        <p:txBody>
          <a:bodyPr wrap="square" lIns="0" tIns="0" rIns="0" bIns="0" rtlCol="0" anchor="t"/>
          <a:lstStyle/>
          <a:p>
            <a:pPr indent="0" marL="0">
              <a:buNone/>
            </a:pPr>
            <a:r>
              <a:rPr lang="en-US" sz="1600" b="1" dirty="0">
                <a:solidFill>
                  <a:schemeClr val="tx1"/>
                </a:solidFill>
              </a:rPr>
              <a:t>Safe transitions: which discharged patients are most likely to be readmitted within 30 days?</a:t>
            </a:r>
            <a:endParaRPr lang="en-US" sz="1400" dirty="0"/>
          </a:p>
          <a:p>
            <a:pPr indent="0" marL="0">
              <a:buNone/>
            </a:pPr>
            <a:r>
              <a:rPr lang="en-US" sz="1400" dirty="0">
                <a:solidFill>
                  <a:schemeClr val="tx1"/>
                </a:solidFill>
              </a:rPr>
              <a:t>30-day readmission rate, top-20 % risk capture, calibration</a:t>
            </a:r>
            <a:endParaRPr lang="en-US" sz="1400" dirty="0"/>
          </a:p>
        </p:txBody>
      </p:sp>
      <p:sp>
        <p:nvSpPr>
          <p:cNvPr id="22" name="target 5"/>
          <p:cNvSpPr/>
          <p:nvPr/>
        </p:nvSpPr>
        <p:spPr>
          <a:xfrm>
            <a:off x="8366760" y="5367528"/>
            <a:ext cx="3246120" cy="804672"/>
          </a:xfrm>
          <a:prstGeom prst="roundRect">
            <a:avLst>
              <a:gd name="adj" fmla="val 9091"/>
            </a:avLst>
          </a:prstGeom>
          <a:solidFill>
            <a:schemeClr val="bg2"/>
          </a:solidFill>
          <a:ln w="12700">
            <a:solidFill>
              <a:schemeClr val="bg2"/>
            </a:solidFill>
            <a:prstDash val="solid"/>
          </a:ln>
        </p:spPr>
      </p:sp>
      <p:sp>
        <p:nvSpPr>
          <p:cNvPr id="23" name="Text 21"/>
          <p:cNvSpPr txBox="1"/>
          <p:nvPr/>
        </p:nvSpPr>
        <p:spPr>
          <a:xfrm>
            <a:off x="8503920" y="5422392"/>
            <a:ext cx="3017520" cy="694944"/>
          </a:xfrm>
          <a:prstGeom prst="rect">
            <a:avLst/>
          </a:prstGeom>
          <a:noFill/>
          <a:ln/>
        </p:spPr>
        <p:txBody>
          <a:bodyPr wrap="square" lIns="0" tIns="0" rIns="0" bIns="0" rtlCol="0" anchor="ctr"/>
          <a:lstStyle/>
          <a:p>
            <a:pPr indent="0" marL="0">
              <a:buNone/>
            </a:pPr>
            <a:r>
              <a:rPr lang="en-US" sz="1400" b="1" dirty="0">
                <a:solidFill>
                  <a:schemeClr val="tx2"/>
                </a:solidFill>
              </a:rPr>
              <a:t>≤ 12 % readmitted within 30 days</a:t>
            </a:r>
            <a:endParaRPr lang="en-US" sz="1400" dirty="0"/>
          </a:p>
          <a:p>
            <a:pPr indent="0" marL="0">
              <a:buNone/>
            </a:pPr>
            <a:r>
              <a:rPr lang="en-US" sz="1400" dirty="0">
                <a:solidFill>
                  <a:schemeClr val="tx1"/>
                </a:solidFill>
              </a:rPr>
              <a:t>2025: 13.4 %</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ELT in PostgreSQL 16: from raw extracts to one semantic model</a:t>
            </a:r>
            <a:endParaRPr lang="en-US" sz="2800" dirty="0"/>
          </a:p>
        </p:txBody>
      </p:sp>
      <p:pic>
        <p:nvPicPr>
          <p:cNvPr id="3" name="Image 0" descr="Architecture: nine sources land in PostgreSQL, are cleansed in staging, loaded into a constellation of facts and dimensions, exposed through mart views to the Power BI semantic model and report; Python analytics write their outputs back">    </p:cNvPr>
          <p:cNvPicPr>
            <a:picLocks noChangeAspect="1"/>
          </p:cNvPicPr>
          <p:nvPr/>
        </p:nvPicPr>
        <p:blipFill>
          <a:blip r:embed="rId1"/>
          <a:stretch>
            <a:fillRect/>
          </a:stretch>
        </p:blipFill>
        <p:spPr>
          <a:xfrm>
            <a:off x="548640" y="1325880"/>
            <a:ext cx="7040880" cy="4297680"/>
          </a:xfrm>
          <a:prstGeom prst="rect">
            <a:avLst/>
          </a:prstGeom>
        </p:spPr>
      </p:pic>
      <p:sp>
        <p:nvSpPr>
          <p:cNvPr id="4" name="step 1"/>
          <p:cNvSpPr/>
          <p:nvPr/>
        </p:nvSpPr>
        <p:spPr>
          <a:xfrm>
            <a:off x="8001000" y="146304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8686800" y="1417320"/>
            <a:ext cx="2926080" cy="1371600"/>
          </a:xfrm>
          <a:prstGeom prst="rect">
            <a:avLst/>
          </a:prstGeom>
          <a:noFill/>
          <a:ln/>
        </p:spPr>
        <p:txBody>
          <a:bodyPr wrap="square" lIns="0" tIns="0" rIns="0" bIns="0" rtlCol="0" anchor="t"/>
          <a:lstStyle/>
          <a:p>
            <a:pPr indent="0" marL="0">
              <a:buNone/>
            </a:pPr>
            <a:r>
              <a:rPr lang="en-US" sz="1800" b="1" dirty="0">
                <a:solidFill>
                  <a:schemeClr val="tx2"/>
                </a:solidFill>
              </a:rPr>
              <a:t>Lossless landing</a:t>
            </a:r>
            <a:endParaRPr lang="en-US" sz="1400" dirty="0"/>
          </a:p>
          <a:p>
            <a:pPr indent="0" marL="0">
              <a:buNone/>
            </a:pPr>
            <a:r>
              <a:rPr lang="en-US" sz="1400" dirty="0">
                <a:solidFill>
                  <a:schemeClr val="tx1"/>
                </a:solidFill>
              </a:rPr>
              <a:t>every warehouse figure traces back to its source file and row</a:t>
            </a:r>
            <a:endParaRPr lang="en-US" sz="1400" dirty="0"/>
          </a:p>
        </p:txBody>
      </p:sp>
      <p:sp>
        <p:nvSpPr>
          <p:cNvPr id="6" name="step 2"/>
          <p:cNvSpPr/>
          <p:nvPr/>
        </p:nvSpPr>
        <p:spPr>
          <a:xfrm>
            <a:off x="8001000" y="306324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8686800" y="3017520"/>
            <a:ext cx="2926080" cy="1371600"/>
          </a:xfrm>
          <a:prstGeom prst="rect">
            <a:avLst/>
          </a:prstGeom>
          <a:noFill/>
          <a:ln/>
        </p:spPr>
        <p:txBody>
          <a:bodyPr wrap="square" lIns="0" tIns="0" rIns="0" bIns="0" rtlCol="0" anchor="t"/>
          <a:lstStyle/>
          <a:p>
            <a:pPr indent="0" marL="0">
              <a:buNone/>
            </a:pPr>
            <a:r>
              <a:rPr lang="en-US" sz="1800" b="1" dirty="0">
                <a:solidFill>
                  <a:schemeClr val="tx2"/>
                </a:solidFill>
              </a:rPr>
              <a:t>44 DQ rules, 22 reconciliation checks</a:t>
            </a:r>
            <a:endParaRPr lang="en-US" sz="1400" dirty="0"/>
          </a:p>
          <a:p>
            <a:pPr indent="0" marL="0">
              <a:buNone/>
            </a:pPr>
            <a:r>
              <a:rPr lang="en-US" sz="1400" dirty="0">
                <a:solidFill>
                  <a:schemeClr val="tx1"/>
                </a:solidFill>
              </a:rPr>
              <a:t>run on every load; each issue is logged with an owner</a:t>
            </a:r>
            <a:endParaRPr lang="en-US" sz="1400" dirty="0"/>
          </a:p>
        </p:txBody>
      </p:sp>
      <p:sp>
        <p:nvSpPr>
          <p:cNvPr id="8" name="step 3"/>
          <p:cNvSpPr/>
          <p:nvPr/>
        </p:nvSpPr>
        <p:spPr>
          <a:xfrm>
            <a:off x="8001000" y="466344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8686800" y="4617720"/>
            <a:ext cx="2926080" cy="1371600"/>
          </a:xfrm>
          <a:prstGeom prst="rect">
            <a:avLst/>
          </a:prstGeom>
          <a:noFill/>
          <a:ln/>
        </p:spPr>
        <p:txBody>
          <a:bodyPr wrap="square" lIns="0" tIns="0" rIns="0" bIns="0" rtlCol="0" anchor="t"/>
          <a:lstStyle/>
          <a:p>
            <a:pPr indent="0" marL="0">
              <a:buNone/>
            </a:pPr>
            <a:r>
              <a:rPr lang="en-US" sz="1800" b="1" dirty="0">
                <a:solidFill>
                  <a:schemeClr val="tx2"/>
                </a:solidFill>
              </a:rPr>
              <a:t>One command, about 5 minutes</a:t>
            </a:r>
            <a:endParaRPr lang="en-US" sz="1400" dirty="0"/>
          </a:p>
          <a:p>
            <a:pPr indent="0" marL="0">
              <a:buNone/>
            </a:pPr>
            <a:r>
              <a:rPr lang="en-US" sz="1400" dirty="0">
                <a:solidFill>
                  <a:schemeClr val="tx1"/>
                </a:solidFill>
              </a:rPr>
              <a:t>python run_all.py rebuilds data, warehouse, evidence, model and backup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Type 2 history keeps the crowding visible</a:t>
            </a:r>
            <a:endParaRPr lang="en-US" sz="2800" dirty="0"/>
          </a:p>
        </p:txBody>
      </p:sp>
      <p:pic>
        <p:nvPicPr>
          <p:cNvPr id="3" name="Image 0" descr="ERD of the ward census and e-roster facts with the Date and Shift dimensions and the snowflaked Care Unit to Facility to Region hierarchy">    </p:cNvPr>
          <p:cNvPicPr>
            <a:picLocks noChangeAspect="1"/>
          </p:cNvPicPr>
          <p:nvPr/>
        </p:nvPicPr>
        <p:blipFill>
          <a:blip r:embed="rId1"/>
          <a:stretch>
            <a:fillRect/>
          </a:stretch>
        </p:blipFill>
        <p:spPr>
          <a:xfrm>
            <a:off x="548640" y="1234440"/>
            <a:ext cx="4352544" cy="4572000"/>
          </a:xfrm>
          <a:prstGeom prst="rect">
            <a:avLst/>
          </a:prstGeom>
        </p:spPr>
      </p:pic>
      <p:sp>
        <p:nvSpPr>
          <p:cNvPr id="4" name="Text 1"/>
          <p:cNvSpPr txBox="1"/>
          <p:nvPr/>
        </p:nvSpPr>
        <p:spPr>
          <a:xfrm>
            <a:off x="548640" y="5852160"/>
            <a:ext cx="4352544" cy="502920"/>
          </a:xfrm>
          <a:prstGeom prst="rect">
            <a:avLst/>
          </a:prstGeom>
          <a:noFill/>
          <a:ln/>
        </p:spPr>
        <p:txBody>
          <a:bodyPr wrap="square" lIns="0" tIns="0" rIns="0" bIns="0" rtlCol="0" anchor="t"/>
          <a:lstStyle/>
          <a:p>
            <a:pPr indent="0" marL="0">
              <a:buNone/>
            </a:pPr>
            <a:r>
              <a:rPr lang="en-US" sz="1200" dirty="0">
                <a:solidFill>
                  <a:schemeClr val="tx1"/>
                </a:solidFill>
              </a:rPr>
              <a:t>ERD 3 of 5: Care Unit → Facility → Region is snowflaked, because some facts are recorded per ward and others per facility.</a:t>
            </a:r>
            <a:endParaRPr lang="en-US" sz="1200" dirty="0"/>
          </a:p>
        </p:txBody>
      </p:sp>
      <p:graphicFrame>
        <p:nvGraphicFramePr>
          <p:cNvPr id="5" name="Chart 0" descr=""/>
          <p:cNvGraphicFramePr/>
          <p:nvPr/>
        </p:nvGraphicFramePr>
        <p:xfrm>
          <a:off x="5303520" y="1234440"/>
          <a:ext cx="6309360" cy="397764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303520" y="5349240"/>
            <a:ext cx="6309360" cy="914400"/>
          </a:xfrm>
          <a:prstGeom prst="rect">
            <a:avLst/>
          </a:prstGeom>
          <a:noFill/>
          <a:ln/>
        </p:spPr>
        <p:txBody>
          <a:bodyPr wrap="square" lIns="0" tIns="0" rIns="0" bIns="0" rtlCol="0" anchor="t"/>
          <a:lstStyle/>
          <a:p>
            <a:pPr indent="0" marL="0">
              <a:buNone/>
            </a:pPr>
            <a:r>
              <a:rPr lang="en-US" sz="1400" b="1" dirty="0">
                <a:solidFill>
                  <a:schemeClr val="tx1"/>
                </a:solidFill>
              </a:rPr>
              <a:t>January 2025: 152 % of the 24 beds the ward had, not 102 % of today's 36. </a:t>
            </a:r>
            <a:pPr indent="0" marL="0">
              <a:buNone/>
            </a:pPr>
            <a:r>
              <a:rPr lang="en-US" sz="1400" dirty="0">
                <a:solidFill>
                  <a:schemeClr val="tx1"/>
                </a:solidFill>
              </a:rPr>
              <a:t>Without Type 2 history, the malaria-season crowding that justified the expansion disappears.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134,964 of 134,992 injected defects caught, 0 false positives</a:t>
            </a:r>
            <a:endParaRPr lang="en-US" sz="2800" dirty="0"/>
          </a:p>
        </p:txBody>
      </p:sp>
      <p:sp>
        <p:nvSpPr>
          <p:cNvPr id="3" name="Text 1"/>
          <p:cNvSpPr txBox="1"/>
          <p:nvPr/>
        </p:nvSpPr>
        <p:spPr>
          <a:xfrm>
            <a:off x="548640" y="1280160"/>
            <a:ext cx="3108960" cy="685800"/>
          </a:xfrm>
          <a:prstGeom prst="rect">
            <a:avLst/>
          </a:prstGeom>
          <a:noFill/>
          <a:ln/>
        </p:spPr>
        <p:txBody>
          <a:bodyPr wrap="square" lIns="0" tIns="0" rIns="0" bIns="0" rtlCol="0" anchor="b"/>
          <a:lstStyle/>
          <a:p>
            <a:pPr indent="0" marL="0">
              <a:buNone/>
            </a:pPr>
            <a:r>
              <a:rPr lang="en-US" sz="3600" b="1" dirty="0">
                <a:solidFill>
                  <a:schemeClr val="accent3"/>
                </a:solidFill>
                <a:latin typeface="Cambria" pitchFamily="34" charset="0"/>
                <a:ea typeface="Cambria" pitchFamily="34" charset="-122"/>
                <a:cs typeface="Cambria" pitchFamily="34" charset="-120"/>
              </a:rPr>
              <a:t>134,964</a:t>
            </a:r>
            <a:endParaRPr lang="en-US" sz="3600" dirty="0"/>
          </a:p>
        </p:txBody>
      </p:sp>
      <p:sp>
        <p:nvSpPr>
          <p:cNvPr id="4" name="Text 2"/>
          <p:cNvSpPr txBox="1"/>
          <p:nvPr/>
        </p:nvSpPr>
        <p:spPr>
          <a:xfrm>
            <a:off x="548640" y="2011680"/>
            <a:ext cx="3108960" cy="685800"/>
          </a:xfrm>
          <a:prstGeom prst="rect">
            <a:avLst/>
          </a:prstGeom>
          <a:noFill/>
          <a:ln/>
        </p:spPr>
        <p:txBody>
          <a:bodyPr wrap="square" lIns="0" tIns="0" rIns="0" bIns="0" rtlCol="0" anchor="t"/>
          <a:lstStyle/>
          <a:p>
            <a:pPr indent="0" marL="0">
              <a:buNone/>
            </a:pPr>
            <a:r>
              <a:rPr lang="en-US" sz="1400" dirty="0">
                <a:solidFill>
                  <a:schemeClr val="tx1"/>
                </a:solidFill>
              </a:rPr>
              <a:t>of 134,992 damaged records flagged by their own rule; the other 28 by another rule</a:t>
            </a:r>
            <a:endParaRPr lang="en-US" sz="1400" dirty="0"/>
          </a:p>
        </p:txBody>
      </p:sp>
      <p:sp>
        <p:nvSpPr>
          <p:cNvPr id="5" name="Text 3"/>
          <p:cNvSpPr txBox="1"/>
          <p:nvPr/>
        </p:nvSpPr>
        <p:spPr>
          <a:xfrm>
            <a:off x="548640" y="2880360"/>
            <a:ext cx="3108960" cy="685800"/>
          </a:xfrm>
          <a:prstGeom prst="rect">
            <a:avLst/>
          </a:prstGeom>
          <a:noFill/>
          <a:ln/>
        </p:spPr>
        <p:txBody>
          <a:bodyPr wrap="square" lIns="0" tIns="0" rIns="0" bIns="0" rtlCol="0" anchor="b"/>
          <a:lstStyle/>
          <a:p>
            <a:pPr indent="0" marL="0">
              <a:buNone/>
            </a:pPr>
            <a:r>
              <a:rPr lang="en-US" sz="3600" b="1" dirty="0">
                <a:solidFill>
                  <a:schemeClr val="accent3"/>
                </a:solidFill>
                <a:latin typeface="Cambria" pitchFamily="34" charset="0"/>
                <a:ea typeface="Cambria" pitchFamily="34" charset="-122"/>
                <a:cs typeface="Cambria" pitchFamily="34" charset="-120"/>
              </a:rPr>
              <a:t>0</a:t>
            </a:r>
            <a:endParaRPr lang="en-US" sz="3600" dirty="0"/>
          </a:p>
        </p:txBody>
      </p:sp>
      <p:sp>
        <p:nvSpPr>
          <p:cNvPr id="6" name="Text 4"/>
          <p:cNvSpPr txBox="1"/>
          <p:nvPr/>
        </p:nvSpPr>
        <p:spPr>
          <a:xfrm>
            <a:off x="548640" y="3611880"/>
            <a:ext cx="3108960" cy="685800"/>
          </a:xfrm>
          <a:prstGeom prst="rect">
            <a:avLst/>
          </a:prstGeom>
          <a:noFill/>
          <a:ln/>
        </p:spPr>
        <p:txBody>
          <a:bodyPr wrap="square" lIns="0" tIns="0" rIns="0" bIns="0" rtlCol="0" anchor="t"/>
          <a:lstStyle/>
          <a:p>
            <a:pPr indent="0" marL="0">
              <a:buNone/>
            </a:pPr>
            <a:r>
              <a:rPr lang="en-US" sz="1400" dirty="0">
                <a:solidFill>
                  <a:schemeClr val="tx1"/>
                </a:solidFill>
              </a:rPr>
              <a:t>false positives: no good record was changed</a:t>
            </a:r>
            <a:endParaRPr lang="en-US" sz="1400" dirty="0"/>
          </a:p>
        </p:txBody>
      </p:sp>
      <p:sp>
        <p:nvSpPr>
          <p:cNvPr id="7" name="Text 5"/>
          <p:cNvSpPr txBox="1"/>
          <p:nvPr/>
        </p:nvSpPr>
        <p:spPr>
          <a:xfrm>
            <a:off x="548640" y="4480560"/>
            <a:ext cx="3108960" cy="685800"/>
          </a:xfrm>
          <a:prstGeom prst="rect">
            <a:avLst/>
          </a:prstGeom>
          <a:noFill/>
          <a:ln/>
        </p:spPr>
        <p:txBody>
          <a:bodyPr wrap="square" lIns="0" tIns="0" rIns="0" bIns="0" rtlCol="0" anchor="b"/>
          <a:lstStyle/>
          <a:p>
            <a:pPr indent="0" marL="0">
              <a:buNone/>
            </a:pPr>
            <a:r>
              <a:rPr lang="en-US" sz="3600" b="1" dirty="0">
                <a:solidFill>
                  <a:schemeClr val="accent3"/>
                </a:solidFill>
                <a:latin typeface="Cambria" pitchFamily="34" charset="0"/>
                <a:ea typeface="Cambria" pitchFamily="34" charset="-122"/>
                <a:cs typeface="Cambria" pitchFamily="34" charset="-120"/>
              </a:rPr>
              <a:t>44</a:t>
            </a:r>
            <a:endParaRPr lang="en-US" sz="3600" dirty="0"/>
          </a:p>
        </p:txBody>
      </p:sp>
      <p:sp>
        <p:nvSpPr>
          <p:cNvPr id="8" name="Text 6"/>
          <p:cNvSpPr txBox="1"/>
          <p:nvPr/>
        </p:nvSpPr>
        <p:spPr>
          <a:xfrm>
            <a:off x="548640" y="5212080"/>
            <a:ext cx="3108960" cy="685800"/>
          </a:xfrm>
          <a:prstGeom prst="rect">
            <a:avLst/>
          </a:prstGeom>
          <a:noFill/>
          <a:ln/>
        </p:spPr>
        <p:txBody>
          <a:bodyPr wrap="square" lIns="0" tIns="0" rIns="0" bIns="0" rtlCol="0" anchor="t"/>
          <a:lstStyle/>
          <a:p>
            <a:pPr indent="0" marL="0">
              <a:buNone/>
            </a:pPr>
            <a:r>
              <a:rPr lang="en-US" sz="1400" dirty="0">
                <a:solidFill>
                  <a:schemeClr val="tx1"/>
                </a:solidFill>
              </a:rPr>
              <a:t>rules, each with an owner, a DQ dimension and a logged action</a:t>
            </a:r>
            <a:endParaRPr lang="en-US" sz="1400" dirty="0"/>
          </a:p>
        </p:txBody>
      </p:sp>
      <p:graphicFrame>
        <p:nvGraphicFramePr>
          <p:cNvPr id="9" name="Chart 0" descr=""/>
          <p:cNvGraphicFramePr/>
          <p:nvPr/>
        </p:nvGraphicFramePr>
        <p:xfrm>
          <a:off x="3886200" y="1234440"/>
          <a:ext cx="4023360" cy="4846320"/>
        </p:xfrm>
        <a:graphic xmlns:a="http://schemas.openxmlformats.org/drawingml/2006/main">
          <a:graphicData uri="http://schemas.openxmlformats.org/drawingml/2006/chart">
            <c:chart xmlns:c="http://schemas.openxmlformats.org/drawingml/2006/chart" r:id="rId1"/>
          </a:graphicData>
        </a:graphic>
      </p:graphicFrame>
      <p:sp>
        <p:nvSpPr>
          <p:cNvPr id="10" name="fix card 1"/>
          <p:cNvSpPr/>
          <p:nvPr/>
        </p:nvSpPr>
        <p:spPr>
          <a:xfrm>
            <a:off x="8183880" y="1280160"/>
            <a:ext cx="3429000" cy="2286000"/>
          </a:xfrm>
          <a:prstGeom prst="roundRect">
            <a:avLst>
              <a:gd name="adj" fmla="val 3200"/>
            </a:avLst>
          </a:prstGeom>
          <a:solidFill>
            <a:schemeClr val="bg2"/>
          </a:solidFill>
          <a:ln w="12700">
            <a:solidFill>
              <a:schemeClr val="bg2"/>
            </a:solidFill>
            <a:prstDash val="solid"/>
          </a:ln>
        </p:spPr>
      </p:sp>
      <p:sp>
        <p:nvSpPr>
          <p:cNvPr id="11" name="Text 8"/>
          <p:cNvSpPr txBox="1"/>
          <p:nvPr/>
        </p:nvSpPr>
        <p:spPr>
          <a:xfrm>
            <a:off x="8321040" y="1371600"/>
            <a:ext cx="3154680" cy="2103120"/>
          </a:xfrm>
          <a:prstGeom prst="rect">
            <a:avLst/>
          </a:prstGeom>
          <a:noFill/>
          <a:ln/>
        </p:spPr>
        <p:txBody>
          <a:bodyPr wrap="square" lIns="0" tIns="0" rIns="0" bIns="0" rtlCol="0" anchor="ctr"/>
          <a:lstStyle/>
          <a:p>
            <a:pPr indent="0" marL="0">
              <a:buNone/>
            </a:pPr>
            <a:r>
              <a:rPr lang="en-US" sz="1400" b="1" dirty="0">
                <a:solidFill>
                  <a:schemeClr val="tx2"/>
                </a:solidFill>
              </a:rPr>
              <a:t>WC02: ×10 errors hid in small wards</a:t>
            </a:r>
            <a:endParaRPr lang="en-US" sz="1400" dirty="0"/>
          </a:p>
          <a:p>
            <a:pPr indent="0" marL="0">
              <a:buNone/>
            </a:pPr>
            <a:r>
              <a:rPr lang="en-US" sz="1400" dirty="0">
                <a:solidFill>
                  <a:schemeClr val="tx1"/>
                </a:solidFill>
              </a:rPr>
              <a:t>A '3 × the bed complement' test missed 2 → 20 in a 24-bed ward. The PAS midnight count, added as a second witness, now catches all of them.</a:t>
            </a:r>
            <a:endParaRPr lang="en-US" sz="1400" dirty="0"/>
          </a:p>
        </p:txBody>
      </p:sp>
      <p:sp>
        <p:nvSpPr>
          <p:cNvPr id="12" name="fix card 2"/>
          <p:cNvSpPr/>
          <p:nvPr/>
        </p:nvSpPr>
        <p:spPr>
          <a:xfrm>
            <a:off x="8183880" y="3749040"/>
            <a:ext cx="3429000" cy="2286000"/>
          </a:xfrm>
          <a:prstGeom prst="roundRect">
            <a:avLst>
              <a:gd name="adj" fmla="val 3200"/>
            </a:avLst>
          </a:prstGeom>
          <a:solidFill>
            <a:schemeClr val="bg2"/>
          </a:solidFill>
          <a:ln w="12700">
            <a:solidFill>
              <a:schemeClr val="bg2"/>
            </a:solidFill>
            <a:prstDash val="solid"/>
          </a:ln>
        </p:spPr>
      </p:sp>
      <p:sp>
        <p:nvSpPr>
          <p:cNvPr id="13" name="Text 10"/>
          <p:cNvSpPr txBox="1"/>
          <p:nvPr/>
        </p:nvSpPr>
        <p:spPr>
          <a:xfrm>
            <a:off x="8321040" y="3840480"/>
            <a:ext cx="3154680" cy="2103120"/>
          </a:xfrm>
          <a:prstGeom prst="rect">
            <a:avLst/>
          </a:prstGeom>
          <a:noFill/>
          <a:ln/>
        </p:spPr>
        <p:txBody>
          <a:bodyPr wrap="square" lIns="0" tIns="0" rIns="0" bIns="0" rtlCol="0" anchor="ctr"/>
          <a:lstStyle/>
          <a:p>
            <a:pPr indent="0" marL="0">
              <a:buNone/>
            </a:pPr>
            <a:r>
              <a:rPr lang="en-US" sz="1400" b="1" dirty="0">
                <a:solidFill>
                  <a:schemeClr val="tx2"/>
                </a:solidFill>
              </a:rPr>
              <a:t>SV04: deaths are reported late</a:t>
            </a:r>
            <a:endParaRPr lang="en-US" sz="1400" dirty="0"/>
          </a:p>
          <a:p>
            <a:pPr indent="0" marL="0">
              <a:buNone/>
            </a:pPr>
            <a:r>
              <a:rPr lang="en-US" sz="1400" dirty="0">
                <a:solidFill>
                  <a:schemeClr val="tx1"/>
                </a:solidFill>
              </a:rPr>
              <a:t>'Deaths &gt; cases' fired on real deaths reported a week after the case. A margin of 3 removed the false alarms and still catches every injected defect.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Reconciled, owned and secured</a:t>
            </a:r>
            <a:endParaRPr lang="en-US" sz="2800" dirty="0"/>
          </a:p>
        </p:txBody>
      </p:sp>
      <p:sp>
        <p:nvSpPr>
          <p:cNvPr id="3" name="Text 1"/>
          <p:cNvSpPr txBox="1"/>
          <p:nvPr/>
        </p:nvSpPr>
        <p:spPr>
          <a:xfrm>
            <a:off x="548640" y="1280160"/>
            <a:ext cx="3291840" cy="685800"/>
          </a:xfrm>
          <a:prstGeom prst="rect">
            <a:avLst/>
          </a:prstGeom>
          <a:noFill/>
          <a:ln/>
        </p:spPr>
        <p:txBody>
          <a:bodyPr wrap="square" lIns="0" tIns="0" rIns="0" bIns="0" rtlCol="0" anchor="b"/>
          <a:lstStyle/>
          <a:p>
            <a:pPr indent="0" marL="0">
              <a:buNone/>
            </a:pPr>
            <a:r>
              <a:rPr lang="en-US" sz="3600" b="1" dirty="0">
                <a:solidFill>
                  <a:schemeClr val="accent3"/>
                </a:solidFill>
                <a:latin typeface="Cambria" pitchFamily="34" charset="0"/>
                <a:ea typeface="Cambria" pitchFamily="34" charset="-122"/>
                <a:cs typeface="Cambria" pitchFamily="34" charset="-120"/>
              </a:rPr>
              <a:t>20 / 22</a:t>
            </a:r>
            <a:endParaRPr lang="en-US" sz="3600" dirty="0"/>
          </a:p>
        </p:txBody>
      </p:sp>
      <p:sp>
        <p:nvSpPr>
          <p:cNvPr id="4" name="Text 2"/>
          <p:cNvSpPr txBox="1"/>
          <p:nvPr/>
        </p:nvSpPr>
        <p:spPr>
          <a:xfrm>
            <a:off x="548640" y="2011680"/>
            <a:ext cx="3291840" cy="685800"/>
          </a:xfrm>
          <a:prstGeom prst="rect">
            <a:avLst/>
          </a:prstGeom>
          <a:noFill/>
          <a:ln/>
        </p:spPr>
        <p:txBody>
          <a:bodyPr wrap="square" lIns="0" tIns="0" rIns="0" bIns="0" rtlCol="0" anchor="t"/>
          <a:lstStyle/>
          <a:p>
            <a:pPr indent="0" marL="0">
              <a:buNone/>
            </a:pPr>
            <a:r>
              <a:rPr lang="en-US" sz="1400" dirty="0">
                <a:solidFill>
                  <a:schemeClr val="tx1"/>
                </a:solidFill>
              </a:rPr>
              <a:t>checks pass after the day-2 load; 2 WARN explained, 0 FAIL</a:t>
            </a:r>
            <a:endParaRPr lang="en-US" sz="1400" dirty="0"/>
          </a:p>
        </p:txBody>
      </p:sp>
      <p:sp>
        <p:nvSpPr>
          <p:cNvPr id="5" name="Text 3"/>
          <p:cNvSpPr txBox="1"/>
          <p:nvPr/>
        </p:nvSpPr>
        <p:spPr>
          <a:xfrm>
            <a:off x="548640" y="3017520"/>
            <a:ext cx="3291840" cy="3017520"/>
          </a:xfrm>
          <a:prstGeom prst="rect">
            <a:avLst/>
          </a:prstGeom>
          <a:noFill/>
          <a:ln/>
        </p:spPr>
        <p:txBody>
          <a:bodyPr wrap="square" lIns="0" tIns="0" rIns="0" bIns="0" rtlCol="0" anchor="t"/>
          <a:lstStyle/>
          <a:p>
            <a:pPr indent="0" marL="0">
              <a:spcAft>
                <a:spcPts val="1000"/>
              </a:spcAft>
              <a:buNone/>
            </a:pPr>
            <a:r>
              <a:rPr lang="en-US" sz="1400" b="1" dirty="0">
                <a:solidFill>
                  <a:schemeClr val="tx1"/>
                </a:solidFill>
              </a:rPr>
              <a:t>R07 WARN: </a:t>
            </a:r>
            <a:pPr indent="0" marL="0">
              <a:spcAft>
                <a:spcPts val="1000"/>
              </a:spcAft>
              <a:buNone/>
            </a:pPr>
            <a:r>
              <a:rPr lang="en-US" sz="1400" dirty="0">
                <a:solidFill>
                  <a:schemeClr val="tx1"/>
                </a:solidFill>
              </a:rPr>
              <a:t>25 spells never discharged in the PAS add 17,242 bed-days the wards never had; now a steward task.</a:t>
            </a:r>
            <a:endParaRPr lang="en-US" sz="1400" dirty="0"/>
          </a:p>
          <a:p>
            <a:pPr indent="0" marL="0">
              <a:spcAft>
                <a:spcPts val="1000"/>
              </a:spcAft>
              <a:buNone/>
            </a:pPr>
            <a:r>
              <a:rPr lang="en-US" sz="1400" b="1" dirty="0">
                <a:solidFill>
                  <a:schemeClr val="tx1"/>
                </a:solidFill>
              </a:rPr>
              <a:t>R22 WARN: </a:t>
            </a:r>
            <a:pPr indent="0" marL="0">
              <a:spcAft>
                <a:spcPts val="1000"/>
              </a:spcAft>
              <a:buNone/>
            </a:pPr>
            <a:r>
              <a:rPr lang="en-US" sz="1400" dirty="0">
                <a:solidFill>
                  <a:schemeClr val="tx1"/>
                </a:solidFill>
              </a:rPr>
              <a:t>3 ward-days above 200 % occupancy; 6,002 days above 100 % are plausible overflow.</a:t>
            </a:r>
            <a:endParaRPr lang="en-US" sz="1400" dirty="0"/>
          </a:p>
        </p:txBody>
      </p:sp>
      <p:sp>
        <p:nvSpPr>
          <p:cNvPr id="6" name="role Owners"/>
          <p:cNvSpPr/>
          <p:nvPr/>
        </p:nvSpPr>
        <p:spPr>
          <a:xfrm>
            <a:off x="4160520" y="1280160"/>
            <a:ext cx="3611880" cy="1417320"/>
          </a:xfrm>
          <a:prstGeom prst="roundRect">
            <a:avLst>
              <a:gd name="adj" fmla="val 5161"/>
            </a:avLst>
          </a:prstGeom>
          <a:solidFill>
            <a:schemeClr val="bg2"/>
          </a:solidFill>
          <a:ln w="12700">
            <a:solidFill>
              <a:schemeClr val="bg2"/>
            </a:solidFill>
            <a:prstDash val="solid"/>
          </a:ln>
        </p:spPr>
      </p:sp>
      <p:sp>
        <p:nvSpPr>
          <p:cNvPr id="7" name="Text 5"/>
          <p:cNvSpPr txBox="1"/>
          <p:nvPr/>
        </p:nvSpPr>
        <p:spPr>
          <a:xfrm>
            <a:off x="4297680" y="1371600"/>
            <a:ext cx="3337560" cy="1280160"/>
          </a:xfrm>
          <a:prstGeom prst="rect">
            <a:avLst/>
          </a:prstGeom>
          <a:noFill/>
          <a:ln/>
        </p:spPr>
        <p:txBody>
          <a:bodyPr wrap="square" lIns="0" tIns="0" rIns="0" bIns="0" rtlCol="0" anchor="t"/>
          <a:lstStyle/>
          <a:p>
            <a:pPr indent="0" marL="0">
              <a:buNone/>
            </a:pPr>
            <a:r>
              <a:rPr lang="en-US" sz="1400" b="1" dirty="0">
                <a:solidFill>
                  <a:schemeClr val="tx2"/>
                </a:solidFill>
              </a:rPr>
              <a:t>Owners</a:t>
            </a:r>
            <a:endParaRPr lang="en-US" sz="1400" dirty="0"/>
          </a:p>
          <a:p>
            <a:pPr indent="0" marL="0">
              <a:buNone/>
            </a:pPr>
            <a:r>
              <a:rPr lang="en-US" sz="1400" dirty="0">
                <a:solidFill>
                  <a:schemeClr val="tx1"/>
                </a:solidFill>
              </a:rPr>
              <a:t>Chief Operating Officer (operational data); Clinical Director and Head of Surveillance (clinical and IDSR data)</a:t>
            </a:r>
            <a:endParaRPr lang="en-US" sz="1400" dirty="0"/>
          </a:p>
        </p:txBody>
      </p:sp>
      <p:sp>
        <p:nvSpPr>
          <p:cNvPr id="8" name="role Stewards"/>
          <p:cNvSpPr/>
          <p:nvPr/>
        </p:nvSpPr>
        <p:spPr>
          <a:xfrm>
            <a:off x="4160520" y="2880360"/>
            <a:ext cx="3611880" cy="1417320"/>
          </a:xfrm>
          <a:prstGeom prst="roundRect">
            <a:avLst>
              <a:gd name="adj" fmla="val 5161"/>
            </a:avLst>
          </a:prstGeom>
          <a:solidFill>
            <a:schemeClr val="bg2"/>
          </a:solidFill>
          <a:ln w="12700">
            <a:solidFill>
              <a:schemeClr val="bg2"/>
            </a:solidFill>
            <a:prstDash val="solid"/>
          </a:ln>
        </p:spPr>
      </p:sp>
      <p:sp>
        <p:nvSpPr>
          <p:cNvPr id="9" name="Text 7"/>
          <p:cNvSpPr txBox="1"/>
          <p:nvPr/>
        </p:nvSpPr>
        <p:spPr>
          <a:xfrm>
            <a:off x="4297680" y="2971800"/>
            <a:ext cx="3337560" cy="1280160"/>
          </a:xfrm>
          <a:prstGeom prst="rect">
            <a:avLst/>
          </a:prstGeom>
          <a:noFill/>
          <a:ln/>
        </p:spPr>
        <p:txBody>
          <a:bodyPr wrap="square" lIns="0" tIns="0" rIns="0" bIns="0" rtlCol="0" anchor="t"/>
          <a:lstStyle/>
          <a:p>
            <a:pPr indent="0" marL="0">
              <a:buNone/>
            </a:pPr>
            <a:r>
              <a:rPr lang="en-US" sz="1400" b="1" dirty="0">
                <a:solidFill>
                  <a:schemeClr val="tx2"/>
                </a:solidFill>
              </a:rPr>
              <a:t>Stewards</a:t>
            </a:r>
            <a:endParaRPr lang="en-US" sz="1400" dirty="0"/>
          </a:p>
          <a:p>
            <a:pPr indent="0" marL="0">
              <a:buNone/>
            </a:pPr>
            <a:r>
              <a:rPr lang="en-US" sz="1400" dirty="0">
                <a:solidFill>
                  <a:schemeClr val="tx1"/>
                </a:solidFill>
              </a:rPr>
              <a:t>Nine rule owners, from the Health Information Manager to the Surveillance Officer, work weekly issue queues</a:t>
            </a:r>
            <a:endParaRPr lang="en-US" sz="1400" dirty="0"/>
          </a:p>
        </p:txBody>
      </p:sp>
      <p:sp>
        <p:nvSpPr>
          <p:cNvPr id="10" name="role Custodian"/>
          <p:cNvSpPr/>
          <p:nvPr/>
        </p:nvSpPr>
        <p:spPr>
          <a:xfrm>
            <a:off x="4160520" y="4480560"/>
            <a:ext cx="3611880" cy="1417320"/>
          </a:xfrm>
          <a:prstGeom prst="roundRect">
            <a:avLst>
              <a:gd name="adj" fmla="val 5161"/>
            </a:avLst>
          </a:prstGeom>
          <a:solidFill>
            <a:schemeClr val="bg2"/>
          </a:solidFill>
          <a:ln w="12700">
            <a:solidFill>
              <a:schemeClr val="bg2"/>
            </a:solidFill>
            <a:prstDash val="solid"/>
          </a:ln>
        </p:spPr>
      </p:sp>
      <p:sp>
        <p:nvSpPr>
          <p:cNvPr id="11" name="Text 9"/>
          <p:cNvSpPr txBox="1"/>
          <p:nvPr/>
        </p:nvSpPr>
        <p:spPr>
          <a:xfrm>
            <a:off x="4297680" y="4572000"/>
            <a:ext cx="3337560" cy="1280160"/>
          </a:xfrm>
          <a:prstGeom prst="rect">
            <a:avLst/>
          </a:prstGeom>
          <a:noFill/>
          <a:ln/>
        </p:spPr>
        <p:txBody>
          <a:bodyPr wrap="square" lIns="0" tIns="0" rIns="0" bIns="0" rtlCol="0" anchor="t"/>
          <a:lstStyle/>
          <a:p>
            <a:pPr indent="0" marL="0">
              <a:buNone/>
            </a:pPr>
            <a:r>
              <a:rPr lang="en-US" sz="1400" b="1" dirty="0">
                <a:solidFill>
                  <a:schemeClr val="tx2"/>
                </a:solidFill>
              </a:rPr>
              <a:t>Custodian</a:t>
            </a:r>
            <a:endParaRPr lang="en-US" sz="1400" dirty="0"/>
          </a:p>
          <a:p>
            <a:pPr indent="0" marL="0">
              <a:buNone/>
            </a:pPr>
            <a:r>
              <a:rPr lang="en-US" sz="1400" dirty="0">
                <a:solidFill>
                  <a:schemeClr val="tx1"/>
                </a:solidFill>
              </a:rPr>
              <a:t>The BI team runs the pipeline, backups and change control; IT security reviews access quarterly</a:t>
            </a:r>
            <a:endParaRPr lang="en-US" sz="1400" dirty="0"/>
          </a:p>
        </p:txBody>
      </p:sp>
      <p:sp>
        <p:nvSpPr>
          <p:cNvPr id="12" name="Text 10"/>
          <p:cNvSpPr txBox="1"/>
          <p:nvPr/>
        </p:nvSpPr>
        <p:spPr>
          <a:xfrm>
            <a:off x="8092440" y="1280160"/>
            <a:ext cx="3520440" cy="4846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Dynamic RLS: each facility manager sees only their own facilities</a:t>
            </a:r>
            <a:endParaRPr lang="en-US" sz="1400" dirty="0"/>
          </a:p>
          <a:p>
            <a:pPr marL="342900" indent="-342900">
              <a:spcAft>
                <a:spcPts val="800"/>
              </a:spcAft>
              <a:buSzPct val="100000"/>
              <a:buChar char="•"/>
            </a:pPr>
            <a:r>
              <a:rPr lang="en-US" sz="1400" dirty="0">
                <a:solidFill>
                  <a:schemeClr val="tx1"/>
                </a:solidFill>
              </a:rPr>
              <a:t>OLS: the MoHSS surveillance partner sees aggregates only; patient tables are hidden</a:t>
            </a:r>
            <a:endParaRPr lang="en-US" sz="1400" dirty="0"/>
          </a:p>
          <a:p>
            <a:pPr marL="342900" indent="-342900">
              <a:spcAft>
                <a:spcPts val="800"/>
              </a:spcAft>
              <a:buSzPct val="100000"/>
              <a:buChar char="•"/>
            </a:pPr>
            <a:r>
              <a:rPr lang="en-US" sz="1400" dirty="0">
                <a:solidFill>
                  <a:schemeClr val="tx1"/>
                </a:solidFill>
              </a:rPr>
              <a:t>Pseudonymised patients, no direct identifiers; counts of 1–4 suppressed in external outputs</a:t>
            </a:r>
            <a:endParaRPr lang="en-US" sz="1400" dirty="0"/>
          </a:p>
          <a:p>
            <a:pPr marL="342900" indent="-342900">
              <a:spcAft>
                <a:spcPts val="800"/>
              </a:spcAft>
              <a:buSzPct val="100000"/>
              <a:buChar char="•"/>
            </a:pPr>
            <a:r>
              <a:rPr lang="en-US" sz="1400" dirty="0">
                <a:solidFill>
                  <a:schemeClr val="tx1"/>
                </a:solidFill>
              </a:rPr>
              <a:t>Namibian law: Constitution Art. 13 (privacy), Public and Environmental Health Act 2015 (notification); the Data Protection Bill is not yet law, so we design to its principles and to GDPR, POPIA and HIPAA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Semantic model: 108 governed measures, RLS and OLS</a:t>
            </a:r>
            <a:endParaRPr lang="en-US" sz="2800" dirty="0"/>
          </a:p>
        </p:txBody>
      </p:sp>
      <p:sp>
        <p:nvSpPr>
          <p:cNvPr id="3" name="model stat 1"/>
          <p:cNvSpPr/>
          <p:nvPr/>
        </p:nvSpPr>
        <p:spPr>
          <a:xfrm>
            <a:off x="548640" y="1188720"/>
            <a:ext cx="2606040" cy="1143000"/>
          </a:xfrm>
          <a:prstGeom prst="roundRect">
            <a:avLst>
              <a:gd name="adj" fmla="val 6400"/>
            </a:avLst>
          </a:prstGeom>
          <a:solidFill>
            <a:schemeClr val="bg2"/>
          </a:solidFill>
          <a:ln w="12700">
            <a:solidFill>
              <a:schemeClr val="bg2"/>
            </a:solidFill>
            <a:prstDash val="solid"/>
          </a:ln>
        </p:spPr>
      </p:sp>
      <p:sp>
        <p:nvSpPr>
          <p:cNvPr id="4" name="Text 2"/>
          <p:cNvSpPr txBox="1"/>
          <p:nvPr/>
        </p:nvSpPr>
        <p:spPr>
          <a:xfrm>
            <a:off x="685800" y="1243584"/>
            <a:ext cx="2377440" cy="105156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Import</a:t>
            </a:r>
            <a:endParaRPr lang="en-US" sz="1400" dirty="0"/>
          </a:p>
          <a:p>
            <a:pPr indent="0" marL="0">
              <a:buNone/>
            </a:pPr>
            <a:r>
              <a:rPr lang="en-US" sz="1400" dirty="0">
                <a:solidFill>
                  <a:schemeClr val="tx1"/>
                </a:solidFill>
              </a:rPr>
              <a:t>+ incremental refresh (5 years, 10 days)</a:t>
            </a:r>
            <a:endParaRPr lang="en-US" sz="1400" dirty="0"/>
          </a:p>
        </p:txBody>
      </p:sp>
      <p:sp>
        <p:nvSpPr>
          <p:cNvPr id="5" name="model stat 2"/>
          <p:cNvSpPr/>
          <p:nvPr/>
        </p:nvSpPr>
        <p:spPr>
          <a:xfrm>
            <a:off x="3337560" y="1188720"/>
            <a:ext cx="2606040" cy="1143000"/>
          </a:xfrm>
          <a:prstGeom prst="roundRect">
            <a:avLst>
              <a:gd name="adj" fmla="val 6400"/>
            </a:avLst>
          </a:prstGeom>
          <a:solidFill>
            <a:schemeClr val="bg2"/>
          </a:solidFill>
          <a:ln w="12700">
            <a:solidFill>
              <a:schemeClr val="bg2"/>
            </a:solidFill>
            <a:prstDash val="solid"/>
          </a:ln>
        </p:spPr>
      </p:sp>
      <p:sp>
        <p:nvSpPr>
          <p:cNvPr id="6" name="Text 4"/>
          <p:cNvSpPr txBox="1"/>
          <p:nvPr/>
        </p:nvSpPr>
        <p:spPr>
          <a:xfrm>
            <a:off x="3474720" y="1243584"/>
            <a:ext cx="2377440" cy="105156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108</a:t>
            </a:r>
            <a:endParaRPr lang="en-US" sz="1400" dirty="0"/>
          </a:p>
          <a:p>
            <a:pPr indent="0" marL="0">
              <a:buNone/>
            </a:pPr>
            <a:r>
              <a:rPr lang="en-US" sz="1400" dirty="0">
                <a:solidFill>
                  <a:schemeClr val="tx1"/>
                </a:solidFill>
              </a:rPr>
              <a:t>DAX measures in 8 display folders</a:t>
            </a:r>
            <a:endParaRPr lang="en-US" sz="1400" dirty="0"/>
          </a:p>
        </p:txBody>
      </p:sp>
      <p:sp>
        <p:nvSpPr>
          <p:cNvPr id="7" name="model stat 3"/>
          <p:cNvSpPr/>
          <p:nvPr/>
        </p:nvSpPr>
        <p:spPr>
          <a:xfrm>
            <a:off x="6126480" y="1188720"/>
            <a:ext cx="2606040" cy="1143000"/>
          </a:xfrm>
          <a:prstGeom prst="roundRect">
            <a:avLst>
              <a:gd name="adj" fmla="val 6400"/>
            </a:avLst>
          </a:prstGeom>
          <a:solidFill>
            <a:schemeClr val="bg2"/>
          </a:solidFill>
          <a:ln w="12700">
            <a:solidFill>
              <a:schemeClr val="bg2"/>
            </a:solidFill>
            <a:prstDash val="solid"/>
          </a:ln>
        </p:spPr>
      </p:sp>
      <p:sp>
        <p:nvSpPr>
          <p:cNvPr id="8" name="Text 6"/>
          <p:cNvSpPr txBox="1"/>
          <p:nvPr/>
        </p:nvSpPr>
        <p:spPr>
          <a:xfrm>
            <a:off x="6263640" y="1243584"/>
            <a:ext cx="2377440" cy="105156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38</a:t>
            </a:r>
            <a:endParaRPr lang="en-US" sz="1400" dirty="0"/>
          </a:p>
          <a:p>
            <a:pPr indent="0" marL="0">
              <a:buNone/>
            </a:pPr>
            <a:r>
              <a:rPr lang="en-US" sz="1400" dirty="0">
                <a:solidFill>
                  <a:schemeClr val="tx1"/>
                </a:solidFill>
              </a:rPr>
              <a:t>relationships, one-to-many, single direction</a:t>
            </a:r>
            <a:endParaRPr lang="en-US" sz="1400" dirty="0"/>
          </a:p>
        </p:txBody>
      </p:sp>
      <p:sp>
        <p:nvSpPr>
          <p:cNvPr id="9" name="model stat 4"/>
          <p:cNvSpPr/>
          <p:nvPr/>
        </p:nvSpPr>
        <p:spPr>
          <a:xfrm>
            <a:off x="8915400" y="1188720"/>
            <a:ext cx="2606040" cy="1143000"/>
          </a:xfrm>
          <a:prstGeom prst="roundRect">
            <a:avLst>
              <a:gd name="adj" fmla="val 6400"/>
            </a:avLst>
          </a:prstGeom>
          <a:solidFill>
            <a:schemeClr val="bg2"/>
          </a:solidFill>
          <a:ln w="12700">
            <a:solidFill>
              <a:schemeClr val="bg2"/>
            </a:solidFill>
            <a:prstDash val="solid"/>
          </a:ln>
        </p:spPr>
      </p:sp>
      <p:sp>
        <p:nvSpPr>
          <p:cNvPr id="10" name="Text 8"/>
          <p:cNvSpPr txBox="1"/>
          <p:nvPr/>
        </p:nvSpPr>
        <p:spPr>
          <a:xfrm>
            <a:off x="9052560" y="1243584"/>
            <a:ext cx="2377440" cy="105156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4</a:t>
            </a:r>
            <a:endParaRPr lang="en-US" sz="1400" dirty="0"/>
          </a:p>
          <a:p>
            <a:pPr indent="0" marL="0">
              <a:buNone/>
            </a:pPr>
            <a:r>
              <a:rPr lang="en-US" sz="1400" dirty="0">
                <a:solidFill>
                  <a:schemeClr val="tx1"/>
                </a:solidFill>
              </a:rPr>
              <a:t>security roles: dynamic and static RLS, OLS</a:t>
            </a:r>
            <a:endParaRPr lang="en-US" sz="1400" dirty="0"/>
          </a:p>
        </p:txBody>
      </p:sp>
      <p:sp>
        <p:nvSpPr>
          <p:cNvPr id="11" name="DAX epi-year to date"/>
          <p:cNvSpPr txBox="1"/>
          <p:nvPr/>
        </p:nvSpPr>
        <p:spPr>
          <a:xfrm>
            <a:off x="548640" y="2514600"/>
            <a:ext cx="5760720" cy="3291840"/>
          </a:xfrm>
          <a:prstGeom prst="rect">
            <a:avLst/>
          </a:prstGeom>
          <a:solidFill>
            <a:schemeClr val="bg2"/>
          </a:solidFill>
          <a:ln/>
        </p:spPr>
        <p:txBody>
          <a:bodyPr wrap="square" lIns="1524" tIns="1524" rIns="1524" bIns="1524"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Malaria Cases Epi-YTD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VAR _end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MIN ( MAX ( 'Date'[Date] ), [Last Epi Week Start] + 6 )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VAR _y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CALCULATE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MAX ( 'Date'[Epi Year]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REMOVEFILTERS ( 'Date'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'Date'[Date] = _end</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RETURN</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IF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MIN ( 'Date'[Date] ) &lt;= _end,</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CALCULATE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[Malaria Cases],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REMOVEFILTERS ( 'Date'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'Date'[Epi Year] = _y,</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'Date'[Date] &lt;= _end</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583680" y="2514600"/>
          <a:ext cx="5029200" cy="914400"/>
        </p:xfrm>
        <a:graphic>
          <a:graphicData uri="http://schemas.openxmlformats.org/drawingml/2006/table">
            <a:tbl>
              <a:tblPr/>
              <a:tblGrid>
                <a:gridCol w="2240280"/>
                <a:gridCol w="868680"/>
                <a:gridCol w="868680"/>
                <a:gridCol w="1051560"/>
              </a:tblGrid>
              <a:tr h="0">
                <a:tc>
                  <a:txBody>
                    <a:bodyPr/>
                    <a:lstStyle/>
                    <a:p>
                      <a:pPr algn="l" indent="0" marL="0">
                        <a:buNone/>
                      </a:pPr>
                      <a:r>
                        <a:rPr lang="en-US" sz="1300" b="1" dirty="0">
                          <a:solidFill>
                            <a:srgbClr val="0E3A47"/>
                          </a:solidFill>
                        </a:rPr>
                        <a:t>Identity</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E3A47"/>
                          </a:solidFill>
                        </a:rPr>
                        <a:t>Facilities</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E3A47"/>
                          </a:solidFill>
                        </a:rPr>
                        <a:t>ED 2025</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E3A47"/>
                          </a:solidFill>
                        </a:rPr>
                        <a:t>Malaria 2025</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0B0B0B"/>
                          </a:solidFill>
                        </a:rPr>
                        <a:t>Executive (all facilities)</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10</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81,612</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14,571</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0B0B0B"/>
                          </a:solidFill>
                        </a:rPr>
                        <a:t>fm.katima (dynamic RLS)</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1</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13,072</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4,899</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0B0B0B"/>
                          </a:solidFill>
                        </a:rPr>
                        <a:t>fm.rundu (dynamic RLS)</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2</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18,467</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7,875</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0B0B0B"/>
                          </a:solidFill>
                        </a:rPr>
                        <a:t>Unmapped user</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(blank)</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(blank)</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(blank)</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0B0B0B"/>
                          </a:solidFill>
                        </a:rPr>
                        <a:t>North-East Zone (static)</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3</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31,539</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12,774</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0B0B0B"/>
                          </a:solidFill>
                        </a:rPr>
                        <a:t>Surveillance Partner (OLS)</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10</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hidden</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0B0B"/>
                          </a:solidFill>
                        </a:rPr>
                        <a:t>14,571</a:t>
                      </a:r>
                      <a:endParaRPr lang="en-US" sz="1300" dirty="0"/>
                    </a:p>
                  </a:txBody>
                  <a:tcPr marL="45720" marR="45720" marT="45720" marB="45720">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6583680" y="4617720"/>
            <a:ext cx="5029200" cy="685800"/>
          </a:xfrm>
          <a:prstGeom prst="rect">
            <a:avLst/>
          </a:prstGeom>
          <a:noFill/>
          <a:ln/>
        </p:spPr>
        <p:txBody>
          <a:bodyPr wrap="square" lIns="0" tIns="0" rIns="0" bIns="0" rtlCol="0" anchor="t"/>
          <a:lstStyle/>
          <a:p>
            <a:pPr indent="0" marL="0">
              <a:buNone/>
            </a:pPr>
            <a:r>
              <a:rPr lang="en-US" sz="1200" dirty="0">
                <a:solidFill>
                  <a:schemeClr val="tx1"/>
                </a:solidFill>
              </a:rPr>
              <a:t>Expected values computed in SQL with the DAX logic; tested with View as role in Power BI Desktop. The five managers sum to the executive total.</a:t>
            </a:r>
            <a:endParaRPr lang="en-US" sz="1200" dirty="0"/>
          </a:p>
        </p:txBody>
      </p:sp>
      <p:sp>
        <p:nvSpPr>
          <p:cNvPr id="14" name="Text 11"/>
          <p:cNvSpPr txBox="1"/>
          <p:nvPr/>
        </p:nvSpPr>
        <p:spPr>
          <a:xfrm>
            <a:off x="6583680" y="5349240"/>
            <a:ext cx="5029200" cy="822960"/>
          </a:xfrm>
          <a:prstGeom prst="rect">
            <a:avLst/>
          </a:prstGeom>
          <a:noFill/>
          <a:ln/>
        </p:spPr>
        <p:txBody>
          <a:bodyPr wrap="square" lIns="0" tIns="0" rIns="0" bIns="0" rtlCol="0" anchor="t"/>
          <a:lstStyle/>
          <a:p>
            <a:pPr indent="0" marL="0">
              <a:buNone/>
            </a:pPr>
            <a:r>
              <a:rPr lang="en-US" sz="1200" b="1" dirty="0">
                <a:solidFill>
                  <a:schemeClr val="tx1"/>
                </a:solidFill>
              </a:rPr>
              <a:t>Left: </a:t>
            </a:r>
            <a:pPr indent="0" marL="0">
              <a:buNone/>
            </a:pPr>
            <a:r>
              <a:rPr lang="en-US" sz="1200" dirty="0">
                <a:solidFill>
                  <a:schemeClr val="tx1"/>
                </a:solidFill>
              </a:rPr>
              <a:t>IDSR counts by ISO epi week, and 2025-W01 began on 30 December 2024, so TOTALYTD would cut weeks in half. This measure filters the Epi Year attribute instead.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Live demo: from headline to ward in four steps</a:t>
            </a:r>
            <a:endParaRPr lang="en-US" sz="2800" dirty="0"/>
          </a:p>
        </p:txBody>
      </p:sp>
      <p:pic>
        <p:nvPicPr>
          <p:cNvPr id="3" name="Image 0" descr="Executive Overview page: KPI cards for ED attendances, seen within target, waits, occupancy and readmissions; monthly trend against target; occupancy by hospital; facility scorecard">    </p:cNvPr>
          <p:cNvPicPr>
            <a:picLocks noChangeAspect="1"/>
          </p:cNvPicPr>
          <p:nvPr/>
        </p:nvPicPr>
        <p:blipFill>
          <a:blip r:embed="rId1"/>
          <a:stretch>
            <a:fillRect/>
          </a:stretch>
        </p:blipFill>
        <p:spPr>
          <a:xfrm>
            <a:off x="548640" y="1234440"/>
            <a:ext cx="7863840" cy="4425696"/>
          </a:xfrm>
          <a:prstGeom prst="rect">
            <a:avLst/>
          </a:prstGeom>
        </p:spPr>
      </p:pic>
      <p:sp>
        <p:nvSpPr>
          <p:cNvPr id="4" name="Text 1"/>
          <p:cNvSpPr txBox="1"/>
          <p:nvPr/>
        </p:nvSpPr>
        <p:spPr>
          <a:xfrm>
            <a:off x="548640" y="5760720"/>
            <a:ext cx="7863840" cy="457200"/>
          </a:xfrm>
          <a:prstGeom prst="rect">
            <a:avLst/>
          </a:prstGeom>
          <a:noFill/>
          <a:ln/>
        </p:spPr>
        <p:txBody>
          <a:bodyPr wrap="square" lIns="0" tIns="0" rIns="0" bIns="0" rtlCol="0" anchor="t"/>
          <a:lstStyle/>
          <a:p>
            <a:pPr indent="0" marL="0">
              <a:buNone/>
            </a:pPr>
            <a:r>
              <a:rPr lang="en-US" sz="1200" dirty="0">
                <a:solidFill>
                  <a:schemeClr val="tx1"/>
                </a:solidFill>
              </a:rPr>
              <a:t>Design mock-up rendered from warehouse data; replaced by the Power BI screenshot after the Desktop build.</a:t>
            </a:r>
            <a:endParaRPr lang="en-US" sz="1200" dirty="0"/>
          </a:p>
        </p:txBody>
      </p:sp>
      <p:sp>
        <p:nvSpPr>
          <p:cNvPr id="5" name="step 1"/>
          <p:cNvSpPr/>
          <p:nvPr/>
        </p:nvSpPr>
        <p:spPr>
          <a:xfrm>
            <a:off x="8686800" y="132588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3"/>
          <p:cNvSpPr txBox="1"/>
          <p:nvPr/>
        </p:nvSpPr>
        <p:spPr>
          <a:xfrm>
            <a:off x="9326880" y="1307592"/>
            <a:ext cx="2286000" cy="1051560"/>
          </a:xfrm>
          <a:prstGeom prst="rect">
            <a:avLst/>
          </a:prstGeom>
          <a:noFill/>
          <a:ln/>
        </p:spPr>
        <p:txBody>
          <a:bodyPr wrap="square" lIns="0" tIns="0" rIns="0" bIns="0" rtlCol="0" anchor="t"/>
          <a:lstStyle/>
          <a:p>
            <a:pPr indent="0" marL="0">
              <a:buNone/>
            </a:pPr>
            <a:r>
              <a:rPr lang="en-US" sz="1400" dirty="0">
                <a:solidFill>
                  <a:schemeClr val="tx1"/>
                </a:solidFill>
              </a:rPr>
              <a:t>Executive page, 2026: the KPI cards answer 'are we on track?'</a:t>
            </a:r>
            <a:endParaRPr lang="en-US" sz="1400" dirty="0"/>
          </a:p>
        </p:txBody>
      </p:sp>
      <p:sp>
        <p:nvSpPr>
          <p:cNvPr id="7" name="step 2"/>
          <p:cNvSpPr/>
          <p:nvPr/>
        </p:nvSpPr>
        <p:spPr>
          <a:xfrm>
            <a:off x="8686800" y="246888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5"/>
          <p:cNvSpPr txBox="1"/>
          <p:nvPr/>
        </p:nvSpPr>
        <p:spPr>
          <a:xfrm>
            <a:off x="9326880" y="2450592"/>
            <a:ext cx="2286000" cy="1051560"/>
          </a:xfrm>
          <a:prstGeom prst="rect">
            <a:avLst/>
          </a:prstGeom>
          <a:noFill/>
          <a:ln/>
        </p:spPr>
        <p:txBody>
          <a:bodyPr wrap="square" lIns="0" tIns="0" rIns="0" bIns="0" rtlCol="0" anchor="t"/>
          <a:lstStyle/>
          <a:p>
            <a:pPr indent="0" marL="0">
              <a:buNone/>
            </a:pPr>
            <a:r>
              <a:rPr lang="en-US" sz="1400" dirty="0">
                <a:solidFill>
                  <a:schemeClr val="tx1"/>
                </a:solidFill>
              </a:rPr>
              <a:t>Drill through from the scorecard to Katima Mulilo</a:t>
            </a:r>
            <a:endParaRPr lang="en-US" sz="1400" dirty="0"/>
          </a:p>
        </p:txBody>
      </p:sp>
      <p:sp>
        <p:nvSpPr>
          <p:cNvPr id="9" name="step 3"/>
          <p:cNvSpPr/>
          <p:nvPr/>
        </p:nvSpPr>
        <p:spPr>
          <a:xfrm>
            <a:off x="8686800" y="361188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0" name="Text 7"/>
          <p:cNvSpPr txBox="1"/>
          <p:nvPr/>
        </p:nvSpPr>
        <p:spPr>
          <a:xfrm>
            <a:off x="9326880" y="3593592"/>
            <a:ext cx="2286000" cy="1051560"/>
          </a:xfrm>
          <a:prstGeom prst="rect">
            <a:avLst/>
          </a:prstGeom>
          <a:noFill/>
          <a:ln/>
        </p:spPr>
        <p:txBody>
          <a:bodyPr wrap="square" lIns="0" tIns="0" rIns="0" bIns="0" rtlCol="0" anchor="t"/>
          <a:lstStyle/>
          <a:p>
            <a:pPr indent="0" marL="0">
              <a:buNone/>
            </a:pPr>
            <a:r>
              <a:rPr lang="en-US" sz="1400" dirty="0">
                <a:solidFill>
                  <a:schemeClr val="tx1"/>
                </a:solidFill>
              </a:rPr>
              <a:t>Patient Flow page: drill Region › Facility › Ward, then Disease Surveillance</a:t>
            </a:r>
            <a:endParaRPr lang="en-US" sz="1400" dirty="0"/>
          </a:p>
        </p:txBody>
      </p:sp>
      <p:sp>
        <p:nvSpPr>
          <p:cNvPr id="11" name="step 4"/>
          <p:cNvSpPr/>
          <p:nvPr/>
        </p:nvSpPr>
        <p:spPr>
          <a:xfrm>
            <a:off x="8686800" y="475488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2" name="Text 9"/>
          <p:cNvSpPr txBox="1"/>
          <p:nvPr/>
        </p:nvSpPr>
        <p:spPr>
          <a:xfrm>
            <a:off x="9326880" y="4736592"/>
            <a:ext cx="2286000" cy="1051560"/>
          </a:xfrm>
          <a:prstGeom prst="rect">
            <a:avLst/>
          </a:prstGeom>
          <a:noFill/>
          <a:ln/>
        </p:spPr>
        <p:txBody>
          <a:bodyPr wrap="square" lIns="0" tIns="0" rIns="0" bIns="0" rtlCol="0" anchor="t"/>
          <a:lstStyle/>
          <a:p>
            <a:pPr indent="0" marL="0">
              <a:buNone/>
            </a:pPr>
            <a:r>
              <a:rPr lang="en-US" sz="1400" dirty="0">
                <a:solidFill>
                  <a:schemeClr val="tx1"/>
                </a:solidFill>
              </a:rPr>
              <a:t>View as fm.katima: 1 facility, 13,072 ED attendances in 2025; then as the surveillance partner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Load per doctor drives the waits: +6.3 % per extra arrival</a:t>
            </a:r>
            <a:endParaRPr lang="en-US" sz="2800" dirty="0"/>
          </a:p>
        </p:txBody>
      </p:sp>
      <p:graphicFrame>
        <p:nvGraphicFramePr>
          <p:cNvPr id="3" name="Chart 0" descr=""/>
          <p:cNvGraphicFramePr/>
          <p:nvPr/>
        </p:nvGraphicFramePr>
        <p:xfrm>
          <a:off x="548640" y="1234440"/>
          <a:ext cx="6766560" cy="4343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669280"/>
            <a:ext cx="6766560" cy="548640"/>
          </a:xfrm>
          <a:prstGeom prst="rect">
            <a:avLst/>
          </a:prstGeom>
          <a:noFill/>
          <a:ln/>
        </p:spPr>
        <p:txBody>
          <a:bodyPr wrap="square" lIns="0" tIns="0" rIns="0" bIns="0" rtlCol="0" anchor="t"/>
          <a:lstStyle/>
          <a:p>
            <a:pPr indent="0" marL="0">
              <a:buNone/>
            </a:pPr>
            <a:r>
              <a:rPr lang="en-US" sz="1400" dirty="0">
                <a:solidFill>
                  <a:schemeClr val="tx1"/>
                </a:solidFill>
              </a:rPr>
              <a:t>The YELLOW target is 60 minutes; above 16 arrivals per doctor the median wait reaches 68.</a:t>
            </a:r>
            <a:endParaRPr lang="en-US" sz="1400" dirty="0"/>
          </a:p>
        </p:txBody>
      </p:sp>
      <p:sp>
        <p:nvSpPr>
          <p:cNvPr id="5" name="Text 2"/>
          <p:cNvSpPr txBox="1"/>
          <p:nvPr/>
        </p:nvSpPr>
        <p:spPr>
          <a:xfrm>
            <a:off x="7680960" y="1280160"/>
            <a:ext cx="393192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+6.3 %</a:t>
            </a:r>
            <a:endParaRPr lang="en-US" sz="3600" dirty="0"/>
          </a:p>
        </p:txBody>
      </p:sp>
      <p:sp>
        <p:nvSpPr>
          <p:cNvPr id="6" name="Text 3"/>
          <p:cNvSpPr txBox="1"/>
          <p:nvPr/>
        </p:nvSpPr>
        <p:spPr>
          <a:xfrm>
            <a:off x="7680960" y="2011680"/>
            <a:ext cx="3931920" cy="685800"/>
          </a:xfrm>
          <a:prstGeom prst="rect">
            <a:avLst/>
          </a:prstGeom>
          <a:noFill/>
          <a:ln/>
        </p:spPr>
        <p:txBody>
          <a:bodyPr wrap="square" lIns="0" tIns="0" rIns="0" bIns="0" rtlCol="0" anchor="t"/>
          <a:lstStyle/>
          <a:p>
            <a:pPr indent="0" marL="0">
              <a:buNone/>
            </a:pPr>
            <a:r>
              <a:rPr lang="en-US" sz="1400" dirty="0">
                <a:solidFill>
                  <a:schemeClr val="tx1"/>
                </a:solidFill>
              </a:rPr>
              <a:t>longer wait per extra arrival per doctor-shift (OLS, 95 % CI +6.2 to +6.4 %)</a:t>
            </a:r>
            <a:endParaRPr lang="en-US" sz="1400" dirty="0"/>
          </a:p>
        </p:txBody>
      </p:sp>
      <p:sp>
        <p:nvSpPr>
          <p:cNvPr id="7" name="Text 4"/>
          <p:cNvSpPr txBox="1"/>
          <p:nvPr/>
        </p:nvSpPr>
        <p:spPr>
          <a:xfrm>
            <a:off x="7680960" y="2834640"/>
            <a:ext cx="393192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+12.7 points</a:t>
            </a:r>
            <a:endParaRPr lang="en-US" sz="3600" dirty="0"/>
          </a:p>
        </p:txBody>
      </p:sp>
      <p:sp>
        <p:nvSpPr>
          <p:cNvPr id="8" name="Text 5"/>
          <p:cNvSpPr txBox="1"/>
          <p:nvPr/>
        </p:nvSpPr>
        <p:spPr>
          <a:xfrm>
            <a:off x="7680960" y="3566160"/>
            <a:ext cx="3931920" cy="685800"/>
          </a:xfrm>
          <a:prstGeom prst="rect">
            <a:avLst/>
          </a:prstGeom>
          <a:noFill/>
          <a:ln/>
        </p:spPr>
        <p:txBody>
          <a:bodyPr wrap="square" lIns="0" tIns="0" rIns="0" bIns="0" rtlCol="0" anchor="t"/>
          <a:lstStyle/>
          <a:p>
            <a:pPr indent="0" marL="0">
              <a:buNone/>
            </a:pPr>
            <a:r>
              <a:rPr lang="en-US" sz="1400" dirty="0">
                <a:solidFill>
                  <a:schemeClr val="tx1"/>
                </a:solidFill>
              </a:rPr>
              <a:t>seen within target at Katima Mulilo with a second day-shift doctor (Jan–Jun 2026 against 2025)</a:t>
            </a:r>
            <a:endParaRPr lang="en-US" sz="1400" dirty="0"/>
          </a:p>
        </p:txBody>
      </p:sp>
      <p:sp>
        <p:nvSpPr>
          <p:cNvPr id="9" name="Text 6"/>
          <p:cNvSpPr txBox="1"/>
          <p:nvPr/>
        </p:nvSpPr>
        <p:spPr>
          <a:xfrm>
            <a:off x="7680960" y="4389120"/>
            <a:ext cx="393192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+9.6 vs +1.6</a:t>
            </a:r>
            <a:endParaRPr lang="en-US" sz="3600" dirty="0"/>
          </a:p>
        </p:txBody>
      </p:sp>
      <p:sp>
        <p:nvSpPr>
          <p:cNvPr id="10" name="Text 7"/>
          <p:cNvSpPr txBox="1"/>
          <p:nvPr/>
        </p:nvSpPr>
        <p:spPr>
          <a:xfrm>
            <a:off x="7680960" y="5120640"/>
            <a:ext cx="3931920" cy="685800"/>
          </a:xfrm>
          <a:prstGeom prst="rect">
            <a:avLst/>
          </a:prstGeom>
          <a:noFill/>
          <a:ln/>
        </p:spPr>
        <p:txBody>
          <a:bodyPr wrap="square" lIns="0" tIns="0" rIns="0" bIns="0" rtlCol="0" anchor="t"/>
          <a:lstStyle/>
          <a:p>
            <a:pPr indent="0" marL="0">
              <a:buNone/>
            </a:pPr>
            <a:r>
              <a:rPr lang="en-US" sz="1400" dirty="0">
                <a:solidFill>
                  <a:schemeClr val="tx1"/>
                </a:solidFill>
              </a:rPr>
              <a:t>Rundu (extra doctor) against Oshakati (none): a difference-in-differences pattern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Malaria early warning: 2–6 weeks before the peak</a:t>
            </a:r>
            <a:endParaRPr lang="en-US" sz="2800" dirty="0"/>
          </a:p>
        </p:txBody>
      </p:sp>
      <p:graphicFrame>
        <p:nvGraphicFramePr>
          <p:cNvPr id="3" name="Chart 0" descr=""/>
          <p:cNvGraphicFramePr/>
          <p:nvPr/>
        </p:nvGraphicFramePr>
        <p:xfrm>
          <a:off x="548640" y="1234440"/>
          <a:ext cx="6949440" cy="4343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669280"/>
            <a:ext cx="6949440" cy="548640"/>
          </a:xfrm>
          <a:prstGeom prst="rect">
            <a:avLst/>
          </a:prstGeom>
          <a:noFill/>
          <a:ln/>
        </p:spPr>
        <p:txBody>
          <a:bodyPr wrap="square" lIns="0" tIns="0" rIns="0" bIns="0" rtlCol="0" anchor="t"/>
          <a:lstStyle/>
          <a:p>
            <a:pPr indent="0" marL="0">
              <a:buNone/>
            </a:pPr>
            <a:r>
              <a:rPr lang="en-US" sz="1400" dirty="0">
                <a:solidFill>
                  <a:schemeClr val="tx1"/>
                </a:solidFill>
              </a:rPr>
              <a:t>Seasonal peaks in epi weeks 2025-W07 and 2026-W05; the 2025 and 2026 seasons were far larger than 2022–2024.</a:t>
            </a:r>
            <a:endParaRPr lang="en-US" sz="1400" dirty="0"/>
          </a:p>
        </p:txBody>
      </p:sp>
      <p:sp>
        <p:nvSpPr>
          <p:cNvPr id="5" name="Text 2"/>
          <p:cNvSpPr txBox="1"/>
          <p:nvPr/>
        </p:nvSpPr>
        <p:spPr>
          <a:xfrm>
            <a:off x="7863840" y="1280160"/>
            <a:ext cx="3749040" cy="68580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4–8 weeks</a:t>
            </a:r>
            <a:endParaRPr lang="en-US" sz="3600" dirty="0"/>
          </a:p>
        </p:txBody>
      </p:sp>
      <p:sp>
        <p:nvSpPr>
          <p:cNvPr id="6" name="Text 3"/>
          <p:cNvSpPr txBox="1"/>
          <p:nvPr/>
        </p:nvSpPr>
        <p:spPr>
          <a:xfrm>
            <a:off x="7863840" y="2011680"/>
            <a:ext cx="3749040" cy="685800"/>
          </a:xfrm>
          <a:prstGeom prst="rect">
            <a:avLst/>
          </a:prstGeom>
          <a:noFill/>
          <a:ln/>
        </p:spPr>
        <p:txBody>
          <a:bodyPr wrap="square" lIns="0" tIns="0" rIns="0" bIns="0" rtlCol="0" anchor="t"/>
          <a:lstStyle/>
          <a:p>
            <a:pPr indent="0" marL="0">
              <a:buNone/>
            </a:pPr>
            <a:r>
              <a:rPr lang="en-US" sz="1400" dirty="0">
                <a:solidFill>
                  <a:schemeClr val="tx1"/>
                </a:solidFill>
              </a:rPr>
              <a:t>rainfall lead indicator: SARIMAX coefficient 0.405 on log rainfall, p &lt; 0.001</a:t>
            </a:r>
            <a:endParaRPr lang="en-US" sz="1400" dirty="0"/>
          </a:p>
        </p:txBody>
      </p:sp>
      <p:sp>
        <p:nvSpPr>
          <p:cNvPr id="7" name="Text 4"/>
          <p:cNvSpPr txBox="1"/>
          <p:nvPr/>
        </p:nvSpPr>
        <p:spPr>
          <a:xfrm>
            <a:off x="7863840" y="2834640"/>
            <a:ext cx="3749040" cy="68580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2–6 weeks</a:t>
            </a:r>
            <a:endParaRPr lang="en-US" sz="3600" dirty="0"/>
          </a:p>
        </p:txBody>
      </p:sp>
      <p:sp>
        <p:nvSpPr>
          <p:cNvPr id="8" name="Text 5"/>
          <p:cNvSpPr txBox="1"/>
          <p:nvPr/>
        </p:nvSpPr>
        <p:spPr>
          <a:xfrm>
            <a:off x="7863840" y="3566160"/>
            <a:ext cx="3749040" cy="685800"/>
          </a:xfrm>
          <a:prstGeom prst="rect">
            <a:avLst/>
          </a:prstGeom>
          <a:noFill/>
          <a:ln/>
        </p:spPr>
        <p:txBody>
          <a:bodyPr wrap="square" lIns="0" tIns="0" rIns="0" bIns="0" rtlCol="0" anchor="t"/>
          <a:lstStyle/>
          <a:p>
            <a:pPr indent="0" marL="0">
              <a:buNone/>
            </a:pPr>
            <a:r>
              <a:rPr lang="en-US" sz="1400" dirty="0">
                <a:solidFill>
                  <a:schemeClr val="tx1"/>
                </a:solidFill>
              </a:rPr>
              <a:t>historical-limits alert before the seasonal peak, in time to extend clinic hours</a:t>
            </a:r>
            <a:endParaRPr lang="en-US" sz="1400" dirty="0"/>
          </a:p>
        </p:txBody>
      </p:sp>
      <p:sp>
        <p:nvSpPr>
          <p:cNvPr id="9" name="Text 6"/>
          <p:cNvSpPr txBox="1"/>
          <p:nvPr/>
        </p:nvSpPr>
        <p:spPr>
          <a:xfrm>
            <a:off x="7863840" y="4389120"/>
            <a:ext cx="3749040" cy="68580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19.4 %</a:t>
            </a:r>
            <a:endParaRPr lang="en-US" sz="3600" dirty="0"/>
          </a:p>
        </p:txBody>
      </p:sp>
      <p:sp>
        <p:nvSpPr>
          <p:cNvPr id="10" name="Text 7"/>
          <p:cNvSpPr txBox="1"/>
          <p:nvPr/>
        </p:nvSpPr>
        <p:spPr>
          <a:xfrm>
            <a:off x="7863840" y="5120640"/>
            <a:ext cx="3749040" cy="685800"/>
          </a:xfrm>
          <a:prstGeom prst="rect">
            <a:avLst/>
          </a:prstGeom>
          <a:noFill/>
          <a:ln/>
        </p:spPr>
        <p:txBody>
          <a:bodyPr wrap="square" lIns="0" tIns="0" rIns="0" bIns="0" rtlCol="0" anchor="t"/>
          <a:lstStyle/>
          <a:p>
            <a:pPr indent="0" marL="0">
              <a:buNone/>
            </a:pPr>
            <a:r>
              <a:rPr lang="en-US" sz="1400" dirty="0">
                <a:solidFill>
                  <a:schemeClr val="tx1"/>
                </a:solidFill>
              </a:rPr>
              <a:t>forecast error (WAPE) one week ahead, Holt-Winters, rolling-origin back-test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Target the follow-up calls; catch outbreaks within a week</a:t>
            </a:r>
            <a:endParaRPr lang="en-US" sz="2800" dirty="0"/>
          </a:p>
        </p:txBody>
      </p:sp>
      <p:graphicFrame>
        <p:nvGraphicFramePr>
          <p:cNvPr id="3" name="Chart 0" descr=""/>
          <p:cNvGraphicFramePr/>
          <p:nvPr/>
        </p:nvGraphicFramePr>
        <p:xfrm>
          <a:off x="548640" y="1234440"/>
          <a:ext cx="6309360" cy="4343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669280"/>
            <a:ext cx="6309360" cy="548640"/>
          </a:xfrm>
          <a:prstGeom prst="rect">
            <a:avLst/>
          </a:prstGeom>
          <a:noFill/>
          <a:ln/>
        </p:spPr>
        <p:txBody>
          <a:bodyPr wrap="square" lIns="0" tIns="0" rIns="0" bIns="0" rtlCol="0" anchor="t"/>
          <a:lstStyle/>
          <a:p>
            <a:pPr indent="0" marL="0">
              <a:buNone/>
            </a:pPr>
            <a:r>
              <a:rPr lang="en-US" sz="1400" dirty="0">
                <a:solidFill>
                  <a:schemeClr val="tx1"/>
                </a:solidFill>
              </a:rPr>
              <a:t>Well calibrated: predicted and observed rates agree in every decile, so the scores can be read as probabilities.</a:t>
            </a:r>
            <a:endParaRPr lang="en-US" sz="1400" dirty="0"/>
          </a:p>
        </p:txBody>
      </p:sp>
      <p:sp>
        <p:nvSpPr>
          <p:cNvPr id="5" name="Text 2"/>
          <p:cNvSpPr txBox="1"/>
          <p:nvPr/>
        </p:nvSpPr>
        <p:spPr>
          <a:xfrm>
            <a:off x="7223760" y="1280160"/>
            <a:ext cx="438912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37 %</a:t>
            </a:r>
            <a:endParaRPr lang="en-US" sz="3600" dirty="0"/>
          </a:p>
        </p:txBody>
      </p:sp>
      <p:sp>
        <p:nvSpPr>
          <p:cNvPr id="6" name="Text 3"/>
          <p:cNvSpPr txBox="1"/>
          <p:nvPr/>
        </p:nvSpPr>
        <p:spPr>
          <a:xfrm>
            <a:off x="7223760" y="2011680"/>
            <a:ext cx="4389120" cy="685800"/>
          </a:xfrm>
          <a:prstGeom prst="rect">
            <a:avLst/>
          </a:prstGeom>
          <a:noFill/>
          <a:ln/>
        </p:spPr>
        <p:txBody>
          <a:bodyPr wrap="square" lIns="0" tIns="0" rIns="0" bIns="0" rtlCol="0" anchor="t"/>
          <a:lstStyle/>
          <a:p>
            <a:pPr indent="0" marL="0">
              <a:buNone/>
            </a:pPr>
            <a:r>
              <a:rPr lang="en-US" sz="1400" dirty="0">
                <a:solidFill>
                  <a:schemeClr val="tx1"/>
                </a:solidFill>
              </a:rPr>
              <a:t>of readmissions fall in the top 20 % of predicted risk: 1.9 times random (AUC 0.66)</a:t>
            </a:r>
            <a:endParaRPr lang="en-US" sz="1400" dirty="0"/>
          </a:p>
        </p:txBody>
      </p:sp>
      <p:sp>
        <p:nvSpPr>
          <p:cNvPr id="7" name="Text 4"/>
          <p:cNvSpPr txBox="1"/>
          <p:nvPr/>
        </p:nvSpPr>
        <p:spPr>
          <a:xfrm>
            <a:off x="7223760" y="2834640"/>
            <a:ext cx="438912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11 of 12</a:t>
            </a:r>
            <a:endParaRPr lang="en-US" sz="3600" dirty="0"/>
          </a:p>
        </p:txBody>
      </p:sp>
      <p:sp>
        <p:nvSpPr>
          <p:cNvPr id="8" name="Text 5"/>
          <p:cNvSpPr txBox="1"/>
          <p:nvPr/>
        </p:nvSpPr>
        <p:spPr>
          <a:xfrm>
            <a:off x="7223760" y="3566160"/>
            <a:ext cx="4389120" cy="685800"/>
          </a:xfrm>
          <a:prstGeom prst="rect">
            <a:avLst/>
          </a:prstGeom>
          <a:noFill/>
          <a:ln/>
        </p:spPr>
        <p:txBody>
          <a:bodyPr wrap="square" lIns="0" tIns="0" rIns="0" bIns="0" rtlCol="0" anchor="t"/>
          <a:lstStyle/>
          <a:p>
            <a:pPr indent="0" marL="0">
              <a:buNone/>
            </a:pPr>
            <a:r>
              <a:rPr lang="en-US" sz="1400" dirty="0">
                <a:solidFill>
                  <a:schemeClr val="tx1"/>
                </a:solidFill>
              </a:rPr>
              <a:t>injected outbreaks found by CUSUM, median delay 1 week, under 1 false alert per 100 facility-condition-weeks</a:t>
            </a:r>
            <a:endParaRPr lang="en-US" sz="1400" dirty="0"/>
          </a:p>
        </p:txBody>
      </p:sp>
      <p:sp>
        <p:nvSpPr>
          <p:cNvPr id="9" name="Text 6"/>
          <p:cNvSpPr txBox="1"/>
          <p:nvPr/>
        </p:nvSpPr>
        <p:spPr>
          <a:xfrm>
            <a:off x="7223760" y="4389120"/>
            <a:ext cx="438912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9 of 12</a:t>
            </a:r>
            <a:endParaRPr lang="en-US" sz="3600" dirty="0"/>
          </a:p>
        </p:txBody>
      </p:sp>
      <p:sp>
        <p:nvSpPr>
          <p:cNvPr id="10" name="Text 7"/>
          <p:cNvSpPr txBox="1"/>
          <p:nvPr/>
        </p:nvSpPr>
        <p:spPr>
          <a:xfrm>
            <a:off x="7223760" y="5120640"/>
            <a:ext cx="4389120" cy="685800"/>
          </a:xfrm>
          <a:prstGeom prst="rect">
            <a:avLst/>
          </a:prstGeom>
          <a:noFill/>
          <a:ln/>
        </p:spPr>
        <p:txBody>
          <a:bodyPr wrap="square" lIns="0" tIns="0" rIns="0" bIns="0" rtlCol="0" anchor="t"/>
          <a:lstStyle/>
          <a:p>
            <a:pPr indent="0" marL="0">
              <a:buNone/>
            </a:pPr>
            <a:r>
              <a:rPr lang="en-US" sz="1400" dirty="0">
                <a:solidFill>
                  <a:schemeClr val="tx1"/>
                </a:solidFill>
              </a:rPr>
              <a:t>for EARS C2; both missed a 22-case measles cluster in a busy clinic</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Optimised: faster queries, smaller model, lighter refresh</a:t>
            </a:r>
            <a:endParaRPr lang="en-US" sz="2800" dirty="0"/>
          </a:p>
        </p:txBody>
      </p:sp>
      <p:graphicFrame>
        <p:nvGraphicFramePr>
          <p:cNvPr id="3" name="Chart 0" descr=""/>
          <p:cNvGraphicFramePr/>
          <p:nvPr/>
        </p:nvGraphicFramePr>
        <p:xfrm>
          <a:off x="548640" y="123444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98080" y="1280160"/>
            <a:ext cx="411480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454×</a:t>
            </a:r>
            <a:endParaRPr lang="en-US" sz="3600" dirty="0"/>
          </a:p>
        </p:txBody>
      </p:sp>
      <p:sp>
        <p:nvSpPr>
          <p:cNvPr id="5" name="Text 2"/>
          <p:cNvSpPr txBox="1"/>
          <p:nvPr/>
        </p:nvSpPr>
        <p:spPr>
          <a:xfrm>
            <a:off x="7498080" y="2011680"/>
            <a:ext cx="4114800" cy="685800"/>
          </a:xfrm>
          <a:prstGeom prst="rect">
            <a:avLst/>
          </a:prstGeom>
          <a:noFill/>
          <a:ln/>
        </p:spPr>
        <p:txBody>
          <a:bodyPr wrap="square" lIns="0" tIns="0" rIns="0" bIns="0" rtlCol="0" anchor="t"/>
          <a:lstStyle/>
          <a:p>
            <a:pPr indent="0" marL="0">
              <a:buNone/>
            </a:pPr>
            <a:r>
              <a:rPr lang="en-US" sz="1400" dirty="0">
                <a:solidFill>
                  <a:schemeClr val="tx1"/>
                </a:solidFill>
              </a:rPr>
              <a:t>faster patient drill-through: an index on the patient key</a:t>
            </a:r>
            <a:endParaRPr lang="en-US" sz="1400" dirty="0"/>
          </a:p>
        </p:txBody>
      </p:sp>
      <p:sp>
        <p:nvSpPr>
          <p:cNvPr id="6" name="Text 3"/>
          <p:cNvSpPr txBox="1"/>
          <p:nvPr/>
        </p:nvSpPr>
        <p:spPr>
          <a:xfrm>
            <a:off x="7498080" y="2834640"/>
            <a:ext cx="411480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-46 %</a:t>
            </a:r>
            <a:endParaRPr lang="en-US" sz="3600" dirty="0"/>
          </a:p>
        </p:txBody>
      </p:sp>
      <p:sp>
        <p:nvSpPr>
          <p:cNvPr id="7" name="Text 4"/>
          <p:cNvSpPr txBox="1"/>
          <p:nvPr/>
        </p:nvSpPr>
        <p:spPr>
          <a:xfrm>
            <a:off x="7498080" y="3566160"/>
            <a:ext cx="4114800" cy="685800"/>
          </a:xfrm>
          <a:prstGeom prst="rect">
            <a:avLst/>
          </a:prstGeom>
          <a:noFill/>
          <a:ln/>
        </p:spPr>
        <p:txBody>
          <a:bodyPr wrap="square" lIns="0" tIns="0" rIns="0" bIns="0" rtlCol="0" anchor="t"/>
          <a:lstStyle/>
          <a:p>
            <a:pPr indent="0" marL="0">
              <a:buNone/>
            </a:pPr>
            <a:r>
              <a:rPr lang="en-US" sz="1400" dirty="0">
                <a:solidFill>
                  <a:schemeClr val="tx1"/>
                </a:solidFill>
              </a:rPr>
              <a:t>model size: 23.0 to 12.5 MB (columnar proxy for VertiPaq)</a:t>
            </a:r>
            <a:endParaRPr lang="en-US" sz="1400" dirty="0"/>
          </a:p>
        </p:txBody>
      </p:sp>
      <p:sp>
        <p:nvSpPr>
          <p:cNvPr id="8" name="Text 5"/>
          <p:cNvSpPr txBox="1"/>
          <p:nvPr/>
        </p:nvSpPr>
        <p:spPr>
          <a:xfrm>
            <a:off x="7498080" y="4389120"/>
            <a:ext cx="411480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-99.4 %</a:t>
            </a:r>
            <a:endParaRPr lang="en-US" sz="3600" dirty="0"/>
          </a:p>
        </p:txBody>
      </p:sp>
      <p:sp>
        <p:nvSpPr>
          <p:cNvPr id="9" name="Text 6"/>
          <p:cNvSpPr txBox="1"/>
          <p:nvPr/>
        </p:nvSpPr>
        <p:spPr>
          <a:xfrm>
            <a:off x="7498080" y="5120640"/>
            <a:ext cx="4114800" cy="685800"/>
          </a:xfrm>
          <a:prstGeom prst="rect">
            <a:avLst/>
          </a:prstGeom>
          <a:noFill/>
          <a:ln/>
        </p:spPr>
        <p:txBody>
          <a:bodyPr wrap="square" lIns="0" tIns="0" rIns="0" bIns="0" rtlCol="0" anchor="t"/>
          <a:lstStyle/>
          <a:p>
            <a:pPr indent="0" marL="0">
              <a:buNone/>
            </a:pPr>
            <a:r>
              <a:rPr lang="en-US" sz="1400" dirty="0">
                <a:solidFill>
                  <a:schemeClr val="tx1"/>
                </a:solidFill>
              </a:rPr>
              <a:t>rows per daily refresh with incremental refresh (560,557 to 3,214)</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914400"/>
          </a:xfrm>
          <a:prstGeom prst="rect">
            <a:avLst/>
          </a:prstGeom>
          <a:noFill/>
          <a:ln/>
        </p:spPr>
        <p:txBody>
          <a:bodyPr wrap="square" rtlCol="0"/>
          <a:lstStyle/>
          <a:p>
            <a:pPr algn="l" indent="0" marL="0">
              <a:buNone/>
            </a:pPr>
            <a:r>
              <a:rPr lang="en-US" sz="3600" b="1" dirty="0">
                <a:solidFill>
                  <a:schemeClr val="bg1"/>
                </a:solidFill>
              </a:rPr>
              <a:t>Recommendations</a:t>
            </a:r>
            <a:endParaRPr lang="en-US" sz="3600" dirty="0"/>
          </a:p>
        </p:txBody>
      </p:sp>
      <p:sp>
        <p:nvSpPr>
          <p:cNvPr id="3" name="step 1"/>
          <p:cNvSpPr/>
          <p:nvPr/>
        </p:nvSpPr>
        <p:spPr>
          <a:xfrm>
            <a:off x="731520" y="1645920"/>
            <a:ext cx="548640" cy="548640"/>
          </a:xfrm>
          <a:prstGeom prst="ellipse">
            <a:avLst/>
          </a:prstGeom>
          <a:solidFill>
            <a:schemeClr val="bg1"/>
          </a:solid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4" name="Text 2"/>
          <p:cNvSpPr txBox="1"/>
          <p:nvPr/>
        </p:nvSpPr>
        <p:spPr>
          <a:xfrm>
            <a:off x="1508760" y="1600200"/>
            <a:ext cx="9966960" cy="960120"/>
          </a:xfrm>
          <a:prstGeom prst="rect">
            <a:avLst/>
          </a:prstGeom>
          <a:noFill/>
          <a:ln/>
        </p:spPr>
        <p:txBody>
          <a:bodyPr wrap="square" lIns="0" tIns="0" rIns="0" bIns="0" rtlCol="0" anchor="t"/>
          <a:lstStyle/>
          <a:p>
            <a:pPr indent="0" marL="0">
              <a:buNone/>
            </a:pPr>
            <a:r>
              <a:rPr lang="en-US" sz="2000" b="1" dirty="0">
                <a:solidFill>
                  <a:schemeClr val="bg1"/>
                </a:solidFill>
              </a:rPr>
              <a:t>Season-triggered roster uplift</a:t>
            </a:r>
            <a:endParaRPr lang="en-US" sz="2000" dirty="0"/>
          </a:p>
          <a:p>
            <a:pPr indent="0" marL="0">
              <a:buNone/>
            </a:pPr>
            <a:r>
              <a:rPr lang="en-US" sz="1600" dirty="0">
                <a:solidFill>
                  <a:schemeClr val="bg1"/>
                </a:solidFill>
              </a:rPr>
              <a:t>an extra ED day-shift doctor at Rundu and Katima Mulilo from January to May; the 2026 test recovered 10–13 points</a:t>
            </a:r>
            <a:endParaRPr lang="en-US" sz="2000" dirty="0"/>
          </a:p>
        </p:txBody>
      </p:sp>
      <p:sp>
        <p:nvSpPr>
          <p:cNvPr id="5" name="step 2"/>
          <p:cNvSpPr/>
          <p:nvPr/>
        </p:nvSpPr>
        <p:spPr>
          <a:xfrm>
            <a:off x="731520" y="2724912"/>
            <a:ext cx="548640" cy="548640"/>
          </a:xfrm>
          <a:prstGeom prst="ellipse">
            <a:avLst/>
          </a:prstGeom>
          <a:solidFill>
            <a:schemeClr val="bg1"/>
          </a:solid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6" name="Text 4"/>
          <p:cNvSpPr txBox="1"/>
          <p:nvPr/>
        </p:nvSpPr>
        <p:spPr>
          <a:xfrm>
            <a:off x="1508760" y="2679192"/>
            <a:ext cx="9966960" cy="960120"/>
          </a:xfrm>
          <a:prstGeom prst="rect">
            <a:avLst/>
          </a:prstGeom>
          <a:noFill/>
          <a:ln/>
        </p:spPr>
        <p:txBody>
          <a:bodyPr wrap="square" lIns="0" tIns="0" rIns="0" bIns="0" rtlCol="0" anchor="t"/>
          <a:lstStyle/>
          <a:p>
            <a:pPr indent="0" marL="0">
              <a:buNone/>
            </a:pPr>
            <a:r>
              <a:rPr lang="en-US" sz="2000" b="1" dirty="0">
                <a:solidFill>
                  <a:schemeClr val="bg1"/>
                </a:solidFill>
              </a:rPr>
              <a:t>Discharge before noon, occupancy below 85 %</a:t>
            </a:r>
            <a:endParaRPr lang="en-US" sz="2000" dirty="0"/>
          </a:p>
          <a:p>
            <a:pPr indent="0" marL="0">
              <a:buNone/>
            </a:pPr>
            <a:r>
              <a:rPr lang="en-US" sz="1600" dirty="0">
                <a:solidFill>
                  <a:schemeClr val="bg1"/>
                </a:solidFill>
              </a:rPr>
              <a:t>26.9 % of discharges leave before noon; a 40 % target frees beds for the afternoon ED peak</a:t>
            </a:r>
            <a:endParaRPr lang="en-US" sz="2000" dirty="0"/>
          </a:p>
        </p:txBody>
      </p:sp>
      <p:sp>
        <p:nvSpPr>
          <p:cNvPr id="7" name="step 3"/>
          <p:cNvSpPr/>
          <p:nvPr/>
        </p:nvSpPr>
        <p:spPr>
          <a:xfrm>
            <a:off x="731520" y="3803904"/>
            <a:ext cx="548640" cy="548640"/>
          </a:xfrm>
          <a:prstGeom prst="ellipse">
            <a:avLst/>
          </a:prstGeom>
          <a:solidFill>
            <a:schemeClr val="bg1"/>
          </a:solid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8" name="Text 6"/>
          <p:cNvSpPr txBox="1"/>
          <p:nvPr/>
        </p:nvSpPr>
        <p:spPr>
          <a:xfrm>
            <a:off x="1508760" y="3758184"/>
            <a:ext cx="9966960" cy="960120"/>
          </a:xfrm>
          <a:prstGeom prst="rect">
            <a:avLst/>
          </a:prstGeom>
          <a:noFill/>
          <a:ln/>
        </p:spPr>
        <p:txBody>
          <a:bodyPr wrap="square" lIns="0" tIns="0" rIns="0" bIns="0" rtlCol="0" anchor="t"/>
          <a:lstStyle/>
          <a:p>
            <a:pPr indent="0" marL="0">
              <a:buNone/>
            </a:pPr>
            <a:r>
              <a:rPr lang="en-US" sz="2000" b="1" dirty="0">
                <a:solidFill>
                  <a:schemeClr val="bg1"/>
                </a:solidFill>
              </a:rPr>
              <a:t>Call the top 20 % risk patients within 72 hours</a:t>
            </a:r>
            <a:endParaRPr lang="en-US" sz="2000" dirty="0"/>
          </a:p>
          <a:p>
            <a:pPr indent="0" marL="0">
              <a:buNone/>
            </a:pPr>
            <a:r>
              <a:rPr lang="en-US" sz="1600" dirty="0">
                <a:solidFill>
                  <a:schemeClr val="bg1"/>
                </a:solidFill>
              </a:rPr>
              <a:t>about 3,600 patients a year, reaching 37 % of all 30-day readmissions</a:t>
            </a:r>
            <a:endParaRPr lang="en-US" sz="2000" dirty="0"/>
          </a:p>
        </p:txBody>
      </p:sp>
      <p:sp>
        <p:nvSpPr>
          <p:cNvPr id="9" name="step 4"/>
          <p:cNvSpPr/>
          <p:nvPr/>
        </p:nvSpPr>
        <p:spPr>
          <a:xfrm>
            <a:off x="731520" y="4882896"/>
            <a:ext cx="548640" cy="548640"/>
          </a:xfrm>
          <a:prstGeom prst="ellipse">
            <a:avLst/>
          </a:prstGeom>
          <a:solidFill>
            <a:schemeClr val="bg1"/>
          </a:solid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0" name="Text 8"/>
          <p:cNvSpPr txBox="1"/>
          <p:nvPr/>
        </p:nvSpPr>
        <p:spPr>
          <a:xfrm>
            <a:off x="1508760" y="4837176"/>
            <a:ext cx="9966960" cy="960120"/>
          </a:xfrm>
          <a:prstGeom prst="rect">
            <a:avLst/>
          </a:prstGeom>
          <a:noFill/>
          <a:ln/>
        </p:spPr>
        <p:txBody>
          <a:bodyPr wrap="square" lIns="0" tIns="0" rIns="0" bIns="0" rtlCol="0" anchor="t"/>
          <a:lstStyle/>
          <a:p>
            <a:pPr indent="0" marL="0">
              <a:buNone/>
            </a:pPr>
            <a:r>
              <a:rPr lang="en-US" sz="2000" b="1" dirty="0">
                <a:solidFill>
                  <a:schemeClr val="bg1"/>
                </a:solidFill>
              </a:rPr>
              <a:t>Run the DQ process weekly and publish the app</a:t>
            </a:r>
            <a:endParaRPr lang="en-US" sz="2000" dirty="0"/>
          </a:p>
          <a:p>
            <a:pPr indent="0" marL="0">
              <a:buNone/>
            </a:pPr>
            <a:r>
              <a:rPr lang="en-US" sz="1600" dirty="0">
                <a:solidFill>
                  <a:schemeClr val="bg1"/>
                </a:solidFill>
              </a:rPr>
              <a:t>44 rules with named stewards; facility RLS for managers, aggregates only for the MoHSS</a:t>
            </a:r>
            <a:endParaRPr lang="en-US" sz="2000" dirty="0"/>
          </a:p>
        </p:txBody>
      </p:sp>
      <p:sp>
        <p:nvSpPr>
          <p:cNvPr id="11" name="Text 9"/>
          <p:cNvSpPr txBox="1"/>
          <p:nvPr/>
        </p:nvSpPr>
        <p:spPr>
          <a:xfrm>
            <a:off x="731520" y="5989320"/>
            <a:ext cx="10698480" cy="457200"/>
          </a:xfrm>
          <a:prstGeom prst="rect">
            <a:avLst/>
          </a:prstGeom>
          <a:noFill/>
          <a:ln/>
        </p:spPr>
        <p:txBody>
          <a:bodyPr wrap="square" rtlCol="0" anchor="ctr"/>
          <a:lstStyle/>
          <a:p>
            <a:pPr indent="0" marL="0">
              <a:buNone/>
            </a:pPr>
            <a:r>
              <a:rPr lang="en-US" sz="2000" b="1" dirty="0">
                <a:solidFill>
                  <a:schemeClr val="bg2"/>
                </a:solidFill>
                <a:latin typeface="Cambria" pitchFamily="34" charset="0"/>
                <a:ea typeface="Cambria" pitchFamily="34" charset="-122"/>
                <a:cs typeface="Cambria" pitchFamily="34" charset="-120"/>
              </a:rPr>
              <a:t>Thank you – questions?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Backup: Patient Flow &amp; Resources page</a:t>
            </a:r>
            <a:endParaRPr lang="en-US" sz="2800" dirty="0"/>
          </a:p>
        </p:txBody>
      </p:sp>
      <p:pic>
        <p:nvPicPr>
          <p:cNvPr id="3" name="Image 0" descr="Patient Flow and Resources page: drill-down matrix Region to Facility to Ward, waits by hour, occupancy against patients seen on time, triage and load per doctor">    </p:cNvPr>
          <p:cNvPicPr>
            <a:picLocks noChangeAspect="1"/>
          </p:cNvPicPr>
          <p:nvPr/>
        </p:nvPicPr>
        <p:blipFill>
          <a:blip r:embed="rId1"/>
          <a:stretch>
            <a:fillRect/>
          </a:stretch>
        </p:blipFill>
        <p:spPr>
          <a:xfrm>
            <a:off x="1545336" y="1188720"/>
            <a:ext cx="9107424" cy="512064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Backup: Disease Surveillance page</a:t>
            </a:r>
            <a:endParaRPr lang="en-US" sz="2800" dirty="0"/>
          </a:p>
        </p:txBody>
      </p:sp>
      <p:pic>
        <p:nvPicPr>
          <p:cNvPr id="3" name="Image 0" descr="Disease Surveillance page: epi-year-to-date cards, weekly malaria against last year, rainfall lead indicator, incidence pivot by facility and epi year, IDSR completeness and timeliness">    </p:cNvPr>
          <p:cNvPicPr>
            <a:picLocks noChangeAspect="1"/>
          </p:cNvPicPr>
          <p:nvPr/>
        </p:nvPicPr>
        <p:blipFill>
          <a:blip r:embed="rId1"/>
          <a:stretch>
            <a:fillRect/>
          </a:stretch>
        </p:blipFill>
        <p:spPr>
          <a:xfrm>
            <a:off x="1545336" y="1188720"/>
            <a:ext cx="9107424" cy="512064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Backup: Advanced Analytics &amp; Data Quality page</a:t>
            </a:r>
            <a:endParaRPr lang="en-US" sz="2800" dirty="0"/>
          </a:p>
        </p:txBody>
      </p:sp>
      <p:pic>
        <p:nvPicPr>
          <p:cNvPr id="3" name="Image 0" descr="Advanced Analytics page: malaria forecast with interval, readmission calibration by decile, ED wait drivers, outbreak alerts and data-quality rules">    </p:cNvPr>
          <p:cNvPicPr>
            <a:picLocks noChangeAspect="1"/>
          </p:cNvPicPr>
          <p:nvPr/>
        </p:nvPicPr>
        <p:blipFill>
          <a:blip r:embed="rId1"/>
          <a:stretch>
            <a:fillRect/>
          </a:stretch>
        </p:blipFill>
        <p:spPr>
          <a:xfrm>
            <a:off x="1545336" y="1188720"/>
            <a:ext cx="9107424" cy="512064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2800" b="1" dirty="0">
                <a:solidFill>
                  <a:schemeClr val="tx2"/>
                </a:solidFill>
              </a:rPr>
              <a:t>Backup: Facility Detail drill-through (Rundu)</a:t>
            </a:r>
            <a:endParaRPr lang="en-US" sz="2800" dirty="0"/>
          </a:p>
        </p:txBody>
      </p:sp>
      <p:pic>
        <p:nvPicPr>
          <p:cNvPr id="3" name="Image 0" descr="Facility Detail drill-through page for Rundu: KPI cards, seen within target by month, bed occupancy by ward, weekly malaria cases and staffing by year">    </p:cNvPr>
          <p:cNvPicPr>
            <a:picLocks noChangeAspect="1"/>
          </p:cNvPicPr>
          <p:nvPr/>
        </p:nvPicPr>
        <p:blipFill>
          <a:blip r:embed="rId1"/>
          <a:stretch>
            <a:fillRect/>
          </a:stretch>
        </p:blipFill>
        <p:spPr>
          <a:xfrm>
            <a:off x="1545336" y="1188720"/>
            <a:ext cx="9107424" cy="512064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GBHS Health">
  <a:themeElements>
    <a:clrScheme name="GBHS Health">
      <a:dk1>
        <a:srgbClr val="0B0B0B"/>
      </a:dk1>
      <a:lt1>
        <a:srgbClr val="FFFFFF"/>
      </a:lt1>
      <a:dk2>
        <a:srgbClr val="0E3A47"/>
      </a:dk2>
      <a:lt2>
        <a:srgbClr val="EAF1F3"/>
      </a:lt2>
      <a:accent1>
        <a:srgbClr val="2A78D6"/>
      </a:accent1>
      <a:accent2>
        <a:srgbClr val="EB6834"/>
      </a:accent2>
      <a:accent3>
        <a:srgbClr val="1BAF7A"/>
      </a:accent3>
      <a:accent4>
        <a:srgbClr val="EDA100"/>
      </a:accent4>
      <a:accent5>
        <a:srgbClr val="E87BA4"/>
      </a:accent5>
      <a:accent6>
        <a:srgbClr val="6250D6"/>
      </a:accent6>
      <a:hlink>
        <a:srgbClr val="2A78D6"/>
      </a:hlink>
      <a:folHlink>
        <a:srgbClr val="6250D6"/>
      </a:folHlink>
    </a:clrScheme>
    <a:fontScheme name="GBHS Healt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Basket Health Services - ABI820S group presentation</dc:title>
  <dc:subject>End-to-end BI solution for patient flow, resource utilisation and disease surveillance</dc:subject>
  <dc:creator>ABI820S consulting group</dc:creator>
  <cp:lastModifiedBy>ABI820S consulting group</cp:lastModifiedBy>
  <cp:revision>1</cp:revision>
  <dcterms:created xsi:type="dcterms:W3CDTF">2026-10-27T18:32:08Z</dcterms:created>
  <dcterms:modified xsi:type="dcterms:W3CDTF">2026-10-27T18:32:08Z</dcterms:modified>
</cp:coreProperties>
</file>