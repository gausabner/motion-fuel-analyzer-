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849c8702-95d2-66bc-8678-870f786e8c22}">
          <p14:sldIdLst>
            <p14:sldId id="256"/>
            <p14:sldId id="257"/>
            <p14:sldId id="258"/>
          </p14:sldIdLst>
        </p14:section>
        <p14:section name="Solution" id="{40dc6a3f-8308-3740-cc6a-9514d32aa9c8}">
          <p14:sldIdLst>
            <p14:sldId id="259"/>
            <p14:sldId id="260"/>
            <p14:sldId id="261"/>
            <p14:sldId id="262"/>
            <p14:sldId id="263"/>
            <p14:sldId id="264"/>
          </p14:sldIdLst>
        </p14:section>
        <p14:section name="Insights" id="{52645447-e0c2-bbff-162f-665ad830a523}">
          <p14:sldIdLst>
            <p14:sldId id="265"/>
            <p14:sldId id="266"/>
            <p14:sldId id="267"/>
          </p14:sldIdLst>
        </p14:section>
        <p14:section name="Close" id="{ea2a4aaa-0100-fa2d-aea9-be1b23b24eed}">
          <p14:sldIdLst>
            <p14:sldId id="268"/>
          </p14:sldIdLst>
        </p14:section>
        <p14:section name="Backup" id="{21039d59-1321-24ec-b66e-cc935631638d}">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Nkurenkuru maize, t per planted ha, by farm version at planting</a:t>
            </a:r>
          </a:p>
        </c:rich>
      </c:tx>
      <c:layout/>
      <c:overlay val="0"/>
    </c:title>
    <c:autoTitleDeleted val="0"/>
    <c:plotArea>
      <c:layout/>
      <c:barChart>
        <c:barDir val="col"/>
        <c:grouping val="stacked"/>
        <c:varyColors val="0"/>
        <c:ser>
          <c:idx val="0"/>
          <c:order val="0"/>
          <c:tx>
            <c:strRef>
              <c:f>Sheet1!$B$1</c:f>
              <c:strCache>
                <c:ptCount val="1"/>
                <c:pt idx="0">
                  <c:v>Dryland version</c:v>
                </c:pt>
              </c:strCache>
            </c:strRef>
          </c:tx>
          <c:spPr>
            <a:solidFill>
              <a:srgbClr val="EB6834"/>
            </a:solidFill>
            <a:effectLst/>
          </c:spPr>
          <c:invertIfNegative val="0"/>
          <c:dLbls>
            <c:numFmt formatCode="0.0;;;"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2020/21</c:v>
                  </c:pt>
                  <c:pt idx="1">
                    <c:v>2021/22</c:v>
                  </c:pt>
                  <c:pt idx="2">
                    <c:v>2022/23</c:v>
                  </c:pt>
                  <c:pt idx="3">
                    <c:v>2023/24</c:v>
                  </c:pt>
                  <c:pt idx="4">
                    <c:v>2024/25</c:v>
                  </c:pt>
                  <c:pt idx="5">
                    <c:v>2025/26</c:v>
                  </c:pt>
                </c:lvl>
              </c:multiLvlStrCache>
            </c:multiLvlStrRef>
          </c:cat>
          <c:val>
            <c:numRef>
              <c:f>Sheet1!$B$2:$B$7</c:f>
              <c:numCache>
                <c:formatCode>General</c:formatCode>
                <c:ptCount val="6"/>
                <c:pt idx="0">
                  <c:v>2.23</c:v>
                </c:pt>
                <c:pt idx="1">
                  <c:v>0.56</c:v>
                </c:pt>
                <c:pt idx="2">
                  <c:v>1.28</c:v>
                </c:pt>
                <c:pt idx="3">
                  <c:v>0</c:v>
                </c:pt>
                <c:pt idx="4">
                  <c:v>0</c:v>
                </c:pt>
                <c:pt idx="5">
                  <c:v>0</c:v>
                </c:pt>
              </c:numCache>
            </c:numRef>
          </c:val>
        </c:ser>
        <c:ser>
          <c:idx val="1"/>
          <c:order val="1"/>
          <c:tx>
            <c:strRef>
              <c:f>Sheet1!$C$1</c:f>
              <c:strCache>
                <c:ptCount val="1"/>
                <c:pt idx="0">
                  <c:v>Centre-pivot version</c:v>
                </c:pt>
              </c:strCache>
            </c:strRef>
          </c:tx>
          <c:spPr>
            <a:solidFill>
              <a:srgbClr val="2A78D6"/>
            </a:solidFill>
            <a:effectLst/>
          </c:spPr>
          <c:invertIfNegative val="0"/>
          <c:dLbls>
            <c:numFmt formatCode="0.0;;;"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2020/21</c:v>
                  </c:pt>
                  <c:pt idx="1">
                    <c:v>2021/22</c:v>
                  </c:pt>
                  <c:pt idx="2">
                    <c:v>2022/23</c:v>
                  </c:pt>
                  <c:pt idx="3">
                    <c:v>2023/24</c:v>
                  </c:pt>
                  <c:pt idx="4">
                    <c:v>2024/25</c:v>
                  </c:pt>
                  <c:pt idx="5">
                    <c:v>2025/26</c:v>
                  </c:pt>
                </c:lvl>
              </c:multiLvlStrCache>
            </c:multiLvlStrRef>
          </c:cat>
          <c:val>
            <c:numRef>
              <c:f>Sheet1!$C$2:$C$7</c:f>
              <c:numCache>
                <c:formatCode>General</c:formatCode>
                <c:ptCount val="6"/>
                <c:pt idx="0">
                  <c:v>0</c:v>
                </c:pt>
                <c:pt idx="1">
                  <c:v>0</c:v>
                </c:pt>
                <c:pt idx="2">
                  <c:v>0</c:v>
                </c:pt>
                <c:pt idx="3">
                  <c:v>8.64</c:v>
                </c:pt>
                <c:pt idx="4">
                  <c:v>8.28</c:v>
                </c:pt>
                <c:pt idx="5">
                  <c:v>7.44</c:v>
                </c:pt>
              </c:numCache>
            </c:numRef>
          </c:val>
        </c:ser>
        <c:dLbls>
          <c:numFmt formatCode="0.0;;;"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Rows handled per rule action, full load</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2A78D6"/>
            </a:solidFill>
            <a:effectLst/>
          </c:spPr>
          <c:invertIfNegative val="0"/>
          <c:dLbls>
            <c:numFmt formatCode="#,##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Sheet1!$A$2:$A$8</c:f>
              <c:multiLvlStrCache>
                <c:ptCount val="7"/>
                <c:lvl>
                  <c:pt idx="0">
                    <c:v>CORRECT</c:v>
                  </c:pt>
                  <c:pt idx="1">
                    <c:v>MAP</c:v>
                  </c:pt>
                  <c:pt idx="2">
                    <c:v>REJECT</c:v>
                  </c:pt>
                  <c:pt idx="3">
                    <c:v>FLAG</c:v>
                  </c:pt>
                  <c:pt idx="4">
                    <c:v>MERGE</c:v>
                  </c:pt>
                  <c:pt idx="5">
                    <c:v>INFER</c:v>
                  </c:pt>
                  <c:pt idx="6">
                    <c:v>IMPUTE</c:v>
                  </c:pt>
                </c:lvl>
              </c:multiLvlStrCache>
            </c:multiLvlStrRef>
          </c:cat>
          <c:val>
            <c:numRef>
              <c:f>Sheet1!$B$2:$B$8</c:f>
              <c:numCache>
                <c:formatCode>General</c:formatCode>
                <c:ptCount val="7"/>
                <c:pt idx="0">
                  <c:v>5312</c:v>
                </c:pt>
                <c:pt idx="1">
                  <c:v>4783</c:v>
                </c:pt>
                <c:pt idx="2">
                  <c:v>2765</c:v>
                </c:pt>
                <c:pt idx="3">
                  <c:v>2710</c:v>
                </c:pt>
                <c:pt idx="4">
                  <c:v>2091</c:v>
                </c:pt>
                <c:pt idx="5">
                  <c:v>694</c:v>
                </c:pt>
                <c:pt idx="6">
                  <c:v>382</c:v>
                </c:pt>
              </c:numCache>
            </c:numRef>
          </c:val>
        </c:ser>
        <c:dLbls>
          <c:numFmt formatCode="#,##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Monthly net revenue, N$ million</a:t>
            </a:r>
          </a:p>
        </c:rich>
      </c:tx>
      <c:layout/>
      <c:overlay val="0"/>
    </c:title>
    <c:autoTitleDeleted val="0"/>
    <c:plotArea>
      <c:layout/>
      <c:lineChart>
        <c:varyColors val="0"/>
        <c:ser>
          <c:idx val="0"/>
          <c:order val="0"/>
          <c:tx>
            <c:strRef>
              <c:f>Sheet1!$B$1</c:f>
              <c:strCache>
                <c:ptCount val="1"/>
                <c:pt idx="0">
                  <c:v>Actual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52514E"/>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Sheet1!$A$2:$A$79</c:f>
              <c:multiLvlStrCache>
                <c:ptCount val="78"/>
                <c:lvl>
                  <c:pt idx="0">
                    <c:v>2021-04</c:v>
                  </c:pt>
                  <c:pt idx="1">
                    <c:v>2021-05</c:v>
                  </c:pt>
                  <c:pt idx="2">
                    <c:v>2021-06</c:v>
                  </c:pt>
                  <c:pt idx="3">
                    <c:v>2021-07</c:v>
                  </c:pt>
                  <c:pt idx="4">
                    <c:v>2021-08</c:v>
                  </c:pt>
                  <c:pt idx="5">
                    <c:v>2021-09</c:v>
                  </c:pt>
                  <c:pt idx="6">
                    <c:v>2021-10</c:v>
                  </c:pt>
                  <c:pt idx="7">
                    <c:v>2021-11</c:v>
                  </c:pt>
                  <c:pt idx="8">
                    <c:v>2021-12</c:v>
                  </c:pt>
                  <c:pt idx="9">
                    <c:v>2022-01</c:v>
                  </c:pt>
                  <c:pt idx="10">
                    <c:v>2022-02</c:v>
                  </c:pt>
                  <c:pt idx="11">
                    <c:v>2022-03</c:v>
                  </c:pt>
                  <c:pt idx="12">
                    <c:v>2022-04</c:v>
                  </c:pt>
                  <c:pt idx="13">
                    <c:v>2022-05</c:v>
                  </c:pt>
                  <c:pt idx="14">
                    <c:v>2022-06</c:v>
                  </c:pt>
                  <c:pt idx="15">
                    <c:v>2022-07</c:v>
                  </c:pt>
                  <c:pt idx="16">
                    <c:v>2022-08</c:v>
                  </c:pt>
                  <c:pt idx="17">
                    <c:v>2022-09</c:v>
                  </c:pt>
                  <c:pt idx="18">
                    <c:v>2022-10</c:v>
                  </c:pt>
                  <c:pt idx="19">
                    <c:v>2022-11</c:v>
                  </c:pt>
                  <c:pt idx="20">
                    <c:v>2022-12</c:v>
                  </c:pt>
                  <c:pt idx="21">
                    <c:v>2023-01</c:v>
                  </c:pt>
                  <c:pt idx="22">
                    <c:v>2023-02</c:v>
                  </c:pt>
                  <c:pt idx="23">
                    <c:v>2023-03</c:v>
                  </c:pt>
                  <c:pt idx="24">
                    <c:v>2023-04</c:v>
                  </c:pt>
                  <c:pt idx="25">
                    <c:v>2023-05</c:v>
                  </c:pt>
                  <c:pt idx="26">
                    <c:v>2023-06</c:v>
                  </c:pt>
                  <c:pt idx="27">
                    <c:v>2023-07</c:v>
                  </c:pt>
                  <c:pt idx="28">
                    <c:v>2023-08</c:v>
                  </c:pt>
                  <c:pt idx="29">
                    <c:v>2023-09</c:v>
                  </c:pt>
                  <c:pt idx="30">
                    <c:v>2023-10</c:v>
                  </c:pt>
                  <c:pt idx="31">
                    <c:v>2023-11</c:v>
                  </c:pt>
                  <c:pt idx="32">
                    <c:v>2023-12</c:v>
                  </c:pt>
                  <c:pt idx="33">
                    <c:v>2024-01</c:v>
                  </c:pt>
                  <c:pt idx="34">
                    <c:v>2024-02</c:v>
                  </c:pt>
                  <c:pt idx="35">
                    <c:v>2024-03</c:v>
                  </c:pt>
                  <c:pt idx="36">
                    <c:v>2024-04</c:v>
                  </c:pt>
                  <c:pt idx="37">
                    <c:v>2024-05</c:v>
                  </c:pt>
                  <c:pt idx="38">
                    <c:v>2024-06</c:v>
                  </c:pt>
                  <c:pt idx="39">
                    <c:v>2024-07</c:v>
                  </c:pt>
                  <c:pt idx="40">
                    <c:v>2024-08</c:v>
                  </c:pt>
                  <c:pt idx="41">
                    <c:v>2024-09</c:v>
                  </c:pt>
                  <c:pt idx="42">
                    <c:v>2024-10</c:v>
                  </c:pt>
                  <c:pt idx="43">
                    <c:v>2024-11</c:v>
                  </c:pt>
                  <c:pt idx="44">
                    <c:v>2024-12</c:v>
                  </c:pt>
                  <c:pt idx="45">
                    <c:v>2025-01</c:v>
                  </c:pt>
                  <c:pt idx="46">
                    <c:v>2025-02</c:v>
                  </c:pt>
                  <c:pt idx="47">
                    <c:v>2025-03</c:v>
                  </c:pt>
                  <c:pt idx="48">
                    <c:v>2025-04</c:v>
                  </c:pt>
                  <c:pt idx="49">
                    <c:v>2025-05</c:v>
                  </c:pt>
                  <c:pt idx="50">
                    <c:v>2025-06</c:v>
                  </c:pt>
                  <c:pt idx="51">
                    <c:v>2025-07</c:v>
                  </c:pt>
                  <c:pt idx="52">
                    <c:v>2025-08</c:v>
                  </c:pt>
                  <c:pt idx="53">
                    <c:v>2025-09</c:v>
                  </c:pt>
                  <c:pt idx="54">
                    <c:v>2025-10</c:v>
                  </c:pt>
                  <c:pt idx="55">
                    <c:v>2025-11</c:v>
                  </c:pt>
                  <c:pt idx="56">
                    <c:v>2025-12</c:v>
                  </c:pt>
                  <c:pt idx="57">
                    <c:v>2026-01</c:v>
                  </c:pt>
                  <c:pt idx="58">
                    <c:v>2026-02</c:v>
                  </c:pt>
                  <c:pt idx="59">
                    <c:v>2026-03</c:v>
                  </c:pt>
                  <c:pt idx="60">
                    <c:v>2026-04</c:v>
                  </c:pt>
                  <c:pt idx="61">
                    <c:v>2026-05</c:v>
                  </c:pt>
                  <c:pt idx="62">
                    <c:v>2026-06</c:v>
                  </c:pt>
                  <c:pt idx="63">
                    <c:v>2026-07</c:v>
                  </c:pt>
                  <c:pt idx="64">
                    <c:v>2026-08</c:v>
                  </c:pt>
                  <c:pt idx="65">
                    <c:v>2026-09</c:v>
                  </c:pt>
                  <c:pt idx="66">
                    <c:v>2026-10</c:v>
                  </c:pt>
                  <c:pt idx="67">
                    <c:v>2026-11</c:v>
                  </c:pt>
                  <c:pt idx="68">
                    <c:v>2026-12</c:v>
                  </c:pt>
                  <c:pt idx="69">
                    <c:v>2027-01</c:v>
                  </c:pt>
                  <c:pt idx="70">
                    <c:v>2027-02</c:v>
                  </c:pt>
                  <c:pt idx="71">
                    <c:v>2027-03</c:v>
                  </c:pt>
                  <c:pt idx="72">
                    <c:v>2027-04</c:v>
                  </c:pt>
                  <c:pt idx="73">
                    <c:v>2027-05</c:v>
                  </c:pt>
                  <c:pt idx="74">
                    <c:v>2027-06</c:v>
                  </c:pt>
                  <c:pt idx="75">
                    <c:v>2027-07</c:v>
                  </c:pt>
                  <c:pt idx="76">
                    <c:v>2027-08</c:v>
                  </c:pt>
                  <c:pt idx="77">
                    <c:v>2027-09</c:v>
                  </c:pt>
                </c:lvl>
              </c:multiLvlStrCache>
            </c:multiLvlStrRef>
          </c:cat>
          <c:val>
            <c:numRef>
              <c:f>Sheet1!$B$2:$B$79</c:f>
              <c:numCache>
                <c:formatCode>General</c:formatCode>
                <c:ptCount val="78"/>
                <c:pt idx="0">
                  <c:v>7.41</c:v>
                </c:pt>
                <c:pt idx="1">
                  <c:v>22.79</c:v>
                </c:pt>
                <c:pt idx="2">
                  <c:v>23.41</c:v>
                </c:pt>
                <c:pt idx="3">
                  <c:v>13.55</c:v>
                </c:pt>
                <c:pt idx="4">
                  <c:v>13.35</c:v>
                </c:pt>
                <c:pt idx="5">
                  <c:v>23.2</c:v>
                </c:pt>
                <c:pt idx="6">
                  <c:v>21.46</c:v>
                </c:pt>
                <c:pt idx="7">
                  <c:v>45.66</c:v>
                </c:pt>
                <c:pt idx="8">
                  <c:v>148.28</c:v>
                </c:pt>
                <c:pt idx="9">
                  <c:v>24.2</c:v>
                </c:pt>
                <c:pt idx="10">
                  <c:v>7.62</c:v>
                </c:pt>
                <c:pt idx="11">
                  <c:v>4.58</c:v>
                </c:pt>
                <c:pt idx="12">
                  <c:v>6.75</c:v>
                </c:pt>
                <c:pt idx="13">
                  <c:v>22.48</c:v>
                </c:pt>
                <c:pt idx="14">
                  <c:v>24.37</c:v>
                </c:pt>
                <c:pt idx="15">
                  <c:v>14.99</c:v>
                </c:pt>
                <c:pt idx="16">
                  <c:v>17.96</c:v>
                </c:pt>
                <c:pt idx="17">
                  <c:v>23.95</c:v>
                </c:pt>
                <c:pt idx="18">
                  <c:v>17.39</c:v>
                </c:pt>
                <c:pt idx="19">
                  <c:v>35.59</c:v>
                </c:pt>
                <c:pt idx="20">
                  <c:v>145.51</c:v>
                </c:pt>
                <c:pt idx="21">
                  <c:v>48.6</c:v>
                </c:pt>
                <c:pt idx="22">
                  <c:v>9.92</c:v>
                </c:pt>
                <c:pt idx="23">
                  <c:v>4.67</c:v>
                </c:pt>
                <c:pt idx="24">
                  <c:v>8.42</c:v>
                </c:pt>
                <c:pt idx="25">
                  <c:v>16.85</c:v>
                </c:pt>
                <c:pt idx="26">
                  <c:v>26.22</c:v>
                </c:pt>
                <c:pt idx="27">
                  <c:v>12.88</c:v>
                </c:pt>
                <c:pt idx="28">
                  <c:v>22.9</c:v>
                </c:pt>
                <c:pt idx="29">
                  <c:v>18.24</c:v>
                </c:pt>
                <c:pt idx="30">
                  <c:v>16.96</c:v>
                </c:pt>
                <c:pt idx="31">
                  <c:v>56.85</c:v>
                </c:pt>
                <c:pt idx="32">
                  <c:v>138.53</c:v>
                </c:pt>
                <c:pt idx="33">
                  <c:v>51.73</c:v>
                </c:pt>
                <c:pt idx="34">
                  <c:v>7.31</c:v>
                </c:pt>
                <c:pt idx="35">
                  <c:v>4.63</c:v>
                </c:pt>
                <c:pt idx="36">
                  <c:v>7.31</c:v>
                </c:pt>
                <c:pt idx="37">
                  <c:v>25.22</c:v>
                </c:pt>
                <c:pt idx="38">
                  <c:v>28.26</c:v>
                </c:pt>
                <c:pt idx="39">
                  <c:v>14.46</c:v>
                </c:pt>
                <c:pt idx="40">
                  <c:v>18.53</c:v>
                </c:pt>
                <c:pt idx="41">
                  <c:v>22.76</c:v>
                </c:pt>
                <c:pt idx="42">
                  <c:v>15.65</c:v>
                </c:pt>
                <c:pt idx="43">
                  <c:v>64.84</c:v>
                </c:pt>
                <c:pt idx="44">
                  <c:v>168.48</c:v>
                </c:pt>
                <c:pt idx="45">
                  <c:v>42.02</c:v>
                </c:pt>
                <c:pt idx="46">
                  <c:v>8.32</c:v>
                </c:pt>
                <c:pt idx="47">
                  <c:v>3.54</c:v>
                </c:pt>
                <c:pt idx="48">
                  <c:v>8.9</c:v>
                </c:pt>
                <c:pt idx="49">
                  <c:v>25.91</c:v>
                </c:pt>
                <c:pt idx="50">
                  <c:v>28.34</c:v>
                </c:pt>
                <c:pt idx="51">
                  <c:v>16.75</c:v>
                </c:pt>
                <c:pt idx="52">
                  <c:v>12.38</c:v>
                </c:pt>
                <c:pt idx="53">
                  <c:v>24.35</c:v>
                </c:pt>
                <c:pt idx="54">
                  <c:v>22.71</c:v>
                </c:pt>
                <c:pt idx="55">
                  <c:v>71.91</c:v>
                </c:pt>
                <c:pt idx="56">
                  <c:v>181.73</c:v>
                </c:pt>
                <c:pt idx="57">
                  <c:v>50.25</c:v>
                </c:pt>
                <c:pt idx="58">
                  <c:v>11.46</c:v>
                </c:pt>
                <c:pt idx="59">
                  <c:v>4.09</c:v>
                </c:pt>
                <c:pt idx="60">
                  <c:v>7.86</c:v>
                </c:pt>
                <c:pt idx="61">
                  <c:v>21.73</c:v>
                </c:pt>
                <c:pt idx="62">
                  <c:v>29.04</c:v>
                </c:pt>
                <c:pt idx="63">
                  <c:v>16.28</c:v>
                </c:pt>
                <c:pt idx="64">
                  <c:v>25.05</c:v>
                </c:pt>
                <c:pt idx="65">
                  <c:v>23.53</c:v>
                </c:pt>
                <c:pt idx="66">
                  <c:v/>
                </c:pt>
                <c:pt idx="67">
                  <c:v/>
                </c:pt>
                <c:pt idx="68">
                  <c:v/>
                </c:pt>
                <c:pt idx="69">
                  <c:v/>
                </c:pt>
                <c:pt idx="70">
                  <c:v/>
                </c:pt>
                <c:pt idx="71">
                  <c:v/>
                </c:pt>
                <c:pt idx="72">
                  <c:v/>
                </c:pt>
                <c:pt idx="73">
                  <c:v/>
                </c:pt>
                <c:pt idx="74">
                  <c:v/>
                </c:pt>
                <c:pt idx="75">
                  <c:v/>
                </c:pt>
                <c:pt idx="76">
                  <c:v/>
                </c:pt>
                <c:pt idx="77">
                  <c:v/>
                </c:pt>
              </c:numCache>
            </c:numRef>
          </c:val>
          <c:smooth val="0"/>
        </c:ser>
        <c:ser>
          <c:idx val="1"/>
          <c:order val="1"/>
          <c:tx>
            <c:strRef>
              <c:f>Sheet1!$C$1</c:f>
              <c:strCache>
                <c:ptCount val="1"/>
                <c:pt idx="0">
                  <c:v>Forecast (seasonal naive)</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000" u="none">
                    <a:solidFill>
                      <a:srgbClr val="52514E"/>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Sheet1!$A$2:$A$79</c:f>
              <c:multiLvlStrCache>
                <c:ptCount val="78"/>
                <c:lvl>
                  <c:pt idx="0">
                    <c:v>2021-04</c:v>
                  </c:pt>
                  <c:pt idx="1">
                    <c:v>2021-05</c:v>
                  </c:pt>
                  <c:pt idx="2">
                    <c:v>2021-06</c:v>
                  </c:pt>
                  <c:pt idx="3">
                    <c:v>2021-07</c:v>
                  </c:pt>
                  <c:pt idx="4">
                    <c:v>2021-08</c:v>
                  </c:pt>
                  <c:pt idx="5">
                    <c:v>2021-09</c:v>
                  </c:pt>
                  <c:pt idx="6">
                    <c:v>2021-10</c:v>
                  </c:pt>
                  <c:pt idx="7">
                    <c:v>2021-11</c:v>
                  </c:pt>
                  <c:pt idx="8">
                    <c:v>2021-12</c:v>
                  </c:pt>
                  <c:pt idx="9">
                    <c:v>2022-01</c:v>
                  </c:pt>
                  <c:pt idx="10">
                    <c:v>2022-02</c:v>
                  </c:pt>
                  <c:pt idx="11">
                    <c:v>2022-03</c:v>
                  </c:pt>
                  <c:pt idx="12">
                    <c:v>2022-04</c:v>
                  </c:pt>
                  <c:pt idx="13">
                    <c:v>2022-05</c:v>
                  </c:pt>
                  <c:pt idx="14">
                    <c:v>2022-06</c:v>
                  </c:pt>
                  <c:pt idx="15">
                    <c:v>2022-07</c:v>
                  </c:pt>
                  <c:pt idx="16">
                    <c:v>2022-08</c:v>
                  </c:pt>
                  <c:pt idx="17">
                    <c:v>2022-09</c:v>
                  </c:pt>
                  <c:pt idx="18">
                    <c:v>2022-10</c:v>
                  </c:pt>
                  <c:pt idx="19">
                    <c:v>2022-11</c:v>
                  </c:pt>
                  <c:pt idx="20">
                    <c:v>2022-12</c:v>
                  </c:pt>
                  <c:pt idx="21">
                    <c:v>2023-01</c:v>
                  </c:pt>
                  <c:pt idx="22">
                    <c:v>2023-02</c:v>
                  </c:pt>
                  <c:pt idx="23">
                    <c:v>2023-03</c:v>
                  </c:pt>
                  <c:pt idx="24">
                    <c:v>2023-04</c:v>
                  </c:pt>
                  <c:pt idx="25">
                    <c:v>2023-05</c:v>
                  </c:pt>
                  <c:pt idx="26">
                    <c:v>2023-06</c:v>
                  </c:pt>
                  <c:pt idx="27">
                    <c:v>2023-07</c:v>
                  </c:pt>
                  <c:pt idx="28">
                    <c:v>2023-08</c:v>
                  </c:pt>
                  <c:pt idx="29">
                    <c:v>2023-09</c:v>
                  </c:pt>
                  <c:pt idx="30">
                    <c:v>2023-10</c:v>
                  </c:pt>
                  <c:pt idx="31">
                    <c:v>2023-11</c:v>
                  </c:pt>
                  <c:pt idx="32">
                    <c:v>2023-12</c:v>
                  </c:pt>
                  <c:pt idx="33">
                    <c:v>2024-01</c:v>
                  </c:pt>
                  <c:pt idx="34">
                    <c:v>2024-02</c:v>
                  </c:pt>
                  <c:pt idx="35">
                    <c:v>2024-03</c:v>
                  </c:pt>
                  <c:pt idx="36">
                    <c:v>2024-04</c:v>
                  </c:pt>
                  <c:pt idx="37">
                    <c:v>2024-05</c:v>
                  </c:pt>
                  <c:pt idx="38">
                    <c:v>2024-06</c:v>
                  </c:pt>
                  <c:pt idx="39">
                    <c:v>2024-07</c:v>
                  </c:pt>
                  <c:pt idx="40">
                    <c:v>2024-08</c:v>
                  </c:pt>
                  <c:pt idx="41">
                    <c:v>2024-09</c:v>
                  </c:pt>
                  <c:pt idx="42">
                    <c:v>2024-10</c:v>
                  </c:pt>
                  <c:pt idx="43">
                    <c:v>2024-11</c:v>
                  </c:pt>
                  <c:pt idx="44">
                    <c:v>2024-12</c:v>
                  </c:pt>
                  <c:pt idx="45">
                    <c:v>2025-01</c:v>
                  </c:pt>
                  <c:pt idx="46">
                    <c:v>2025-02</c:v>
                  </c:pt>
                  <c:pt idx="47">
                    <c:v>2025-03</c:v>
                  </c:pt>
                  <c:pt idx="48">
                    <c:v>2025-04</c:v>
                  </c:pt>
                  <c:pt idx="49">
                    <c:v>2025-05</c:v>
                  </c:pt>
                  <c:pt idx="50">
                    <c:v>2025-06</c:v>
                  </c:pt>
                  <c:pt idx="51">
                    <c:v>2025-07</c:v>
                  </c:pt>
                  <c:pt idx="52">
                    <c:v>2025-08</c:v>
                  </c:pt>
                  <c:pt idx="53">
                    <c:v>2025-09</c:v>
                  </c:pt>
                  <c:pt idx="54">
                    <c:v>2025-10</c:v>
                  </c:pt>
                  <c:pt idx="55">
                    <c:v>2025-11</c:v>
                  </c:pt>
                  <c:pt idx="56">
                    <c:v>2025-12</c:v>
                  </c:pt>
                  <c:pt idx="57">
                    <c:v>2026-01</c:v>
                  </c:pt>
                  <c:pt idx="58">
                    <c:v>2026-02</c:v>
                  </c:pt>
                  <c:pt idx="59">
                    <c:v>2026-03</c:v>
                  </c:pt>
                  <c:pt idx="60">
                    <c:v>2026-04</c:v>
                  </c:pt>
                  <c:pt idx="61">
                    <c:v>2026-05</c:v>
                  </c:pt>
                  <c:pt idx="62">
                    <c:v>2026-06</c:v>
                  </c:pt>
                  <c:pt idx="63">
                    <c:v>2026-07</c:v>
                  </c:pt>
                  <c:pt idx="64">
                    <c:v>2026-08</c:v>
                  </c:pt>
                  <c:pt idx="65">
                    <c:v>2026-09</c:v>
                  </c:pt>
                  <c:pt idx="66">
                    <c:v>2026-10</c:v>
                  </c:pt>
                  <c:pt idx="67">
                    <c:v>2026-11</c:v>
                  </c:pt>
                  <c:pt idx="68">
                    <c:v>2026-12</c:v>
                  </c:pt>
                  <c:pt idx="69">
                    <c:v>2027-01</c:v>
                  </c:pt>
                  <c:pt idx="70">
                    <c:v>2027-02</c:v>
                  </c:pt>
                  <c:pt idx="71">
                    <c:v>2027-03</c:v>
                  </c:pt>
                  <c:pt idx="72">
                    <c:v>2027-04</c:v>
                  </c:pt>
                  <c:pt idx="73">
                    <c:v>2027-05</c:v>
                  </c:pt>
                  <c:pt idx="74">
                    <c:v>2027-06</c:v>
                  </c:pt>
                  <c:pt idx="75">
                    <c:v>2027-07</c:v>
                  </c:pt>
                  <c:pt idx="76">
                    <c:v>2027-08</c:v>
                  </c:pt>
                  <c:pt idx="77">
                    <c:v>2027-09</c:v>
                  </c:pt>
                </c:lvl>
              </c:multiLvlStrCache>
            </c:multiLvlStrRef>
          </c:cat>
          <c:val>
            <c:numRef>
              <c:f>Sheet1!$C$2:$C$79</c:f>
              <c:numCache>
                <c:formatCode>General</c:formatCode>
                <c:ptCount val="78"/>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23.53</c:v>
                </c:pt>
                <c:pt idx="66">
                  <c:v>22.71</c:v>
                </c:pt>
                <c:pt idx="67">
                  <c:v>71.91</c:v>
                </c:pt>
                <c:pt idx="68">
                  <c:v>181.73</c:v>
                </c:pt>
                <c:pt idx="69">
                  <c:v>50.25</c:v>
                </c:pt>
                <c:pt idx="70">
                  <c:v>11.46</c:v>
                </c:pt>
                <c:pt idx="71">
                  <c:v>4.09</c:v>
                </c:pt>
                <c:pt idx="72">
                  <c:v>7.86</c:v>
                </c:pt>
                <c:pt idx="73">
                  <c:v>21.73</c:v>
                </c:pt>
                <c:pt idx="74">
                  <c:v>29.04</c:v>
                </c:pt>
                <c:pt idx="75">
                  <c:v>16.28</c:v>
                </c:pt>
                <c:pt idx="76">
                  <c:v>25.05</c:v>
                </c:pt>
                <c:pt idx="77">
                  <c:v>23.53</c:v>
                </c:pt>
              </c:numCache>
            </c:numRef>
          </c:val>
          <c:smooth val="0"/>
        </c:ser>
        <c:dLbls>
          <c:numFmt formatCode="#,##0" sourceLinked="0"/>
          <c:txPr>
            <a:bodyPr/>
            <a:lstStyle/>
            <a:p>
              <a:pPr>
                <a:defRPr b="0" i="0" strike="noStrike" sz="1000" u="none">
                  <a:solidFill>
                    <a:srgbClr val="52514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tickLblSkip val="12"/>
      </c:catAx>
      <c:valAx>
        <c:axId val="2094734552"/>
        <c:scaling>
          <c:orientation val="minMax"/>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Customer segments (K-means, k = 5)</a:t>
            </a:r>
          </a:p>
        </c:rich>
      </c:tx>
      <c:layout/>
      <c:overlay val="0"/>
    </c:title>
    <c:autoTitleDeleted val="0"/>
    <c:plotArea>
      <c:layout/>
      <c:barChart>
        <c:barDir val="bar"/>
        <c:grouping val="clustered"/>
        <c:varyColors val="0"/>
        <c:ser>
          <c:idx val="0"/>
          <c:order val="0"/>
          <c:tx>
            <c:strRef>
              <c:f>Sheet1!$B$1</c:f>
              <c:strCache>
                <c:ptCount val="1"/>
                <c:pt idx="0">
                  <c:v>Share of 12-month revenue</c:v>
                </c:pt>
              </c:strCache>
            </c:strRef>
          </c:tx>
          <c:spPr>
            <a:solidFill>
              <a:srgbClr val="2A78D6"/>
            </a:solidFill>
            <a:effectLst/>
          </c:spPr>
          <c:invertIfNegative val="0"/>
          <c:dLbls>
            <c:numFmt formatCode="0.0&quot;%&quot;"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Bulk &amp; export key accounts (20)</c:v>
                  </c:pt>
                  <c:pt idx="1">
                    <c:v>High-frequency small-basket buyers (73)</c:v>
                  </c:pt>
                  <c:pt idx="2">
                    <c:v>Wholesale regulars (34)</c:v>
                  </c:pt>
                  <c:pt idx="3">
                    <c:v>Regular small-basket buyers (94)</c:v>
                  </c:pt>
                  <c:pt idx="4">
                    <c:v>Lapsed / at-risk accounts (19)</c:v>
                  </c:pt>
                </c:lvl>
              </c:multiLvlStrCache>
            </c:multiLvlStrRef>
          </c:cat>
          <c:val>
            <c:numRef>
              <c:f>Sheet1!$B$2:$B$6</c:f>
              <c:numCache>
                <c:formatCode>General</c:formatCode>
                <c:ptCount val="5"/>
                <c:pt idx="0">
                  <c:v>58.6</c:v>
                </c:pt>
                <c:pt idx="1">
                  <c:v>24.5</c:v>
                </c:pt>
                <c:pt idx="2">
                  <c:v>13.9</c:v>
                </c:pt>
                <c:pt idx="3">
                  <c:v>3</c:v>
                </c:pt>
                <c:pt idx="4">
                  <c:v>0</c:v>
                </c:pt>
              </c:numCache>
            </c:numRef>
          </c:val>
        </c:ser>
        <c:dLbls>
          <c:numFmt formatCode="0.0&quot;%&quot;"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White maize yield, t/ha (completed cycles)</a:t>
            </a:r>
          </a:p>
        </c:rich>
      </c:tx>
      <c:layout/>
      <c:overlay val="0"/>
    </c:title>
    <c:autoTitleDeleted val="0"/>
    <c:plotArea>
      <c:layout/>
      <c:barChart>
        <c:barDir val="col"/>
        <c:grouping val="clustered"/>
        <c:varyColors val="0"/>
        <c:ser>
          <c:idx val="0"/>
          <c:order val="0"/>
          <c:tx>
            <c:strRef>
              <c:f>Sheet1!$B$1</c:f>
              <c:strCache>
                <c:ptCount val="1"/>
                <c:pt idx="0">
                  <c:v>Irrigated</c:v>
                </c:pt>
              </c:strCache>
            </c:strRef>
          </c:tx>
          <c:spPr>
            <a:solidFill>
              <a:srgbClr val="2A78D6"/>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Sheet1!$A$2:$A$7</c:f>
              <c:multiLvlStrCache>
                <c:ptCount val="6"/>
                <c:lvl>
                  <c:pt idx="0">
                    <c:v>2020/21</c:v>
                  </c:pt>
                  <c:pt idx="1">
                    <c:v>2021/22</c:v>
                  </c:pt>
                  <c:pt idx="2">
                    <c:v>2022/23</c:v>
                  </c:pt>
                  <c:pt idx="3">
                    <c:v>2023/24</c:v>
                  </c:pt>
                  <c:pt idx="4">
                    <c:v>2024/25</c:v>
                  </c:pt>
                  <c:pt idx="5">
                    <c:v>2025/26</c:v>
                  </c:pt>
                </c:lvl>
              </c:multiLvlStrCache>
            </c:multiLvlStrRef>
          </c:cat>
          <c:val>
            <c:numRef>
              <c:f>Sheet1!$B$2:$B$7</c:f>
              <c:numCache>
                <c:formatCode>General</c:formatCode>
                <c:ptCount val="6"/>
                <c:pt idx="0">
                  <c:v>8.76</c:v>
                </c:pt>
                <c:pt idx="1">
                  <c:v>9.23</c:v>
                </c:pt>
                <c:pt idx="2">
                  <c:v>8.36</c:v>
                </c:pt>
                <c:pt idx="3">
                  <c:v>8.59</c:v>
                </c:pt>
                <c:pt idx="4">
                  <c:v>8.68</c:v>
                </c:pt>
                <c:pt idx="5">
                  <c:v>8.28</c:v>
                </c:pt>
              </c:numCache>
            </c:numRef>
          </c:val>
        </c:ser>
        <c:ser>
          <c:idx val="1"/>
          <c:order val="1"/>
          <c:tx>
            <c:strRef>
              <c:f>Sheet1!$C$1</c:f>
              <c:strCache>
                <c:ptCount val="1"/>
                <c:pt idx="0">
                  <c:v>Dryland</c:v>
                </c:pt>
              </c:strCache>
            </c:strRef>
          </c:tx>
          <c:spPr>
            <a:solidFill>
              <a:srgbClr val="EB6834"/>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Sheet1!$A$2:$A$7</c:f>
              <c:multiLvlStrCache>
                <c:ptCount val="6"/>
                <c:lvl>
                  <c:pt idx="0">
                    <c:v>2020/21</c:v>
                  </c:pt>
                  <c:pt idx="1">
                    <c:v>2021/22</c:v>
                  </c:pt>
                  <c:pt idx="2">
                    <c:v>2022/23</c:v>
                  </c:pt>
                  <c:pt idx="3">
                    <c:v>2023/24</c:v>
                  </c:pt>
                  <c:pt idx="4">
                    <c:v>2024/25</c:v>
                  </c:pt>
                  <c:pt idx="5">
                    <c:v>2025/26</c:v>
                  </c:pt>
                </c:lvl>
              </c:multiLvlStrCache>
            </c:multiLvlStrRef>
          </c:cat>
          <c:val>
            <c:numRef>
              <c:f>Sheet1!$C$2:$C$7</c:f>
              <c:numCache>
                <c:formatCode>General</c:formatCode>
                <c:ptCount val="6"/>
                <c:pt idx="0">
                  <c:v>3.71</c:v>
                </c:pt>
                <c:pt idx="1">
                  <c:v>3.79</c:v>
                </c:pt>
                <c:pt idx="2">
                  <c:v>3.21</c:v>
                </c:pt>
                <c:pt idx="3">
                  <c:v>3.07</c:v>
                </c:pt>
                <c:pt idx="4">
                  <c:v>4.82</c:v>
                </c:pt>
                <c:pt idx="5">
                  <c:v>3.78</c:v>
                </c:pt>
              </c:numCache>
            </c:numRef>
          </c:val>
        </c:ser>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Warehouse query latency, ms (median of 7 runs, log scale)</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EB6834"/>
            </a:solidFill>
            <a:effectLst/>
          </c:spPr>
          <c:invertIfNegative val="0"/>
          <c:dLbls>
            <c:numFmt formatCode="#,##0" sourceLinked="0"/>
            <c:txPr>
              <a:bodyPr/>
              <a:lstStyle/>
              <a:p>
                <a:pPr>
                  <a:defRPr b="0" i="0" strike="noStrike" sz="1000" u="none">
                    <a:solidFill>
                      <a:srgbClr val="52514E"/>
                    </a:solidFill>
                    <a:latin typeface="+mn-lt"/>
                  </a:defRPr>
                </a:pPr>
              </a:p>
            </c:txPr>
            <c:showLegendKey val="0"/>
            <c:showVal val="0"/>
            <c:showCatName val="0"/>
            <c:showSerName val="0"/>
            <c:showPercent val="0"/>
            <c:showBubbleSize val="0"/>
            <c:showLeaderLines val="0"/>
          </c:dLbls>
          <c:cat>
            <c:multiLvlStrRef>
              <c:f>Sheet1!$A$2:$A$7</c:f>
              <c:multiLvlStrCache>
                <c:ptCount val="6"/>
                <c:lvl>
                  <c:pt idx="0">
                    <c:v>Q1 by category</c:v>
                  </c:pt>
                  <c:pt idx="1">
                    <c:v>Q2 slicer</c:v>
                  </c:pt>
                  <c:pt idx="2">
                    <c:v>Q3 top-10</c:v>
                  </c:pt>
                  <c:pt idx="3">
                    <c:v>Q4 drill-through</c:v>
                  </c:pt>
                  <c:pt idx="4">
                    <c:v>Q5 refresh window</c:v>
                  </c:pt>
                  <c:pt idx="5">
                    <c:v>Q6 aggregate</c:v>
                  </c:pt>
                </c:lvl>
              </c:multiLvlStrCache>
            </c:multiLvlStrRef>
          </c:cat>
          <c:val>
            <c:numRef>
              <c:f>Sheet1!$B$2:$B$7</c:f>
              <c:numCache>
                <c:formatCode>General</c:formatCode>
                <c:ptCount val="6"/>
                <c:pt idx="0">
                  <c:v>31.82</c:v>
                </c:pt>
                <c:pt idx="1">
                  <c:v>18.45</c:v>
                </c:pt>
                <c:pt idx="2">
                  <c:v>20.79</c:v>
                </c:pt>
                <c:pt idx="3">
                  <c:v>15.74</c:v>
                </c:pt>
                <c:pt idx="4">
                  <c:v>14.71</c:v>
                </c:pt>
                <c:pt idx="5">
                  <c:v>99.29</c:v>
                </c:pt>
              </c:numCache>
            </c:numRef>
          </c:val>
        </c:ser>
        <c:ser>
          <c:idx val="1"/>
          <c:order val="1"/>
          <c:tx>
            <c:strRef>
              <c:f>Sheet1!$C$1</c:f>
              <c:strCache>
                <c:ptCount val="1"/>
                <c:pt idx="0">
                  <c:v>Optimised</c:v>
                </c:pt>
              </c:strCache>
            </c:strRef>
          </c:tx>
          <c:spPr>
            <a:solidFill>
              <a:srgbClr val="2A78D6"/>
            </a:solidFill>
            <a:effectLst/>
          </c:spPr>
          <c:invertIfNegative val="0"/>
          <c:dLbls>
            <c:numFmt formatCode="#,##0" sourceLinked="0"/>
            <c:txPr>
              <a:bodyPr/>
              <a:lstStyle/>
              <a:p>
                <a:pPr>
                  <a:defRPr b="0" i="0" strike="noStrike" sz="1000" u="none">
                    <a:solidFill>
                      <a:srgbClr val="52514E"/>
                    </a:solidFill>
                    <a:latin typeface="+mn-lt"/>
                  </a:defRPr>
                </a:pPr>
              </a:p>
            </c:txPr>
            <c:showLegendKey val="0"/>
            <c:showVal val="0"/>
            <c:showCatName val="0"/>
            <c:showSerName val="0"/>
            <c:showPercent val="0"/>
            <c:showBubbleSize val="0"/>
            <c:showLeaderLines val="0"/>
          </c:dLbls>
          <c:cat>
            <c:multiLvlStrRef>
              <c:f>Sheet1!$A$2:$A$7</c:f>
              <c:multiLvlStrCache>
                <c:ptCount val="6"/>
                <c:lvl>
                  <c:pt idx="0">
                    <c:v>Q1 by category</c:v>
                  </c:pt>
                  <c:pt idx="1">
                    <c:v>Q2 slicer</c:v>
                  </c:pt>
                  <c:pt idx="2">
                    <c:v>Q3 top-10</c:v>
                  </c:pt>
                  <c:pt idx="3">
                    <c:v>Q4 drill-through</c:v>
                  </c:pt>
                  <c:pt idx="4">
                    <c:v>Q5 refresh window</c:v>
                  </c:pt>
                  <c:pt idx="5">
                    <c:v>Q6 aggregate</c:v>
                  </c:pt>
                </c:lvl>
              </c:multiLvlStrCache>
            </c:multiLvlStrRef>
          </c:cat>
          <c:val>
            <c:numRef>
              <c:f>Sheet1!$C$2:$C$7</c:f>
              <c:numCache>
                <c:formatCode>General</c:formatCode>
                <c:ptCount val="6"/>
                <c:pt idx="0">
                  <c:v>27.34</c:v>
                </c:pt>
                <c:pt idx="1">
                  <c:v>4.75</c:v>
                </c:pt>
                <c:pt idx="2">
                  <c:v>6.43</c:v>
                </c:pt>
                <c:pt idx="3">
                  <c:v>0.04</c:v>
                </c:pt>
                <c:pt idx="4">
                  <c:v>1.18</c:v>
                </c:pt>
                <c:pt idx="5">
                  <c:v>5.95</c:v>
                </c:pt>
              </c:numCache>
            </c:numRef>
          </c:val>
        </c:ser>
        <c:dLbls>
          <c:numFmt formatCode="#,##0" sourceLinked="0"/>
          <c:txPr>
            <a:bodyPr/>
            <a:lstStyle/>
            <a:p>
              <a:pPr>
                <a:defRPr b="0" i="0" strike="noStrike" sz="1000" u="none">
                  <a:solidFill>
                    <a:srgbClr val="52514E"/>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logBase val="10"/>
          <c:orientation val="minMax"/>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(0:00-0:30). Good morning. We are the consulting team engaged by Green Basket cc's Agriculture Division. In ten minutes we show how we turned nine disconnected data sources into one trusted view - and what that view tells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(0:30-1:30). Production data sits in 14 farm spreadsheets in three layouts; sales in the ERP; stock and cost in two more systems; plus four external sources. Profiling quantified the damage: 2,587 duplicate invoice lines from overlapping extracts, 47 spellings of 10 crops, and keying errors of ten times the real quantity. Management consolidated this in Excel and got numbers that disagreed.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(1:30-2:00). Five business questions, each tied to a strategic objective and to KPIs with explicit definitions. Every page of the dashboard answers one or two of these questions - nothing on a page exists without a question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(2:00-2:45). Extract, load, then transform inside PostgreSQL. Raw files land unchanged as text with file and row, so any number is traceable. Cleansed staging applies 37 rules; the dimensional layer holds 9 facts and 9 conformed dimensions; mart views feed Power BI. One command rebuilds everything in about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(2:45-3:45). Nine fact tables at declared grains share Date, Farm, Region and Crop. We snowflaked Product to Crop to Category because six facts are recorded per crop, not per product - one Crop table keeps them conformed. Farms and customers are SCD Type 2. The chart is why: Nkurenkuru Valley installed a pivot in August 2023. Because each season links to the farm version valid at planting, dryland and pivot seasons stay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(3:45-4:45). Because our internal data is synthetic, the generator logged every defect it injected - so we could measure our rules. 236 of 237 bad records caught, no false positives. The validation also caught two real bugs in our own pipeline: a median that included the outlier it was testing, and pandas turning Namibia's country code NA into a null. Row counts would never have shown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(4:45-5:15). Nineteen checks run after every load - eighteen pass; the warning is N$ 4.9 million of mispriced invoices that sales must credit. Every rule has an owner. Security is layered: least-privilege database roles, row-level security, app audiences and a Confidential sensitivity label. We hold no personal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(5:15-6:00). Import mode: 303 thousand rows compress to about 11 megabytes; incremental refresh re-reads ten days. 79 measures with descriptions and folders. One example: our year-to-date comparison stops at the same day last year - otherwise a half year is compared with a full year. Row-level security maps each zone manager to their zone from a warehouse table; the expected totals per identity come from SQL, and the test in Desktop must match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(6:00-7:30). Demo path: (1) Executive page with FY2026 - revenue N$ 458.8 million, up 9.4 percent. (2) Drill the trend into quarters - the October-December grape window carries 60 percent of the year. (3) Production page - expand Region to Farm, right-click a farm, drill through. (4) Modeling, View as zm.northcentral - four farms, N$ 62.7 million. If the live demo fails, use backup slides 14 to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(7:30-8:15). We tested three forecasting models on a 12-month hold-out. The simple seasonal benchmark won at division level with 12.7 percent weighted error: this business repeats its seasons. FY2027 lands near N$ 466 million, plus 1.5 percent - below the 8 percent growth objective. K-means found five customer segments; 20 key accounts earn 59 percent of revenue, so concentration risk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(8:15-8:45). Irrigated maize yields 8 to 9 tonnes a hectare every season; dryland swings with rain - 3.1 in the 2023/24 drought, 4.8 in the good 2024/25 season. Our fixed-effects regression recovers the true rainfall elasticity of 0.77, which validates the whole chain from ETL to drill-across. A pivot is worth about N$ 16,000 per hectare per season in margin. And for keying errors, our domain rule beats an unsupervised Isolation Forest - the forest is useful only for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(8:45-9:15). Five techniques: B-tree, BRIN and covering indexes; a monthly aggregate table; removing unused and high-cardinality columns; incremental refresh with query folding; and DAX patterns that avoid iterators. The numbers on the right are measured. Power BI-side timings are captured with Performance Analyzer and DAX Studio in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(9:15-10:00). Four recommendations, each traced to evidence in the warehouse. Irrigate maize where water rights allow. Reduce concentration. Run the data-quality process weekly. Publish the app with row-level security. Thank you - we welcome your questions; each of us will answer on the part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demo: design mock-up rendered from warehouse data (replace with the Desktop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demo: design mock-up rendered from warehouse data (replace with the Desktop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demo: design mock-up rendered from warehouse data (replace with the Desktop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B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nvSpPr>
        <p:spPr>
          <a:xfrm>
            <a:off x="731520" y="6035040"/>
            <a:ext cx="10698480" cy="365760"/>
          </a:xfrm>
          <a:prstGeom prst="rect">
            <a:avLst/>
          </a:prstGeom>
          <a:noFill/>
          <a:ln/>
        </p:spPr>
        <p:txBody>
          <a:bodyPr wrap="square" rtlCol="0" anchor="ctr"/>
          <a:lstStyle/>
          <a:p>
            <a:pPr indent="0" marL="0">
              <a:buNone/>
            </a:pPr>
            <a:r>
              <a:rPr lang="en-US" sz="1200" dirty="0">
                <a:solidFill>
                  <a:schemeClr val="bg2"/>
                </a:solidFill>
              </a:rPr>
              <a:t>ABI820S Advanced Business Intelligence and Analytics | NUST | 28 October 2026</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B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tx1"/>
                </a:solidFill>
              </a:rPr>
              <a:t>Green Basket cc - Agriculture Division | ABI820S group project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B_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nchor="b"/>
          <a:lstStyle/>
          <a:p>
            <a:pPr algn="l" indent="0" marL="0">
              <a:buNone/>
            </a:pPr>
            <a:r>
              <a:rPr lang="en-US" sz="4000" b="1" dirty="0">
                <a:solidFill>
                  <a:schemeClr val="bg1"/>
                </a:solidFill>
              </a:rPr>
              <a:t>Green Basket cc: one trusted view of production, yield, cost and revenue</a:t>
            </a:r>
            <a:endParaRPr lang="en-US" sz="4000" dirty="0"/>
          </a:p>
        </p:txBody>
      </p:sp>
      <p:sp>
        <p:nvSpPr>
          <p:cNvPr id="3" name="Text 0"/>
          <p:cNvSpPr/>
          <p:nvPr>
            <p:ph idx="101" type="body" hasCustomPrompt="1"/>
          </p:nvPr>
        </p:nvSpPr>
        <p:spPr>
          <a:xfrm>
            <a:off x="731520" y="3657600"/>
            <a:ext cx="10698480" cy="1188720"/>
          </a:xfrm>
          <a:prstGeom prst="rect">
            <a:avLst/>
          </a:prstGeom>
          <a:noFill/>
          <a:ln/>
        </p:spPr>
        <p:txBody>
          <a:bodyPr wrap="square" rtlCol="0" anchor="t"/>
          <a:lstStyle/>
          <a:p>
            <a:pPr algn="l" indent="0" marL="0">
              <a:buNone/>
            </a:pPr>
            <a:r>
              <a:rPr lang="en-US" sz="2000" dirty="0">
                <a:solidFill>
                  <a:schemeClr val="bg2"/>
                </a:solidFill>
              </a:rPr>
              <a:t>End-to-end BI solution for the Agriculture Division - data warehouse, ELT, Power BI, advanced analytics and governance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Nine sources, no single truth</a:t>
            </a:r>
            <a:endParaRPr lang="en-US" sz="2800" dirty="0"/>
          </a:p>
        </p:txBody>
      </p:sp>
      <p:sp>
        <p:nvSpPr>
          <p:cNvPr id="3" name="source card 1"/>
          <p:cNvSpPr/>
          <p:nvPr/>
        </p:nvSpPr>
        <p:spPr>
          <a:xfrm>
            <a:off x="548640" y="1280160"/>
            <a:ext cx="2423160" cy="146304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685800" y="138988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S1 Farm harvest logs</a:t>
            </a:r>
            <a:endParaRPr lang="en-US" sz="1400" dirty="0"/>
          </a:p>
          <a:p>
            <a:pPr indent="0" marL="0">
              <a:buNone/>
            </a:pPr>
            <a:r>
              <a:rPr lang="en-US" sz="1400" dirty="0">
                <a:solidFill>
                  <a:schemeClr val="tx1"/>
                </a:solidFill>
              </a:rPr>
              <a:t>14 files, 3 layouts, 3 date formats, x10 keying errors</a:t>
            </a:r>
            <a:endParaRPr lang="en-US" sz="1400" dirty="0"/>
          </a:p>
        </p:txBody>
      </p:sp>
      <p:sp>
        <p:nvSpPr>
          <p:cNvPr id="5" name="source card 2"/>
          <p:cNvSpPr/>
          <p:nvPr/>
        </p:nvSpPr>
        <p:spPr>
          <a:xfrm>
            <a:off x="3154680" y="1280160"/>
            <a:ext cx="2423160" cy="1463040"/>
          </a:xfrm>
          <a:prstGeom prst="roundRect">
            <a:avLst>
              <a:gd name="adj" fmla="val 5000"/>
            </a:avLst>
          </a:prstGeom>
          <a:solidFill>
            <a:schemeClr val="bg2"/>
          </a:solidFill>
          <a:ln w="12700">
            <a:solidFill>
              <a:schemeClr val="bg2"/>
            </a:solidFill>
            <a:prstDash val="solid"/>
          </a:ln>
        </p:spPr>
      </p:sp>
      <p:sp>
        <p:nvSpPr>
          <p:cNvPr id="6" name="Text 4"/>
          <p:cNvSpPr txBox="1"/>
          <p:nvPr/>
        </p:nvSpPr>
        <p:spPr>
          <a:xfrm>
            <a:off x="3291840" y="138988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S2 Master data</a:t>
            </a:r>
            <a:endParaRPr lang="en-US" sz="1400" dirty="0"/>
          </a:p>
          <a:p>
            <a:pPr indent="0" marL="0">
              <a:buNone/>
            </a:pPr>
            <a:r>
              <a:rPr lang="en-US" sz="1400" dirty="0">
                <a:solidFill>
                  <a:schemeClr val="tx1"/>
                </a:solidFill>
              </a:rPr>
              <a:t>18 region spellings, 3 duplicate customers, 'NA' read as null</a:t>
            </a:r>
            <a:endParaRPr lang="en-US" sz="1400" dirty="0"/>
          </a:p>
        </p:txBody>
      </p:sp>
      <p:sp>
        <p:nvSpPr>
          <p:cNvPr id="7" name="source card 3"/>
          <p:cNvSpPr/>
          <p:nvPr/>
        </p:nvSpPr>
        <p:spPr>
          <a:xfrm>
            <a:off x="5760720" y="1280160"/>
            <a:ext cx="2423160" cy="1463040"/>
          </a:xfrm>
          <a:prstGeom prst="roundRect">
            <a:avLst>
              <a:gd name="adj" fmla="val 5000"/>
            </a:avLst>
          </a:prstGeom>
          <a:solidFill>
            <a:schemeClr val="bg2"/>
          </a:solidFill>
          <a:ln w="12700">
            <a:solidFill>
              <a:schemeClr val="bg2"/>
            </a:solidFill>
            <a:prstDash val="solid"/>
          </a:ln>
        </p:spPr>
      </p:sp>
      <p:sp>
        <p:nvSpPr>
          <p:cNvPr id="8" name="Text 6"/>
          <p:cNvSpPr txBox="1"/>
          <p:nvPr/>
        </p:nvSpPr>
        <p:spPr>
          <a:xfrm>
            <a:off x="5897880" y="138988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S3 ERP invoices</a:t>
            </a:r>
            <a:endParaRPr lang="en-US" sz="1400" dirty="0"/>
          </a:p>
          <a:p>
            <a:pPr indent="0" marL="0">
              <a:buNone/>
            </a:pPr>
            <a:r>
              <a:rPr lang="en-US" sz="1400" dirty="0">
                <a:solidFill>
                  <a:schemeClr val="tx1"/>
                </a:solidFill>
              </a:rPr>
              <a:t>2,587 duplicate lines from overlapping extracts</a:t>
            </a:r>
            <a:endParaRPr lang="en-US" sz="1400" dirty="0"/>
          </a:p>
        </p:txBody>
      </p:sp>
      <p:sp>
        <p:nvSpPr>
          <p:cNvPr id="9" name="source card 4"/>
          <p:cNvSpPr/>
          <p:nvPr/>
        </p:nvSpPr>
        <p:spPr>
          <a:xfrm>
            <a:off x="548640" y="2926080"/>
            <a:ext cx="2423160" cy="1463040"/>
          </a:xfrm>
          <a:prstGeom prst="roundRect">
            <a:avLst>
              <a:gd name="adj" fmla="val 5000"/>
            </a:avLst>
          </a:prstGeom>
          <a:solidFill>
            <a:schemeClr val="bg2"/>
          </a:solidFill>
          <a:ln w="12700">
            <a:solidFill>
              <a:schemeClr val="bg2"/>
            </a:solidFill>
            <a:prstDash val="solid"/>
          </a:ln>
        </p:spPr>
      </p:sp>
      <p:sp>
        <p:nvSpPr>
          <p:cNvPr id="10" name="Text 8"/>
          <p:cNvSpPr txBox="1"/>
          <p:nvPr/>
        </p:nvSpPr>
        <p:spPr>
          <a:xfrm>
            <a:off x="685800" y="303580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S4 Stock system</a:t>
            </a:r>
            <a:endParaRPr lang="en-US" sz="1400" dirty="0"/>
          </a:p>
          <a:p>
            <a:pPr indent="0" marL="0">
              <a:buNone/>
            </a:pPr>
            <a:r>
              <a:rPr lang="en-US" sz="1400" dirty="0">
                <a:solidFill>
                  <a:schemeClr val="tx1"/>
                </a:solidFill>
              </a:rPr>
              <a:t>Negative balances and missing months</a:t>
            </a:r>
            <a:endParaRPr lang="en-US" sz="1400" dirty="0"/>
          </a:p>
        </p:txBody>
      </p:sp>
      <p:sp>
        <p:nvSpPr>
          <p:cNvPr id="11" name="source card 5"/>
          <p:cNvSpPr/>
          <p:nvPr/>
        </p:nvSpPr>
        <p:spPr>
          <a:xfrm>
            <a:off x="3154680" y="2926080"/>
            <a:ext cx="2423160" cy="1463040"/>
          </a:xfrm>
          <a:prstGeom prst="roundRect">
            <a:avLst>
              <a:gd name="adj" fmla="val 5000"/>
            </a:avLst>
          </a:prstGeom>
          <a:solidFill>
            <a:schemeClr val="bg2"/>
          </a:solidFill>
          <a:ln w="12700">
            <a:solidFill>
              <a:schemeClr val="bg2"/>
            </a:solidFill>
            <a:prstDash val="solid"/>
          </a:ln>
        </p:spPr>
      </p:sp>
      <p:sp>
        <p:nvSpPr>
          <p:cNvPr id="12" name="Text 10"/>
          <p:cNvSpPr txBox="1"/>
          <p:nvPr/>
        </p:nvSpPr>
        <p:spPr>
          <a:xfrm>
            <a:off x="3291840" y="303580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S5 Cost ledger</a:t>
            </a:r>
            <a:endParaRPr lang="en-US" sz="1400" dirty="0"/>
          </a:p>
          <a:p>
            <a:pPr indent="0" marL="0">
              <a:buNone/>
            </a:pPr>
            <a:r>
              <a:rPr lang="en-US" sz="1400" dirty="0">
                <a:solidFill>
                  <a:schemeClr val="tx1"/>
                </a:solidFill>
              </a:rPr>
              <a:t>47 category spellings, amounts stored as text</a:t>
            </a:r>
            <a:endParaRPr lang="en-US" sz="1400" dirty="0"/>
          </a:p>
        </p:txBody>
      </p:sp>
      <p:sp>
        <p:nvSpPr>
          <p:cNvPr id="13" name="source card 6"/>
          <p:cNvSpPr/>
          <p:nvPr/>
        </p:nvSpPr>
        <p:spPr>
          <a:xfrm>
            <a:off x="5760720" y="2926080"/>
            <a:ext cx="2423160" cy="1463040"/>
          </a:xfrm>
          <a:prstGeom prst="roundRect">
            <a:avLst>
              <a:gd name="adj" fmla="val 5000"/>
            </a:avLst>
          </a:prstGeom>
          <a:solidFill>
            <a:schemeClr val="bg2"/>
          </a:solidFill>
          <a:ln w="12700">
            <a:solidFill>
              <a:schemeClr val="bg2"/>
            </a:solidFill>
            <a:prstDash val="solid"/>
          </a:ln>
        </p:spPr>
      </p:sp>
      <p:sp>
        <p:nvSpPr>
          <p:cNvPr id="14" name="Text 12"/>
          <p:cNvSpPr txBox="1"/>
          <p:nvPr/>
        </p:nvSpPr>
        <p:spPr>
          <a:xfrm>
            <a:off x="5897880" y="303580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S6 NASA POWER weather</a:t>
            </a:r>
            <a:endParaRPr lang="en-US" sz="1400" dirty="0"/>
          </a:p>
          <a:p>
            <a:pPr indent="0" marL="0">
              <a:buNone/>
            </a:pPr>
            <a:r>
              <a:rPr lang="en-US" sz="1400" dirty="0">
                <a:solidFill>
                  <a:schemeClr val="tx1"/>
                </a:solidFill>
              </a:rPr>
              <a:t>-999 fill values, 3-day latency</a:t>
            </a:r>
            <a:endParaRPr lang="en-US" sz="1400" dirty="0"/>
          </a:p>
        </p:txBody>
      </p:sp>
      <p:sp>
        <p:nvSpPr>
          <p:cNvPr id="15" name="source card 7"/>
          <p:cNvSpPr/>
          <p:nvPr/>
        </p:nvSpPr>
        <p:spPr>
          <a:xfrm>
            <a:off x="548640" y="4572000"/>
            <a:ext cx="2423160" cy="1463040"/>
          </a:xfrm>
          <a:prstGeom prst="roundRect">
            <a:avLst>
              <a:gd name="adj" fmla="val 5000"/>
            </a:avLst>
          </a:prstGeom>
          <a:solidFill>
            <a:schemeClr val="bg2"/>
          </a:solidFill>
          <a:ln w="12700">
            <a:solidFill>
              <a:schemeClr val="bg2"/>
            </a:solidFill>
            <a:prstDash val="solid"/>
          </a:ln>
        </p:spPr>
      </p:sp>
      <p:sp>
        <p:nvSpPr>
          <p:cNvPr id="16" name="Text 14"/>
          <p:cNvSpPr txBox="1"/>
          <p:nvPr/>
        </p:nvSpPr>
        <p:spPr>
          <a:xfrm>
            <a:off x="685800" y="468172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S7 World Bank prices</a:t>
            </a:r>
            <a:endParaRPr lang="en-US" sz="1400" dirty="0"/>
          </a:p>
          <a:p>
            <a:pPr indent="0" marL="0">
              <a:buNone/>
            </a:pPr>
            <a:r>
              <a:rPr lang="en-US" sz="1400" dirty="0">
                <a:solidFill>
                  <a:schemeClr val="tx1"/>
                </a:solidFill>
              </a:rPr>
              <a:t>Wide sheet, '...' missing markers</a:t>
            </a:r>
            <a:endParaRPr lang="en-US" sz="1400" dirty="0"/>
          </a:p>
        </p:txBody>
      </p:sp>
      <p:sp>
        <p:nvSpPr>
          <p:cNvPr id="17" name="source card 8"/>
          <p:cNvSpPr/>
          <p:nvPr/>
        </p:nvSpPr>
        <p:spPr>
          <a:xfrm>
            <a:off x="3154680" y="4572000"/>
            <a:ext cx="2423160" cy="1463040"/>
          </a:xfrm>
          <a:prstGeom prst="roundRect">
            <a:avLst>
              <a:gd name="adj" fmla="val 5000"/>
            </a:avLst>
          </a:prstGeom>
          <a:solidFill>
            <a:schemeClr val="bg2"/>
          </a:solidFill>
          <a:ln w="12700">
            <a:solidFill>
              <a:schemeClr val="bg2"/>
            </a:solidFill>
            <a:prstDash val="solid"/>
          </a:ln>
        </p:spPr>
      </p:sp>
      <p:sp>
        <p:nvSpPr>
          <p:cNvPr id="18" name="Text 16"/>
          <p:cNvSpPr txBox="1"/>
          <p:nvPr/>
        </p:nvSpPr>
        <p:spPr>
          <a:xfrm>
            <a:off x="3291840" y="468172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S8 FRED exchange rates</a:t>
            </a:r>
            <a:endParaRPr lang="en-US" sz="1400" dirty="0"/>
          </a:p>
          <a:p>
            <a:pPr indent="0" marL="0">
              <a:buNone/>
            </a:pPr>
            <a:r>
              <a:rPr lang="en-US" sz="1400" dirty="0">
                <a:solidFill>
                  <a:schemeClr val="tx1"/>
                </a:solidFill>
              </a:rPr>
              <a:t>Blank observations on US holidays</a:t>
            </a:r>
            <a:endParaRPr lang="en-US" sz="1400" dirty="0"/>
          </a:p>
        </p:txBody>
      </p:sp>
      <p:sp>
        <p:nvSpPr>
          <p:cNvPr id="19" name="source card 9"/>
          <p:cNvSpPr/>
          <p:nvPr/>
        </p:nvSpPr>
        <p:spPr>
          <a:xfrm>
            <a:off x="5760720" y="4572000"/>
            <a:ext cx="2423160" cy="1463040"/>
          </a:xfrm>
          <a:prstGeom prst="roundRect">
            <a:avLst>
              <a:gd name="adj" fmla="val 5000"/>
            </a:avLst>
          </a:prstGeom>
          <a:solidFill>
            <a:schemeClr val="bg2"/>
          </a:solidFill>
          <a:ln w="12700">
            <a:solidFill>
              <a:schemeClr val="bg2"/>
            </a:solidFill>
            <a:prstDash val="solid"/>
          </a:ln>
        </p:spPr>
      </p:sp>
      <p:sp>
        <p:nvSpPr>
          <p:cNvPr id="20" name="Text 18"/>
          <p:cNvSpPr txBox="1"/>
          <p:nvPr/>
        </p:nvSpPr>
        <p:spPr>
          <a:xfrm>
            <a:off x="5897880" y="4681728"/>
            <a:ext cx="2148840" cy="1280160"/>
          </a:xfrm>
          <a:prstGeom prst="rect">
            <a:avLst/>
          </a:prstGeom>
          <a:noFill/>
          <a:ln/>
        </p:spPr>
        <p:txBody>
          <a:bodyPr wrap="square" lIns="0" tIns="0" rIns="0" bIns="0" rtlCol="0" anchor="t"/>
          <a:lstStyle/>
          <a:p>
            <a:pPr indent="0" marL="0">
              <a:buNone/>
            </a:pPr>
            <a:r>
              <a:rPr lang="en-US" sz="1400" b="1" dirty="0">
                <a:solidFill>
                  <a:schemeClr val="tx2"/>
                </a:solidFill>
              </a:rPr>
              <a:t>S9 NSA crop estimates</a:t>
            </a:r>
            <a:endParaRPr lang="en-US" sz="1400" dirty="0"/>
          </a:p>
          <a:p>
            <a:pPr indent="0" marL="0">
              <a:buNone/>
            </a:pPr>
            <a:r>
              <a:rPr lang="en-US" sz="1400" dirty="0">
                <a:solidFill>
                  <a:schemeClr val="tx1"/>
                </a:solidFill>
              </a:rPr>
              <a:t>Region names off the official list</a:t>
            </a:r>
            <a:endParaRPr lang="en-US" sz="1400" dirty="0"/>
          </a:p>
        </p:txBody>
      </p:sp>
      <p:sp>
        <p:nvSpPr>
          <p:cNvPr id="21" name="Text 19"/>
          <p:cNvSpPr txBox="1"/>
          <p:nvPr/>
        </p:nvSpPr>
        <p:spPr>
          <a:xfrm>
            <a:off x="8595360" y="1280160"/>
            <a:ext cx="30175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2,587</a:t>
            </a:r>
            <a:endParaRPr lang="en-US" sz="4000" dirty="0"/>
          </a:p>
        </p:txBody>
      </p:sp>
      <p:sp>
        <p:nvSpPr>
          <p:cNvPr id="22" name="Text 20"/>
          <p:cNvSpPr txBox="1"/>
          <p:nvPr/>
        </p:nvSpPr>
        <p:spPr>
          <a:xfrm>
            <a:off x="8595360" y="2011680"/>
            <a:ext cx="3017520" cy="548640"/>
          </a:xfrm>
          <a:prstGeom prst="rect">
            <a:avLst/>
          </a:prstGeom>
          <a:noFill/>
          <a:ln/>
        </p:spPr>
        <p:txBody>
          <a:bodyPr wrap="square" lIns="0" tIns="0" rIns="0" bIns="0" rtlCol="0" anchor="t"/>
          <a:lstStyle/>
          <a:p>
            <a:pPr indent="0" marL="0">
              <a:buNone/>
            </a:pPr>
            <a:r>
              <a:rPr lang="en-US" sz="1400" dirty="0">
                <a:solidFill>
                  <a:schemeClr val="tx1"/>
                </a:solidFill>
              </a:rPr>
              <a:t>duplicate invoice lines would have inflated revenue</a:t>
            </a:r>
            <a:endParaRPr lang="en-US" sz="1400" dirty="0"/>
          </a:p>
        </p:txBody>
      </p:sp>
      <p:sp>
        <p:nvSpPr>
          <p:cNvPr id="23" name="Text 21"/>
          <p:cNvSpPr txBox="1"/>
          <p:nvPr/>
        </p:nvSpPr>
        <p:spPr>
          <a:xfrm>
            <a:off x="8595360" y="2926080"/>
            <a:ext cx="30175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47</a:t>
            </a:r>
            <a:endParaRPr lang="en-US" sz="4000" dirty="0"/>
          </a:p>
        </p:txBody>
      </p:sp>
      <p:sp>
        <p:nvSpPr>
          <p:cNvPr id="24" name="Text 22"/>
          <p:cNvSpPr txBox="1"/>
          <p:nvPr/>
        </p:nvSpPr>
        <p:spPr>
          <a:xfrm>
            <a:off x="8595360" y="3657600"/>
            <a:ext cx="3017520" cy="548640"/>
          </a:xfrm>
          <a:prstGeom prst="rect">
            <a:avLst/>
          </a:prstGeom>
          <a:noFill/>
          <a:ln/>
        </p:spPr>
        <p:txBody>
          <a:bodyPr wrap="square" lIns="0" tIns="0" rIns="0" bIns="0" rtlCol="0" anchor="t"/>
          <a:lstStyle/>
          <a:p>
            <a:pPr indent="0" marL="0">
              <a:buNone/>
            </a:pPr>
            <a:r>
              <a:rPr lang="en-US" sz="1400" dirty="0">
                <a:solidFill>
                  <a:schemeClr val="tx1"/>
                </a:solidFill>
              </a:rPr>
              <a:t>spellings of 10 crop names across logs and ledger</a:t>
            </a:r>
            <a:endParaRPr lang="en-US" sz="1400" dirty="0"/>
          </a:p>
        </p:txBody>
      </p:sp>
      <p:sp>
        <p:nvSpPr>
          <p:cNvPr id="25" name="Text 23"/>
          <p:cNvSpPr txBox="1"/>
          <p:nvPr/>
        </p:nvSpPr>
        <p:spPr>
          <a:xfrm>
            <a:off x="8595360" y="4572000"/>
            <a:ext cx="30175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x10</a:t>
            </a:r>
            <a:endParaRPr lang="en-US" sz="4000" dirty="0"/>
          </a:p>
        </p:txBody>
      </p:sp>
      <p:sp>
        <p:nvSpPr>
          <p:cNvPr id="26" name="Text 24"/>
          <p:cNvSpPr txBox="1"/>
          <p:nvPr/>
        </p:nvSpPr>
        <p:spPr>
          <a:xfrm>
            <a:off x="8595360" y="5303520"/>
            <a:ext cx="3017520" cy="548640"/>
          </a:xfrm>
          <a:prstGeom prst="rect">
            <a:avLst/>
          </a:prstGeom>
          <a:noFill/>
          <a:ln/>
        </p:spPr>
        <p:txBody>
          <a:bodyPr wrap="square" lIns="0" tIns="0" rIns="0" bIns="0" rtlCol="0" anchor="t"/>
          <a:lstStyle/>
          <a:p>
            <a:pPr indent="0" marL="0">
              <a:buNone/>
            </a:pPr>
            <a:r>
              <a:rPr lang="en-US" sz="1400" dirty="0">
                <a:solidFill>
                  <a:schemeClr val="tx1"/>
                </a:solidFill>
              </a:rPr>
              <a:t>harvest keying errors - up to 47 t/ha of maize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Five business questions, each answered by KPIs</a:t>
            </a:r>
            <a:endParaRPr lang="en-US" sz="2800" dirty="0"/>
          </a:p>
        </p:txBody>
      </p:sp>
      <p:sp>
        <p:nvSpPr>
          <p:cNvPr id="3" name="step 1"/>
          <p:cNvSpPr/>
          <p:nvPr/>
        </p:nvSpPr>
        <p:spPr>
          <a:xfrm>
            <a:off x="548640" y="1435608"/>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Text 2"/>
          <p:cNvSpPr txBox="1"/>
          <p:nvPr/>
        </p:nvSpPr>
        <p:spPr>
          <a:xfrm>
            <a:off x="1280160" y="1325880"/>
            <a:ext cx="10332720" cy="868680"/>
          </a:xfrm>
          <a:prstGeom prst="rect">
            <a:avLst/>
          </a:prstGeom>
          <a:noFill/>
          <a:ln/>
        </p:spPr>
        <p:txBody>
          <a:bodyPr wrap="square" lIns="0" tIns="0" rIns="0" bIns="0" rtlCol="0" anchor="t"/>
          <a:lstStyle/>
          <a:p>
            <a:pPr indent="0" marL="0">
              <a:buNone/>
            </a:pPr>
            <a:r>
              <a:rPr lang="en-US" sz="1800" b="1" dirty="0">
                <a:solidFill>
                  <a:schemeClr val="tx1"/>
                </a:solidFill>
              </a:rPr>
              <a:t>Which crops, channels, farms and customers drive revenue and margin?</a:t>
            </a:r>
            <a:endParaRPr lang="en-US" sz="1400" dirty="0"/>
          </a:p>
          <a:p>
            <a:pPr indent="0" marL="0">
              <a:buNone/>
            </a:pPr>
            <a:r>
              <a:rPr lang="en-US" sz="1400" dirty="0">
                <a:solidFill>
                  <a:schemeClr val="tx1"/>
                </a:solidFill>
              </a:rPr>
              <a:t>Net revenue, FYTD growth, gross margin %, export share</a:t>
            </a:r>
            <a:endParaRPr lang="en-US" sz="1400" dirty="0"/>
          </a:p>
        </p:txBody>
      </p:sp>
      <p:sp>
        <p:nvSpPr>
          <p:cNvPr id="5" name="step 2"/>
          <p:cNvSpPr/>
          <p:nvPr/>
        </p:nvSpPr>
        <p:spPr>
          <a:xfrm>
            <a:off x="548640" y="242316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6" name="Text 4"/>
          <p:cNvSpPr txBox="1"/>
          <p:nvPr/>
        </p:nvSpPr>
        <p:spPr>
          <a:xfrm>
            <a:off x="1280160" y="2313432"/>
            <a:ext cx="10332720" cy="868680"/>
          </a:xfrm>
          <a:prstGeom prst="rect">
            <a:avLst/>
          </a:prstGeom>
          <a:noFill/>
          <a:ln/>
        </p:spPr>
        <p:txBody>
          <a:bodyPr wrap="square" lIns="0" tIns="0" rIns="0" bIns="0" rtlCol="0" anchor="t"/>
          <a:lstStyle/>
          <a:p>
            <a:pPr indent="0" marL="0">
              <a:buNone/>
            </a:pPr>
            <a:r>
              <a:rPr lang="en-US" sz="1800" b="1" dirty="0">
                <a:solidFill>
                  <a:schemeClr val="tx1"/>
                </a:solidFill>
              </a:rPr>
              <a:t>How does yield compare with plan and the national benchmark - and why?</a:t>
            </a:r>
            <a:endParaRPr lang="en-US" sz="1400" dirty="0"/>
          </a:p>
          <a:p>
            <a:pPr indent="0" marL="0">
              <a:buNone/>
            </a:pPr>
            <a:r>
              <a:rPr lang="en-US" sz="1400" dirty="0">
                <a:solidFill>
                  <a:schemeClr val="tx1"/>
                </a:solidFill>
              </a:rPr>
              <a:t>Yield t/ha, yield vs plan, gap vs NSA, failed area</a:t>
            </a:r>
            <a:endParaRPr lang="en-US" sz="1400" dirty="0"/>
          </a:p>
        </p:txBody>
      </p:sp>
      <p:sp>
        <p:nvSpPr>
          <p:cNvPr id="7" name="step 3"/>
          <p:cNvSpPr/>
          <p:nvPr/>
        </p:nvSpPr>
        <p:spPr>
          <a:xfrm>
            <a:off x="548640" y="3410712"/>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8" name="Text 6"/>
          <p:cNvSpPr txBox="1"/>
          <p:nvPr/>
        </p:nvSpPr>
        <p:spPr>
          <a:xfrm>
            <a:off x="1280160" y="3300984"/>
            <a:ext cx="10332720" cy="868680"/>
          </a:xfrm>
          <a:prstGeom prst="rect">
            <a:avLst/>
          </a:prstGeom>
          <a:noFill/>
          <a:ln/>
        </p:spPr>
        <p:txBody>
          <a:bodyPr wrap="square" lIns="0" tIns="0" rIns="0" bIns="0" rtlCol="0" anchor="t"/>
          <a:lstStyle/>
          <a:p>
            <a:pPr indent="0" marL="0">
              <a:buNone/>
            </a:pPr>
            <a:r>
              <a:rPr lang="en-US" sz="1800" b="1" dirty="0">
                <a:solidFill>
                  <a:schemeClr val="tx1"/>
                </a:solidFill>
              </a:rPr>
              <a:t>What does a tonne cost to produce, by farm and crop?</a:t>
            </a:r>
            <a:endParaRPr lang="en-US" sz="1400" dirty="0"/>
          </a:p>
          <a:p>
            <a:pPr indent="0" marL="0">
              <a:buNone/>
            </a:pPr>
            <a:r>
              <a:rPr lang="en-US" sz="1400" dirty="0">
                <a:solidFill>
                  <a:schemeClr val="tx1"/>
                </a:solidFill>
              </a:rPr>
              <a:t>Direct cost per tonne, cost by category</a:t>
            </a:r>
            <a:endParaRPr lang="en-US" sz="1400" dirty="0"/>
          </a:p>
        </p:txBody>
      </p:sp>
      <p:sp>
        <p:nvSpPr>
          <p:cNvPr id="9" name="step 4"/>
          <p:cNvSpPr/>
          <p:nvPr/>
        </p:nvSpPr>
        <p:spPr>
          <a:xfrm>
            <a:off x="548640" y="4398264"/>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0" name="Text 8"/>
          <p:cNvSpPr txBox="1"/>
          <p:nvPr/>
        </p:nvSpPr>
        <p:spPr>
          <a:xfrm>
            <a:off x="1280160" y="4288536"/>
            <a:ext cx="10332720" cy="868680"/>
          </a:xfrm>
          <a:prstGeom prst="rect">
            <a:avLst/>
          </a:prstGeom>
          <a:noFill/>
          <a:ln/>
        </p:spPr>
        <p:txBody>
          <a:bodyPr wrap="square" lIns="0" tIns="0" rIns="0" bIns="0" rtlCol="0" anchor="t"/>
          <a:lstStyle/>
          <a:p>
            <a:pPr indent="0" marL="0">
              <a:buNone/>
            </a:pPr>
            <a:r>
              <a:rPr lang="en-US" sz="1800" b="1" dirty="0">
                <a:solidFill>
                  <a:schemeClr val="tx1"/>
                </a:solidFill>
              </a:rPr>
              <a:t>Which customers matter, how concentrated are we, what comes next?</a:t>
            </a:r>
            <a:endParaRPr lang="en-US" sz="1400" dirty="0"/>
          </a:p>
          <a:p>
            <a:pPr indent="0" marL="0">
              <a:buNone/>
            </a:pPr>
            <a:r>
              <a:rPr lang="en-US" sz="1400" dirty="0">
                <a:solidFill>
                  <a:schemeClr val="tx1"/>
                </a:solidFill>
              </a:rPr>
              <a:t>Top-10 share, segments, 12-month forecast with error</a:t>
            </a:r>
            <a:endParaRPr lang="en-US" sz="1400" dirty="0"/>
          </a:p>
        </p:txBody>
      </p:sp>
      <p:sp>
        <p:nvSpPr>
          <p:cNvPr id="11" name="step 5"/>
          <p:cNvSpPr/>
          <p:nvPr/>
        </p:nvSpPr>
        <p:spPr>
          <a:xfrm>
            <a:off x="548640" y="5385816"/>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2" name="Text 10"/>
          <p:cNvSpPr txBox="1"/>
          <p:nvPr/>
        </p:nvSpPr>
        <p:spPr>
          <a:xfrm>
            <a:off x="1280160" y="5276088"/>
            <a:ext cx="10332720" cy="868680"/>
          </a:xfrm>
          <a:prstGeom prst="rect">
            <a:avLst/>
          </a:prstGeom>
          <a:noFill/>
          <a:ln/>
        </p:spPr>
        <p:txBody>
          <a:bodyPr wrap="square" lIns="0" tIns="0" rIns="0" bIns="0" rtlCol="0" anchor="t"/>
          <a:lstStyle/>
          <a:p>
            <a:pPr indent="0" marL="0">
              <a:buNone/>
            </a:pPr>
            <a:r>
              <a:rPr lang="en-US" sz="1800" b="1" dirty="0">
                <a:solidFill>
                  <a:schemeClr val="tx1"/>
                </a:solidFill>
              </a:rPr>
              <a:t>Is stock under control - and can we trust the numbers?</a:t>
            </a:r>
            <a:endParaRPr lang="en-US" sz="1400" dirty="0"/>
          </a:p>
          <a:p>
            <a:pPr indent="0" marL="0">
              <a:buNone/>
            </a:pPr>
            <a:r>
              <a:rPr lang="en-US" sz="1400" dirty="0">
                <a:solidFill>
                  <a:schemeClr val="tx1"/>
                </a:solidFill>
              </a:rPr>
              <a:t>Closing stock, cover days, shrinkage, DQ and reconciliation status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ELT in PostgreSQL 16: from raw files to one semantic model</a:t>
            </a:r>
            <a:endParaRPr lang="en-US" sz="2800" dirty="0"/>
          </a:p>
        </p:txBody>
      </p:sp>
      <p:pic>
        <p:nvPicPr>
          <p:cNvPr id="3" name="Image 0" descr="Architecture: nine sources land in PostgreSQL staging, are cleansed and loaded into a star schema, exposed through mart views to the Power BI semantic model and report">    </p:cNvPr>
          <p:cNvPicPr>
            <a:picLocks noChangeAspect="1"/>
          </p:cNvPicPr>
          <p:nvPr/>
        </p:nvPicPr>
        <p:blipFill>
          <a:blip r:embed="rId1"/>
          <a:stretch>
            <a:fillRect/>
          </a:stretch>
        </p:blipFill>
        <p:spPr>
          <a:xfrm>
            <a:off x="548640" y="1234440"/>
            <a:ext cx="7040880" cy="5157216"/>
          </a:xfrm>
          <a:prstGeom prst="rect">
            <a:avLst/>
          </a:prstGeom>
        </p:spPr>
      </p:pic>
      <p:sp>
        <p:nvSpPr>
          <p:cNvPr id="4" name="step 1"/>
          <p:cNvSpPr/>
          <p:nvPr/>
        </p:nvSpPr>
        <p:spPr>
          <a:xfrm>
            <a:off x="8001000" y="146304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8686800" y="1417320"/>
            <a:ext cx="3017520" cy="1371600"/>
          </a:xfrm>
          <a:prstGeom prst="rect">
            <a:avLst/>
          </a:prstGeom>
          <a:noFill/>
          <a:ln/>
        </p:spPr>
        <p:txBody>
          <a:bodyPr wrap="square" lIns="0" tIns="0" rIns="0" bIns="0" rtlCol="0" anchor="t"/>
          <a:lstStyle/>
          <a:p>
            <a:pPr indent="0" marL="0">
              <a:buNone/>
            </a:pPr>
            <a:r>
              <a:rPr lang="en-US" sz="1800" b="1" dirty="0">
                <a:solidFill>
                  <a:schemeClr val="tx2"/>
                </a:solidFill>
              </a:rPr>
              <a:t>Lossless landing</a:t>
            </a:r>
            <a:endParaRPr lang="en-US" sz="1400" dirty="0"/>
          </a:p>
          <a:p>
            <a:pPr indent="0" marL="0">
              <a:buNone/>
            </a:pPr>
            <a:r>
              <a:rPr lang="en-US" sz="1400" dirty="0">
                <a:solidFill>
                  <a:schemeClr val="tx1"/>
                </a:solidFill>
              </a:rPr>
              <a:t>every warehouse figure traces back to a source file and row</a:t>
            </a:r>
            <a:endParaRPr lang="en-US" sz="1400" dirty="0"/>
          </a:p>
        </p:txBody>
      </p:sp>
      <p:sp>
        <p:nvSpPr>
          <p:cNvPr id="6" name="step 2"/>
          <p:cNvSpPr/>
          <p:nvPr/>
        </p:nvSpPr>
        <p:spPr>
          <a:xfrm>
            <a:off x="8001000" y="306324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8686800" y="3017520"/>
            <a:ext cx="3017520" cy="1371600"/>
          </a:xfrm>
          <a:prstGeom prst="rect">
            <a:avLst/>
          </a:prstGeom>
          <a:noFill/>
          <a:ln/>
        </p:spPr>
        <p:txBody>
          <a:bodyPr wrap="square" lIns="0" tIns="0" rIns="0" bIns="0" rtlCol="0" anchor="t"/>
          <a:lstStyle/>
          <a:p>
            <a:pPr indent="0" marL="0">
              <a:buNone/>
            </a:pPr>
            <a:r>
              <a:rPr lang="en-US" sz="1800" b="1" dirty="0">
                <a:solidFill>
                  <a:schemeClr val="tx2"/>
                </a:solidFill>
              </a:rPr>
              <a:t>37 DQ rules, 19 reconciliation checks</a:t>
            </a:r>
            <a:endParaRPr lang="en-US" sz="1400" dirty="0"/>
          </a:p>
          <a:p>
            <a:pPr indent="0" marL="0">
              <a:buNone/>
            </a:pPr>
            <a:r>
              <a:rPr lang="en-US" sz="1400" dirty="0">
                <a:solidFill>
                  <a:schemeClr val="tx1"/>
                </a:solidFill>
              </a:rPr>
              <a:t>run on every load; issues logged with owner</a:t>
            </a:r>
            <a:endParaRPr lang="en-US" sz="1400" dirty="0"/>
          </a:p>
        </p:txBody>
      </p:sp>
      <p:sp>
        <p:nvSpPr>
          <p:cNvPr id="8" name="step 3"/>
          <p:cNvSpPr/>
          <p:nvPr/>
        </p:nvSpPr>
        <p:spPr>
          <a:xfrm>
            <a:off x="8001000" y="466344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8686800" y="4617720"/>
            <a:ext cx="3017520" cy="1371600"/>
          </a:xfrm>
          <a:prstGeom prst="rect">
            <a:avLst/>
          </a:prstGeom>
          <a:noFill/>
          <a:ln/>
        </p:spPr>
        <p:txBody>
          <a:bodyPr wrap="square" lIns="0" tIns="0" rIns="0" bIns="0" rtlCol="0" anchor="t"/>
          <a:lstStyle/>
          <a:p>
            <a:pPr indent="0" marL="0">
              <a:buNone/>
            </a:pPr>
            <a:r>
              <a:rPr lang="en-US" sz="1800" b="1" dirty="0">
                <a:solidFill>
                  <a:schemeClr val="tx2"/>
                </a:solidFill>
              </a:rPr>
              <a:t>One command, about 3 minutes</a:t>
            </a:r>
            <a:endParaRPr lang="en-US" sz="1400" dirty="0"/>
          </a:p>
          <a:p>
            <a:pPr indent="0" marL="0">
              <a:buNone/>
            </a:pPr>
            <a:r>
              <a:rPr lang="en-US" sz="1400" dirty="0">
                <a:solidFill>
                  <a:schemeClr val="tx1"/>
                </a:solidFill>
              </a:rPr>
              <a:t>python run_all.py rebuilds data, model, evidence and backup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Nine stars, conformed dimensions, SCD2 history</a:t>
            </a:r>
            <a:endParaRPr lang="en-US" sz="2800" dirty="0"/>
          </a:p>
        </p:txBody>
      </p:sp>
      <p:pic>
        <p:nvPicPr>
          <p:cNvPr id="3" name="Image 0" descr="ERD of the sales and inventory stars with the snowflaked product to crop to category hierarchy">    </p:cNvPr>
          <p:cNvPicPr>
            <a:picLocks noChangeAspect="1"/>
          </p:cNvPicPr>
          <p:nvPr/>
        </p:nvPicPr>
        <p:blipFill>
          <a:blip r:embed="rId1"/>
          <a:stretch>
            <a:fillRect/>
          </a:stretch>
        </p:blipFill>
        <p:spPr>
          <a:xfrm>
            <a:off x="548640" y="1280160"/>
            <a:ext cx="5760720" cy="4005072"/>
          </a:xfrm>
          <a:prstGeom prst="rect">
            <a:avLst/>
          </a:prstGeom>
        </p:spPr>
      </p:pic>
      <p:sp>
        <p:nvSpPr>
          <p:cNvPr id="4" name="Text 1"/>
          <p:cNvSpPr txBox="1"/>
          <p:nvPr/>
        </p:nvSpPr>
        <p:spPr>
          <a:xfrm>
            <a:off x="548640" y="5440680"/>
            <a:ext cx="5760720" cy="822960"/>
          </a:xfrm>
          <a:prstGeom prst="rect">
            <a:avLst/>
          </a:prstGeom>
          <a:noFill/>
          <a:ln/>
        </p:spPr>
        <p:txBody>
          <a:bodyPr wrap="square" lIns="0" tIns="0" rIns="0" bIns="0" rtlCol="0" anchor="t"/>
          <a:lstStyle/>
          <a:p>
            <a:pPr indent="0" marL="0">
              <a:buNone/>
            </a:pPr>
            <a:r>
              <a:rPr lang="en-US" sz="1400" dirty="0">
                <a:solidFill>
                  <a:schemeClr val="tx1"/>
                </a:solidFill>
              </a:rPr>
              <a:t>Snowflake only where a level is itself a fact grain: six facts are recorded per crop, so Crop is a conformed dimension of its own.</a:t>
            </a:r>
            <a:endParaRPr lang="en-US" sz="1400" dirty="0"/>
          </a:p>
        </p:txBody>
      </p:sp>
      <p:graphicFrame>
        <p:nvGraphicFramePr>
          <p:cNvPr id="5" name="Chart 0" descr=""/>
          <p:cNvGraphicFramePr/>
          <p:nvPr/>
        </p:nvGraphicFramePr>
        <p:xfrm>
          <a:off x="6675120" y="1280160"/>
          <a:ext cx="4937760" cy="40233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675120" y="5440680"/>
            <a:ext cx="4937760" cy="822960"/>
          </a:xfrm>
          <a:prstGeom prst="rect">
            <a:avLst/>
          </a:prstGeom>
          <a:noFill/>
          <a:ln/>
        </p:spPr>
        <p:txBody>
          <a:bodyPr wrap="square" lIns="0" tIns="0" rIns="0" bIns="0" rtlCol="0" anchor="t"/>
          <a:lstStyle/>
          <a:p>
            <a:pPr indent="0" marL="0">
              <a:buNone/>
            </a:pPr>
            <a:r>
              <a:rPr lang="en-US" sz="1400" dirty="0">
                <a:solidFill>
                  <a:schemeClr val="tx1"/>
                </a:solidFill>
              </a:rPr>
              <a:t>With SCD Type 1, all six seasons would read 'Centre pivot' and the drought years would distort the pivot's record.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Data quality: 236 of 237 defects caught, 0 false positives</a:t>
            </a:r>
            <a:endParaRPr lang="en-US" sz="2800" dirty="0"/>
          </a:p>
        </p:txBody>
      </p:sp>
      <p:sp>
        <p:nvSpPr>
          <p:cNvPr id="3" name="Text 1"/>
          <p:cNvSpPr txBox="1"/>
          <p:nvPr/>
        </p:nvSpPr>
        <p:spPr>
          <a:xfrm>
            <a:off x="548640" y="1280160"/>
            <a:ext cx="292608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236 / 237</a:t>
            </a:r>
            <a:endParaRPr lang="en-US" sz="3600" dirty="0"/>
          </a:p>
        </p:txBody>
      </p:sp>
      <p:sp>
        <p:nvSpPr>
          <p:cNvPr id="4" name="Text 2"/>
          <p:cNvSpPr txBox="1"/>
          <p:nvPr/>
        </p:nvSpPr>
        <p:spPr>
          <a:xfrm>
            <a:off x="548640" y="2011680"/>
            <a:ext cx="2926080" cy="548640"/>
          </a:xfrm>
          <a:prstGeom prst="rect">
            <a:avLst/>
          </a:prstGeom>
          <a:noFill/>
          <a:ln/>
        </p:spPr>
        <p:txBody>
          <a:bodyPr wrap="square" lIns="0" tIns="0" rIns="0" bIns="0" rtlCol="0" anchor="t"/>
          <a:lstStyle/>
          <a:p>
            <a:pPr indent="0" marL="0">
              <a:buNone/>
            </a:pPr>
            <a:r>
              <a:rPr lang="en-US" sz="1400" dirty="0">
                <a:solidFill>
                  <a:schemeClr val="tx1"/>
                </a:solidFill>
              </a:rPr>
              <a:t>injected defect records found by the rules (synthetic ground truth)</a:t>
            </a:r>
            <a:endParaRPr lang="en-US" sz="1400" dirty="0"/>
          </a:p>
        </p:txBody>
      </p:sp>
      <p:sp>
        <p:nvSpPr>
          <p:cNvPr id="5" name="Text 3"/>
          <p:cNvSpPr txBox="1"/>
          <p:nvPr/>
        </p:nvSpPr>
        <p:spPr>
          <a:xfrm>
            <a:off x="548640" y="2834640"/>
            <a:ext cx="292608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0</a:t>
            </a:r>
            <a:endParaRPr lang="en-US" sz="3600" dirty="0"/>
          </a:p>
        </p:txBody>
      </p:sp>
      <p:sp>
        <p:nvSpPr>
          <p:cNvPr id="6" name="Text 4"/>
          <p:cNvSpPr txBox="1"/>
          <p:nvPr/>
        </p:nvSpPr>
        <p:spPr>
          <a:xfrm>
            <a:off x="548640" y="3566160"/>
            <a:ext cx="2926080" cy="548640"/>
          </a:xfrm>
          <a:prstGeom prst="rect">
            <a:avLst/>
          </a:prstGeom>
          <a:noFill/>
          <a:ln/>
        </p:spPr>
        <p:txBody>
          <a:bodyPr wrap="square" lIns="0" tIns="0" rIns="0" bIns="0" rtlCol="0" anchor="t"/>
          <a:lstStyle/>
          <a:p>
            <a:pPr indent="0" marL="0">
              <a:buNone/>
            </a:pPr>
            <a:r>
              <a:rPr lang="en-US" sz="1400" dirty="0">
                <a:solidFill>
                  <a:schemeClr val="tx1"/>
                </a:solidFill>
              </a:rPr>
              <a:t>false positives - no good record was changed</a:t>
            </a:r>
            <a:endParaRPr lang="en-US" sz="1400" dirty="0"/>
          </a:p>
        </p:txBody>
      </p:sp>
      <p:sp>
        <p:nvSpPr>
          <p:cNvPr id="7" name="Text 5"/>
          <p:cNvSpPr txBox="1"/>
          <p:nvPr/>
        </p:nvSpPr>
        <p:spPr>
          <a:xfrm>
            <a:off x="548640" y="4389120"/>
            <a:ext cx="292608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37</a:t>
            </a:r>
            <a:endParaRPr lang="en-US" sz="3600" dirty="0"/>
          </a:p>
        </p:txBody>
      </p:sp>
      <p:sp>
        <p:nvSpPr>
          <p:cNvPr id="8" name="Text 6"/>
          <p:cNvSpPr txBox="1"/>
          <p:nvPr/>
        </p:nvSpPr>
        <p:spPr>
          <a:xfrm>
            <a:off x="548640" y="5120640"/>
            <a:ext cx="2926080" cy="548640"/>
          </a:xfrm>
          <a:prstGeom prst="rect">
            <a:avLst/>
          </a:prstGeom>
          <a:noFill/>
          <a:ln/>
        </p:spPr>
        <p:txBody>
          <a:bodyPr wrap="square" lIns="0" tIns="0" rIns="0" bIns="0" rtlCol="0" anchor="t"/>
          <a:lstStyle/>
          <a:p>
            <a:pPr indent="0" marL="0">
              <a:buNone/>
            </a:pPr>
            <a:r>
              <a:rPr lang="en-US" sz="1400" dirty="0">
                <a:solidFill>
                  <a:schemeClr val="tx1"/>
                </a:solidFill>
              </a:rPr>
              <a:t>rules with an owner, a dimension and a logged action</a:t>
            </a:r>
            <a:endParaRPr lang="en-US" sz="1400" dirty="0"/>
          </a:p>
        </p:txBody>
      </p:sp>
      <p:graphicFrame>
        <p:nvGraphicFramePr>
          <p:cNvPr id="9" name="Chart 0" descr=""/>
          <p:cNvGraphicFramePr/>
          <p:nvPr/>
        </p:nvGraphicFramePr>
        <p:xfrm>
          <a:off x="3657600" y="1234440"/>
          <a:ext cx="4206240" cy="4754880"/>
        </p:xfrm>
        <a:graphic xmlns:a="http://schemas.openxmlformats.org/drawingml/2006/main">
          <a:graphicData uri="http://schemas.openxmlformats.org/drawingml/2006/chart">
            <c:chart xmlns:c="http://schemas.openxmlformats.org/drawingml/2006/chart" r:id="rId1"/>
          </a:graphicData>
        </a:graphic>
      </p:graphicFrame>
      <p:sp>
        <p:nvSpPr>
          <p:cNvPr id="10" name="bug card 1"/>
          <p:cNvSpPr/>
          <p:nvPr/>
        </p:nvSpPr>
        <p:spPr>
          <a:xfrm>
            <a:off x="8138160" y="1280160"/>
            <a:ext cx="3474720" cy="2286000"/>
          </a:xfrm>
          <a:prstGeom prst="roundRect">
            <a:avLst>
              <a:gd name="adj" fmla="val 3200"/>
            </a:avLst>
          </a:prstGeom>
          <a:solidFill>
            <a:schemeClr val="bg2"/>
          </a:solidFill>
          <a:ln w="12700">
            <a:solidFill>
              <a:schemeClr val="bg2"/>
            </a:solidFill>
            <a:prstDash val="solid"/>
          </a:ln>
        </p:spPr>
      </p:sp>
      <p:sp>
        <p:nvSpPr>
          <p:cNvPr id="11" name="Text 8"/>
          <p:cNvSpPr txBox="1"/>
          <p:nvPr/>
        </p:nvSpPr>
        <p:spPr>
          <a:xfrm>
            <a:off x="8275320" y="1371600"/>
            <a:ext cx="3200400" cy="2103120"/>
          </a:xfrm>
          <a:prstGeom prst="rect">
            <a:avLst/>
          </a:prstGeom>
          <a:noFill/>
          <a:ln/>
        </p:spPr>
        <p:txBody>
          <a:bodyPr wrap="square" lIns="0" tIns="0" rIns="0" bIns="0" rtlCol="0" anchor="t"/>
          <a:lstStyle/>
          <a:p>
            <a:pPr indent="0" marL="0">
              <a:buNone/>
            </a:pPr>
            <a:r>
              <a:rPr lang="en-US" sz="1400" b="1" dirty="0">
                <a:solidFill>
                  <a:schemeClr val="tx2"/>
                </a:solidFill>
              </a:rPr>
              <a:t>Bug 1: HV06 masked itself</a:t>
            </a:r>
            <a:endParaRPr lang="en-US" sz="1400" dirty="0"/>
          </a:p>
          <a:p>
            <a:pPr indent="0" marL="0">
              <a:buNone/>
            </a:pPr>
            <a:r>
              <a:rPr lang="en-US" sz="1400" dirty="0">
                <a:solidFill>
                  <a:schemeClr val="tx1"/>
                </a:solidFill>
              </a:rPr>
              <a:t>A 2-block median included the outlier, so a 47 t/ha block passed. Leave-one-out median: recall 6/8 to 7/8, still 0 false positives.</a:t>
            </a:r>
            <a:endParaRPr lang="en-US" sz="1400" dirty="0"/>
          </a:p>
        </p:txBody>
      </p:sp>
      <p:sp>
        <p:nvSpPr>
          <p:cNvPr id="12" name="bug card 2"/>
          <p:cNvSpPr/>
          <p:nvPr/>
        </p:nvSpPr>
        <p:spPr>
          <a:xfrm>
            <a:off x="8138160" y="3749040"/>
            <a:ext cx="3474720" cy="2240280"/>
          </a:xfrm>
          <a:prstGeom prst="roundRect">
            <a:avLst>
              <a:gd name="adj" fmla="val 3265"/>
            </a:avLst>
          </a:prstGeom>
          <a:solidFill>
            <a:schemeClr val="bg2"/>
          </a:solidFill>
          <a:ln w="12700">
            <a:solidFill>
              <a:schemeClr val="bg2"/>
            </a:solidFill>
            <a:prstDash val="solid"/>
          </a:ln>
        </p:spPr>
      </p:sp>
      <p:sp>
        <p:nvSpPr>
          <p:cNvPr id="13" name="Text 10"/>
          <p:cNvSpPr txBox="1"/>
          <p:nvPr/>
        </p:nvSpPr>
        <p:spPr>
          <a:xfrm>
            <a:off x="8275320" y="3840480"/>
            <a:ext cx="3200400" cy="2057400"/>
          </a:xfrm>
          <a:prstGeom prst="rect">
            <a:avLst/>
          </a:prstGeom>
          <a:noFill/>
          <a:ln/>
        </p:spPr>
        <p:txBody>
          <a:bodyPr wrap="square" lIns="0" tIns="0" rIns="0" bIns="0" rtlCol="0" anchor="t"/>
          <a:lstStyle/>
          <a:p>
            <a:pPr indent="0" marL="0">
              <a:buNone/>
            </a:pPr>
            <a:r>
              <a:rPr lang="en-US" sz="1400" b="1" dirty="0">
                <a:solidFill>
                  <a:schemeClr val="tx2"/>
                </a:solidFill>
              </a:rPr>
              <a:t>Bug 2: 'NA' is a country</a:t>
            </a:r>
            <a:endParaRPr lang="en-US" sz="1400" dirty="0"/>
          </a:p>
          <a:p>
            <a:pPr indent="0" marL="0">
              <a:buNone/>
            </a:pPr>
            <a:r>
              <a:rPr lang="en-US" sz="1400" dirty="0">
                <a:solidFill>
                  <a:schemeClr val="tx1"/>
                </a:solidFill>
              </a:rPr>
              <a:t>pandas read Namibia's ISO code as null: 226 customers lost their country. Fixed with keep_default_na=False.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Reconciled, owned and secured</a:t>
            </a:r>
            <a:endParaRPr lang="en-US" sz="2800" dirty="0"/>
          </a:p>
        </p:txBody>
      </p:sp>
      <p:sp>
        <p:nvSpPr>
          <p:cNvPr id="3" name="Text 1"/>
          <p:cNvSpPr txBox="1"/>
          <p:nvPr/>
        </p:nvSpPr>
        <p:spPr>
          <a:xfrm>
            <a:off x="548640" y="1325880"/>
            <a:ext cx="329184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18 / 19</a:t>
            </a:r>
            <a:endParaRPr lang="en-US" sz="3600" dirty="0"/>
          </a:p>
        </p:txBody>
      </p:sp>
      <p:sp>
        <p:nvSpPr>
          <p:cNvPr id="4" name="Text 2"/>
          <p:cNvSpPr txBox="1"/>
          <p:nvPr/>
        </p:nvSpPr>
        <p:spPr>
          <a:xfrm>
            <a:off x="548640" y="2057400"/>
            <a:ext cx="3291840" cy="548640"/>
          </a:xfrm>
          <a:prstGeom prst="rect">
            <a:avLst/>
          </a:prstGeom>
          <a:noFill/>
          <a:ln/>
        </p:spPr>
        <p:txBody>
          <a:bodyPr wrap="square" lIns="0" tIns="0" rIns="0" bIns="0" rtlCol="0" anchor="t"/>
          <a:lstStyle/>
          <a:p>
            <a:pPr indent="0" marL="0">
              <a:buNone/>
            </a:pPr>
            <a:r>
              <a:rPr lang="en-US" sz="1400" dirty="0">
                <a:solidFill>
                  <a:schemeClr val="tx1"/>
                </a:solidFill>
              </a:rPr>
              <a:t>reconciliation checks pass on the latest full load; 1 WARN, 0 FAIL</a:t>
            </a:r>
            <a:endParaRPr lang="en-US" sz="1400" dirty="0"/>
          </a:p>
        </p:txBody>
      </p:sp>
      <p:sp>
        <p:nvSpPr>
          <p:cNvPr id="5" name="Text 3"/>
          <p:cNvSpPr txBox="1"/>
          <p:nvPr/>
        </p:nvSpPr>
        <p:spPr>
          <a:xfrm>
            <a:off x="548640" y="2743200"/>
            <a:ext cx="3291840" cy="1097280"/>
          </a:xfrm>
          <a:prstGeom prst="rect">
            <a:avLst/>
          </a:prstGeom>
          <a:noFill/>
          <a:ln/>
        </p:spPr>
        <p:txBody>
          <a:bodyPr wrap="square" lIns="0" tIns="0" rIns="0" bIns="0" rtlCol="0" anchor="t"/>
          <a:lstStyle/>
          <a:p>
            <a:pPr indent="0" marL="0">
              <a:buNone/>
            </a:pPr>
            <a:r>
              <a:rPr lang="en-US" sz="1400" dirty="0">
                <a:solidFill>
                  <a:schemeClr val="tx1"/>
                </a:solidFill>
              </a:rPr>
              <a:t>The one WARN is a business action: 119 mispriced invoice lines (N$ 4.9 m) wait for credit notes.</a:t>
            </a:r>
            <a:endParaRPr lang="en-US" sz="1400" dirty="0"/>
          </a:p>
        </p:txBody>
      </p:sp>
      <p:sp>
        <p:nvSpPr>
          <p:cNvPr id="6" name="Text 4"/>
          <p:cNvSpPr txBox="1"/>
          <p:nvPr/>
        </p:nvSpPr>
        <p:spPr>
          <a:xfrm>
            <a:off x="548640" y="3931920"/>
            <a:ext cx="3291840" cy="1280160"/>
          </a:xfrm>
          <a:prstGeom prst="rect">
            <a:avLst/>
          </a:prstGeom>
          <a:noFill/>
          <a:ln/>
        </p:spPr>
        <p:txBody>
          <a:bodyPr wrap="square" lIns="0" tIns="0" rIns="0" bIns="0" rtlCol="0" anchor="t"/>
          <a:lstStyle/>
          <a:p>
            <a:pPr indent="0" marL="0">
              <a:buNone/>
            </a:pPr>
            <a:r>
              <a:rPr lang="en-US" sz="1400" dirty="0">
                <a:solidFill>
                  <a:schemeClr val="tx1"/>
                </a:solidFill>
              </a:rPr>
              <a:t>Row counts, control totals (kg, N$), cross-source ERP vs stock, SCD2 integrity, completeness, plausibility vs NSA.</a:t>
            </a:r>
            <a:endParaRPr lang="en-US" sz="1400" dirty="0"/>
          </a:p>
        </p:txBody>
      </p:sp>
      <p:sp>
        <p:nvSpPr>
          <p:cNvPr id="7" name="role Owners"/>
          <p:cNvSpPr/>
          <p:nvPr/>
        </p:nvSpPr>
        <p:spPr>
          <a:xfrm>
            <a:off x="4206240" y="1325880"/>
            <a:ext cx="3566160" cy="1371600"/>
          </a:xfrm>
          <a:prstGeom prst="roundRect">
            <a:avLst>
              <a:gd name="adj" fmla="val 5333"/>
            </a:avLst>
          </a:prstGeom>
          <a:solidFill>
            <a:schemeClr val="bg2"/>
          </a:solidFill>
          <a:ln w="12700">
            <a:solidFill>
              <a:schemeClr val="bg2"/>
            </a:solidFill>
            <a:prstDash val="solid"/>
          </a:ln>
        </p:spPr>
      </p:sp>
      <p:sp>
        <p:nvSpPr>
          <p:cNvPr id="8" name="Text 6"/>
          <p:cNvSpPr txBox="1"/>
          <p:nvPr/>
        </p:nvSpPr>
        <p:spPr>
          <a:xfrm>
            <a:off x="4343400" y="1417320"/>
            <a:ext cx="3291840" cy="1234440"/>
          </a:xfrm>
          <a:prstGeom prst="rect">
            <a:avLst/>
          </a:prstGeom>
          <a:noFill/>
          <a:ln/>
        </p:spPr>
        <p:txBody>
          <a:bodyPr wrap="square" lIns="0" tIns="0" rIns="0" bIns="0" rtlCol="0" anchor="t"/>
          <a:lstStyle/>
          <a:p>
            <a:pPr indent="0" marL="0">
              <a:buNone/>
            </a:pPr>
            <a:r>
              <a:rPr lang="en-US" sz="1400" b="1" dirty="0">
                <a:solidFill>
                  <a:schemeClr val="tx2"/>
                </a:solidFill>
              </a:rPr>
              <a:t>Owners</a:t>
            </a:r>
            <a:endParaRPr lang="en-US" sz="1400" dirty="0"/>
          </a:p>
          <a:p>
            <a:pPr indent="0" marL="0">
              <a:buNone/>
            </a:pPr>
            <a:r>
              <a:rPr lang="en-US" sz="1400" dirty="0">
                <a:solidFill>
                  <a:schemeClr val="tx1"/>
                </a:solidFill>
              </a:rPr>
              <a:t>CFO (commercial data) and operations manager (production data) approve definitions and access</a:t>
            </a:r>
            <a:endParaRPr lang="en-US" sz="1400" dirty="0"/>
          </a:p>
        </p:txBody>
      </p:sp>
      <p:sp>
        <p:nvSpPr>
          <p:cNvPr id="9" name="role Stewards"/>
          <p:cNvSpPr/>
          <p:nvPr/>
        </p:nvSpPr>
        <p:spPr>
          <a:xfrm>
            <a:off x="4206240" y="2880360"/>
            <a:ext cx="356616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4343400" y="2971800"/>
            <a:ext cx="3291840" cy="1234440"/>
          </a:xfrm>
          <a:prstGeom prst="rect">
            <a:avLst/>
          </a:prstGeom>
          <a:noFill/>
          <a:ln/>
        </p:spPr>
        <p:txBody>
          <a:bodyPr wrap="square" lIns="0" tIns="0" rIns="0" bIns="0" rtlCol="0" anchor="t"/>
          <a:lstStyle/>
          <a:p>
            <a:pPr indent="0" marL="0">
              <a:buNone/>
            </a:pPr>
            <a:r>
              <a:rPr lang="en-US" sz="1400" b="1" dirty="0">
                <a:solidFill>
                  <a:schemeClr val="tx2"/>
                </a:solidFill>
              </a:rPr>
              <a:t>Stewards</a:t>
            </a:r>
            <a:endParaRPr lang="en-US" sz="1400" dirty="0"/>
          </a:p>
          <a:p>
            <a:pPr indent="0" marL="0">
              <a:buNone/>
            </a:pPr>
            <a:r>
              <a:rPr lang="en-US" sz="1400" dirty="0">
                <a:solidFill>
                  <a:schemeClr val="tx1"/>
                </a:solidFill>
              </a:rPr>
              <a:t>Farm, sales, finance, master-data and external stewards work their rules' issue queues</a:t>
            </a:r>
            <a:endParaRPr lang="en-US" sz="1400" dirty="0"/>
          </a:p>
        </p:txBody>
      </p:sp>
      <p:sp>
        <p:nvSpPr>
          <p:cNvPr id="11" name="role Custodian"/>
          <p:cNvSpPr/>
          <p:nvPr/>
        </p:nvSpPr>
        <p:spPr>
          <a:xfrm>
            <a:off x="4206240" y="4434840"/>
            <a:ext cx="3566160" cy="1371600"/>
          </a:xfrm>
          <a:prstGeom prst="roundRect">
            <a:avLst>
              <a:gd name="adj" fmla="val 5333"/>
            </a:avLst>
          </a:prstGeom>
          <a:solidFill>
            <a:schemeClr val="bg2"/>
          </a:solidFill>
          <a:ln w="12700">
            <a:solidFill>
              <a:schemeClr val="bg2"/>
            </a:solidFill>
            <a:prstDash val="solid"/>
          </a:ln>
        </p:spPr>
      </p:sp>
      <p:sp>
        <p:nvSpPr>
          <p:cNvPr id="12" name="Text 10"/>
          <p:cNvSpPr txBox="1"/>
          <p:nvPr/>
        </p:nvSpPr>
        <p:spPr>
          <a:xfrm>
            <a:off x="4343400" y="4526280"/>
            <a:ext cx="3291840" cy="1234440"/>
          </a:xfrm>
          <a:prstGeom prst="rect">
            <a:avLst/>
          </a:prstGeom>
          <a:noFill/>
          <a:ln/>
        </p:spPr>
        <p:txBody>
          <a:bodyPr wrap="square" lIns="0" tIns="0" rIns="0" bIns="0" rtlCol="0" anchor="t"/>
          <a:lstStyle/>
          <a:p>
            <a:pPr indent="0" marL="0">
              <a:buNone/>
            </a:pPr>
            <a:r>
              <a:rPr lang="en-US" sz="1400" b="1" dirty="0">
                <a:solidFill>
                  <a:schemeClr val="tx2"/>
                </a:solidFill>
              </a:rPr>
              <a:t>Custodian</a:t>
            </a:r>
            <a:endParaRPr lang="en-US" sz="1400" dirty="0"/>
          </a:p>
          <a:p>
            <a:pPr indent="0" marL="0">
              <a:buNone/>
            </a:pPr>
            <a:r>
              <a:rPr lang="en-US" sz="1400" dirty="0">
                <a:solidFill>
                  <a:schemeClr val="tx1"/>
                </a:solidFill>
              </a:rPr>
              <a:t>IT runs the database, backups, TLS and the data gateway</a:t>
            </a:r>
            <a:endParaRPr lang="en-US" sz="1400" dirty="0"/>
          </a:p>
        </p:txBody>
      </p:sp>
      <p:sp>
        <p:nvSpPr>
          <p:cNvPr id="13" name="Text 11"/>
          <p:cNvSpPr txBox="1"/>
          <p:nvPr/>
        </p:nvSpPr>
        <p:spPr>
          <a:xfrm>
            <a:off x="8138160" y="1325880"/>
            <a:ext cx="3474720" cy="4572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Row-level security: Zone Manager (dynamic), Export Desk (static), Executive</a:t>
            </a:r>
            <a:endParaRPr lang="en-US" sz="1400" dirty="0"/>
          </a:p>
          <a:p>
            <a:pPr marL="342900" indent="-342900">
              <a:spcAft>
                <a:spcPts val="800"/>
              </a:spcAft>
              <a:buSzPct val="100000"/>
              <a:buChar char="•"/>
            </a:pPr>
            <a:r>
              <a:rPr lang="en-US" sz="1400" dirty="0">
                <a:solidFill>
                  <a:schemeClr val="tx1"/>
                </a:solidFill>
              </a:rPr>
              <a:t>App audiences for viewers; workspace roles for the BI team only</a:t>
            </a:r>
            <a:endParaRPr lang="en-US" sz="1400" dirty="0"/>
          </a:p>
          <a:p>
            <a:pPr marL="342900" indent="-342900">
              <a:spcAft>
                <a:spcPts val="800"/>
              </a:spcAft>
              <a:buSzPct val="100000"/>
              <a:buChar char="•"/>
            </a:pPr>
            <a:r>
              <a:rPr lang="en-US" sz="1400" dirty="0">
                <a:solidFill>
                  <a:schemeClr val="tx1"/>
                </a:solidFill>
              </a:rPr>
              <a:t>Sensitivity label 'Confidential - Commercial' inherited by exports</a:t>
            </a:r>
            <a:endParaRPr lang="en-US" sz="1400" dirty="0"/>
          </a:p>
          <a:p>
            <a:pPr marL="342900" indent="-342900">
              <a:spcAft>
                <a:spcPts val="800"/>
              </a:spcAft>
              <a:buSzPct val="100000"/>
              <a:buChar char="•"/>
            </a:pPr>
            <a:r>
              <a:rPr lang="en-US" sz="1400" dirty="0">
                <a:solidFill>
                  <a:schemeClr val="tx1"/>
                </a:solidFill>
              </a:rPr>
              <a:t>No personal identifiers: minimisation in line with Namibia's draft Data Protection Bill and GDPR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Semantic model: Import, 79 governed measures, dynamic RLS</a:t>
            </a:r>
            <a:endParaRPr lang="en-US" sz="2800" dirty="0"/>
          </a:p>
        </p:txBody>
      </p:sp>
      <p:sp>
        <p:nvSpPr>
          <p:cNvPr id="3" name="model stat 1"/>
          <p:cNvSpPr/>
          <p:nvPr/>
        </p:nvSpPr>
        <p:spPr>
          <a:xfrm>
            <a:off x="548640" y="1234440"/>
            <a:ext cx="2606040" cy="1234440"/>
          </a:xfrm>
          <a:prstGeom prst="roundRect">
            <a:avLst>
              <a:gd name="adj" fmla="val 5926"/>
            </a:avLst>
          </a:prstGeom>
          <a:solidFill>
            <a:schemeClr val="bg2"/>
          </a:solidFill>
          <a:ln w="12700">
            <a:solidFill>
              <a:schemeClr val="bg2"/>
            </a:solidFill>
            <a:prstDash val="solid"/>
          </a:ln>
        </p:spPr>
      </p:sp>
      <p:sp>
        <p:nvSpPr>
          <p:cNvPr id="4" name="Text 2"/>
          <p:cNvSpPr txBox="1"/>
          <p:nvPr/>
        </p:nvSpPr>
        <p:spPr>
          <a:xfrm>
            <a:off x="685800" y="1298448"/>
            <a:ext cx="2377440" cy="109728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Import</a:t>
            </a:r>
            <a:endParaRPr lang="en-US" sz="1400" dirty="0"/>
          </a:p>
          <a:p>
            <a:pPr indent="0" marL="0">
              <a:buNone/>
            </a:pPr>
            <a:r>
              <a:rPr lang="en-US" sz="1400" dirty="0">
                <a:solidFill>
                  <a:schemeClr val="tx1"/>
                </a:solidFill>
              </a:rPr>
              <a:t>+ incremental refresh</a:t>
            </a:r>
            <a:endParaRPr lang="en-US" sz="1400" dirty="0"/>
          </a:p>
        </p:txBody>
      </p:sp>
      <p:sp>
        <p:nvSpPr>
          <p:cNvPr id="5" name="model stat 2"/>
          <p:cNvSpPr/>
          <p:nvPr/>
        </p:nvSpPr>
        <p:spPr>
          <a:xfrm>
            <a:off x="3337560" y="1234440"/>
            <a:ext cx="2606040" cy="1234440"/>
          </a:xfrm>
          <a:prstGeom prst="roundRect">
            <a:avLst>
              <a:gd name="adj" fmla="val 5926"/>
            </a:avLst>
          </a:prstGeom>
          <a:solidFill>
            <a:schemeClr val="bg2"/>
          </a:solidFill>
          <a:ln w="12700">
            <a:solidFill>
              <a:schemeClr val="bg2"/>
            </a:solidFill>
            <a:prstDash val="solid"/>
          </a:ln>
        </p:spPr>
      </p:sp>
      <p:sp>
        <p:nvSpPr>
          <p:cNvPr id="6" name="Text 4"/>
          <p:cNvSpPr txBox="1"/>
          <p:nvPr/>
        </p:nvSpPr>
        <p:spPr>
          <a:xfrm>
            <a:off x="3474720" y="1298448"/>
            <a:ext cx="2377440" cy="109728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79</a:t>
            </a:r>
            <a:endParaRPr lang="en-US" sz="1400" dirty="0"/>
          </a:p>
          <a:p>
            <a:pPr indent="0" marL="0">
              <a:buNone/>
            </a:pPr>
            <a:r>
              <a:rPr lang="en-US" sz="1400" dirty="0">
                <a:solidFill>
                  <a:schemeClr val="tx1"/>
                </a:solidFill>
              </a:rPr>
              <a:t>DAX measures, 8 folders</a:t>
            </a:r>
            <a:endParaRPr lang="en-US" sz="1400" dirty="0"/>
          </a:p>
        </p:txBody>
      </p:sp>
      <p:sp>
        <p:nvSpPr>
          <p:cNvPr id="7" name="model stat 3"/>
          <p:cNvSpPr/>
          <p:nvPr/>
        </p:nvSpPr>
        <p:spPr>
          <a:xfrm>
            <a:off x="6126480" y="1234440"/>
            <a:ext cx="2606040" cy="1234440"/>
          </a:xfrm>
          <a:prstGeom prst="roundRect">
            <a:avLst>
              <a:gd name="adj" fmla="val 5926"/>
            </a:avLst>
          </a:prstGeom>
          <a:solidFill>
            <a:schemeClr val="bg2"/>
          </a:solidFill>
          <a:ln w="12700">
            <a:solidFill>
              <a:schemeClr val="bg2"/>
            </a:solidFill>
            <a:prstDash val="solid"/>
          </a:ln>
        </p:spPr>
      </p:sp>
      <p:sp>
        <p:nvSpPr>
          <p:cNvPr id="8" name="Text 6"/>
          <p:cNvSpPr txBox="1"/>
          <p:nvPr/>
        </p:nvSpPr>
        <p:spPr>
          <a:xfrm>
            <a:off x="6263640" y="1298448"/>
            <a:ext cx="2377440" cy="109728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34</a:t>
            </a:r>
            <a:endParaRPr lang="en-US" sz="1400" dirty="0"/>
          </a:p>
          <a:p>
            <a:pPr indent="0" marL="0">
              <a:buNone/>
            </a:pPr>
            <a:r>
              <a:rPr lang="en-US" sz="1400" dirty="0">
                <a:solidFill>
                  <a:schemeClr val="tx1"/>
                </a:solidFill>
              </a:rPr>
              <a:t>relationships, 1:* single</a:t>
            </a:r>
            <a:endParaRPr lang="en-US" sz="1400" dirty="0"/>
          </a:p>
        </p:txBody>
      </p:sp>
      <p:sp>
        <p:nvSpPr>
          <p:cNvPr id="9" name="model stat 4"/>
          <p:cNvSpPr/>
          <p:nvPr/>
        </p:nvSpPr>
        <p:spPr>
          <a:xfrm>
            <a:off x="8915400" y="1234440"/>
            <a:ext cx="2606040" cy="1234440"/>
          </a:xfrm>
          <a:prstGeom prst="roundRect">
            <a:avLst>
              <a:gd name="adj" fmla="val 5926"/>
            </a:avLst>
          </a:prstGeom>
          <a:solidFill>
            <a:schemeClr val="bg2"/>
          </a:solidFill>
          <a:ln w="12700">
            <a:solidFill>
              <a:schemeClr val="bg2"/>
            </a:solidFill>
            <a:prstDash val="solid"/>
          </a:ln>
        </p:spPr>
      </p:sp>
      <p:sp>
        <p:nvSpPr>
          <p:cNvPr id="10" name="Text 8"/>
          <p:cNvSpPr txBox="1"/>
          <p:nvPr/>
        </p:nvSpPr>
        <p:spPr>
          <a:xfrm>
            <a:off x="9052560" y="1298448"/>
            <a:ext cx="2377440" cy="109728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3</a:t>
            </a:r>
            <a:endParaRPr lang="en-US" sz="1400" dirty="0"/>
          </a:p>
          <a:p>
            <a:pPr indent="0" marL="0">
              <a:buNone/>
            </a:pPr>
            <a:r>
              <a:rPr lang="en-US" sz="1400" dirty="0">
                <a:solidFill>
                  <a:schemeClr val="tx1"/>
                </a:solidFill>
              </a:rPr>
              <a:t>security roles</a:t>
            </a:r>
            <a:endParaRPr lang="en-US" sz="1400" dirty="0"/>
          </a:p>
        </p:txBody>
      </p:sp>
      <p:sp>
        <p:nvSpPr>
          <p:cNvPr id="11" name="DAX like-for-like"/>
          <p:cNvSpPr txBox="1"/>
          <p:nvPr/>
        </p:nvSpPr>
        <p:spPr>
          <a:xfrm>
            <a:off x="548640" y="2743200"/>
            <a:ext cx="5577840" cy="2834640"/>
          </a:xfrm>
          <a:prstGeom prst="rect">
            <a:avLst/>
          </a:prstGeom>
          <a:solidFill>
            <a:schemeClr val="bg2"/>
          </a:solidFill>
          <a:ln/>
        </p:spPr>
        <p:txBody>
          <a:bodyPr wrap="square" lIns="1905" tIns="1905" rIns="1905" bIns="1905"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Net Revenue FYTD PY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VAR _cutoffPY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EDATE ( [Last Sales Date], -12 )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RETURN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CALCULATE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[Net Revenue FYTD Raw],</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SAMEPERIODLASTYEAR ( 'Date'[Date]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KEEPFILTERS ( 'Date'[Date] &lt;= _cutoffPY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p:txBody>
      </p:sp>
      <p:sp>
        <p:nvSpPr>
          <p:cNvPr id="12" name="Text 10"/>
          <p:cNvSpPr txBox="1"/>
          <p:nvPr/>
        </p:nvSpPr>
        <p:spPr>
          <a:xfrm>
            <a:off x="548640" y="5669280"/>
            <a:ext cx="5577840" cy="640080"/>
          </a:xfrm>
          <a:prstGeom prst="rect">
            <a:avLst/>
          </a:prstGeom>
          <a:noFill/>
          <a:ln/>
        </p:spPr>
        <p:txBody>
          <a:bodyPr wrap="square" lIns="0" tIns="0" rIns="0" bIns="0" rtlCol="0" anchor="t"/>
          <a:lstStyle/>
          <a:p>
            <a:pPr indent="0" marL="0">
              <a:buNone/>
            </a:pPr>
            <a:r>
              <a:rPr lang="en-US" sz="1400" dirty="0">
                <a:solidFill>
                  <a:schemeClr val="tx1"/>
                </a:solidFill>
              </a:rPr>
              <a:t>Like-for-like: without the cut-off, half of FY2027 would be compared with all of FY2026 (a false -73 %).</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92240" y="2743200"/>
          <a:ext cx="5120640" cy="914400"/>
        </p:xfrm>
        <a:graphic>
          <a:graphicData uri="http://schemas.openxmlformats.org/drawingml/2006/table">
            <a:tbl>
              <a:tblPr/>
              <a:tblGrid>
                <a:gridCol w="2926080"/>
                <a:gridCol w="914400"/>
                <a:gridCol w="1280160"/>
              </a:tblGrid>
              <a:tr h="0">
                <a:tc>
                  <a:txBody>
                    <a:bodyPr/>
                    <a:lstStyle/>
                    <a:p>
                      <a:pPr indent="0" marL="0">
                        <a:buNone/>
                      </a:pPr>
                      <a:r>
                        <a:rPr lang="en-US" sz="1400" b="1" dirty="0">
                          <a:solidFill>
                            <a:srgbClr val="0B0B0B"/>
                          </a:solidFill>
                        </a:rPr>
                        <a:t>Zone (RLS test identity)</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0B0B"/>
                          </a:solidFill>
                        </a:rPr>
                        <a:t>Farms</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0B0B"/>
                          </a:solidFill>
                        </a:rPr>
                        <a:t>FY2026 N$ m</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rPr>
                        <a:t>South</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3</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256.7</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rPr>
                        <a:t>North-East</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4</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76.9</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rPr>
                        <a:t>North-Central</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4</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62.7</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rPr>
                        <a:t>Central</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3</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55.6</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rPr>
                        <a:t>Unknown farm (executive only)</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0B0B"/>
                          </a:solidFill>
                        </a:rPr>
                        <a:t>6.8</a:t>
                      </a:r>
                      <a:endParaRPr lang="en-US" sz="1400" dirty="0"/>
                    </a:p>
                  </a:txBody>
                  <a:tcPr marL="54864" marR="54864" marT="54864" marB="54864">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6492240" y="5669280"/>
            <a:ext cx="5120640" cy="640080"/>
          </a:xfrm>
          <a:prstGeom prst="rect">
            <a:avLst/>
          </a:prstGeom>
          <a:noFill/>
          <a:ln/>
        </p:spPr>
        <p:txBody>
          <a:bodyPr wrap="square" lIns="0" tIns="0" rIns="0" bIns="0" rtlCol="0" anchor="t"/>
          <a:lstStyle/>
          <a:p>
            <a:pPr indent="0" marL="0">
              <a:buNone/>
            </a:pPr>
            <a:r>
              <a:rPr lang="en-US" sz="1400" dirty="0">
                <a:solidFill>
                  <a:schemeClr val="tx1"/>
                </a:solidFill>
              </a:rPr>
              <a:t>Expected values computed in SQL; tested with View as role in Desktop.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Live demo: from headline to farm in three clicks</a:t>
            </a:r>
            <a:endParaRPr lang="en-US" sz="2800" dirty="0"/>
          </a:p>
        </p:txBody>
      </p:sp>
      <p:pic>
        <p:nvPicPr>
          <p:cNvPr id="3" name="Image 0" descr="Executive summary page: KPI cards, monthly revenue versus last year, revenue by crop and channel, farm scorecard">    </p:cNvPr>
          <p:cNvPicPr>
            <a:picLocks noChangeAspect="1"/>
          </p:cNvPicPr>
          <p:nvPr/>
        </p:nvPicPr>
        <p:blipFill>
          <a:blip r:embed="rId1"/>
          <a:stretch>
            <a:fillRect/>
          </a:stretch>
        </p:blipFill>
        <p:spPr>
          <a:xfrm>
            <a:off x="548640" y="1234440"/>
            <a:ext cx="7863840" cy="4425696"/>
          </a:xfrm>
          <a:prstGeom prst="rect">
            <a:avLst/>
          </a:prstGeom>
        </p:spPr>
      </p:pic>
      <p:sp>
        <p:nvSpPr>
          <p:cNvPr id="4" name="Text 1"/>
          <p:cNvSpPr txBox="1"/>
          <p:nvPr/>
        </p:nvSpPr>
        <p:spPr>
          <a:xfrm>
            <a:off x="548640" y="5760720"/>
            <a:ext cx="7863840" cy="457200"/>
          </a:xfrm>
          <a:prstGeom prst="rect">
            <a:avLst/>
          </a:prstGeom>
          <a:noFill/>
          <a:ln/>
        </p:spPr>
        <p:txBody>
          <a:bodyPr wrap="square" lIns="0" tIns="0" rIns="0" bIns="0" rtlCol="0" anchor="t"/>
          <a:lstStyle/>
          <a:p>
            <a:pPr indent="0" marL="0">
              <a:buNone/>
            </a:pPr>
            <a:r>
              <a:rPr lang="en-US" sz="1200" dirty="0">
                <a:solidFill>
                  <a:schemeClr val="tx1"/>
                </a:solidFill>
              </a:rPr>
              <a:t>Design mock-up rendered from warehouse data - replaced by the Power BI screenshot after the Desktop build.</a:t>
            </a:r>
            <a:endParaRPr lang="en-US" sz="1200" dirty="0"/>
          </a:p>
        </p:txBody>
      </p:sp>
      <p:sp>
        <p:nvSpPr>
          <p:cNvPr id="5" name="step 1"/>
          <p:cNvSpPr/>
          <p:nvPr/>
        </p:nvSpPr>
        <p:spPr>
          <a:xfrm>
            <a:off x="8686800" y="132588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9326880" y="1307592"/>
            <a:ext cx="2331720" cy="1051560"/>
          </a:xfrm>
          <a:prstGeom prst="rect">
            <a:avLst/>
          </a:prstGeom>
          <a:noFill/>
          <a:ln/>
        </p:spPr>
        <p:txBody>
          <a:bodyPr wrap="square" lIns="0" tIns="0" rIns="0" bIns="0" rtlCol="0" anchor="t"/>
          <a:lstStyle/>
          <a:p>
            <a:pPr indent="0" marL="0">
              <a:buNone/>
            </a:pPr>
            <a:r>
              <a:rPr lang="en-US" sz="1400" dirty="0">
                <a:solidFill>
                  <a:schemeClr val="tx1"/>
                </a:solidFill>
              </a:rPr>
              <a:t>Executive page, FY2026: KPI band answers 'are we on track?'</a:t>
            </a:r>
            <a:endParaRPr lang="en-US" sz="1400" dirty="0"/>
          </a:p>
        </p:txBody>
      </p:sp>
      <p:sp>
        <p:nvSpPr>
          <p:cNvPr id="7" name="step 2"/>
          <p:cNvSpPr/>
          <p:nvPr/>
        </p:nvSpPr>
        <p:spPr>
          <a:xfrm>
            <a:off x="8686800" y="246888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5"/>
          <p:cNvSpPr txBox="1"/>
          <p:nvPr/>
        </p:nvSpPr>
        <p:spPr>
          <a:xfrm>
            <a:off x="9326880" y="2450592"/>
            <a:ext cx="2331720" cy="1051560"/>
          </a:xfrm>
          <a:prstGeom prst="rect">
            <a:avLst/>
          </a:prstGeom>
          <a:noFill/>
          <a:ln/>
        </p:spPr>
        <p:txBody>
          <a:bodyPr wrap="square" lIns="0" tIns="0" rIns="0" bIns="0" rtlCol="0" anchor="t"/>
          <a:lstStyle/>
          <a:p>
            <a:pPr indent="0" marL="0">
              <a:buNone/>
            </a:pPr>
            <a:r>
              <a:rPr lang="en-US" sz="1400" dirty="0">
                <a:solidFill>
                  <a:schemeClr val="tx1"/>
                </a:solidFill>
              </a:rPr>
              <a:t>Drill the trend from year to quarter to month</a:t>
            </a:r>
            <a:endParaRPr lang="en-US" sz="1400" dirty="0"/>
          </a:p>
        </p:txBody>
      </p:sp>
      <p:sp>
        <p:nvSpPr>
          <p:cNvPr id="9" name="step 3"/>
          <p:cNvSpPr/>
          <p:nvPr/>
        </p:nvSpPr>
        <p:spPr>
          <a:xfrm>
            <a:off x="8686800" y="361188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Text 7"/>
          <p:cNvSpPr txBox="1"/>
          <p:nvPr/>
        </p:nvSpPr>
        <p:spPr>
          <a:xfrm>
            <a:off x="9326880" y="3593592"/>
            <a:ext cx="2331720" cy="1051560"/>
          </a:xfrm>
          <a:prstGeom prst="rect">
            <a:avLst/>
          </a:prstGeom>
          <a:noFill/>
          <a:ln/>
        </p:spPr>
        <p:txBody>
          <a:bodyPr wrap="square" lIns="0" tIns="0" rIns="0" bIns="0" rtlCol="0" anchor="t"/>
          <a:lstStyle/>
          <a:p>
            <a:pPr indent="0" marL="0">
              <a:buNone/>
            </a:pPr>
            <a:r>
              <a:rPr lang="en-US" sz="1400" dirty="0">
                <a:solidFill>
                  <a:schemeClr val="tx1"/>
                </a:solidFill>
              </a:rPr>
              <a:t>Production page: matrix Region &gt; Farm, then drill through to one farm</a:t>
            </a:r>
            <a:endParaRPr lang="en-US" sz="1400" dirty="0"/>
          </a:p>
        </p:txBody>
      </p:sp>
      <p:sp>
        <p:nvSpPr>
          <p:cNvPr id="11" name="step 4"/>
          <p:cNvSpPr/>
          <p:nvPr/>
        </p:nvSpPr>
        <p:spPr>
          <a:xfrm>
            <a:off x="8686800" y="475488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2" name="Text 9"/>
          <p:cNvSpPr txBox="1"/>
          <p:nvPr/>
        </p:nvSpPr>
        <p:spPr>
          <a:xfrm>
            <a:off x="9326880" y="4736592"/>
            <a:ext cx="2331720" cy="1051560"/>
          </a:xfrm>
          <a:prstGeom prst="rect">
            <a:avLst/>
          </a:prstGeom>
          <a:noFill/>
          <a:ln/>
        </p:spPr>
        <p:txBody>
          <a:bodyPr wrap="square" lIns="0" tIns="0" rIns="0" bIns="0" rtlCol="0" anchor="t"/>
          <a:lstStyle/>
          <a:p>
            <a:pPr indent="0" marL="0">
              <a:buNone/>
            </a:pPr>
            <a:r>
              <a:rPr lang="en-US" sz="1400" dirty="0">
                <a:solidFill>
                  <a:schemeClr val="tx1"/>
                </a:solidFill>
              </a:rPr>
              <a:t>View as zm.northcentral: 4 farms, N$ 62.7 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The outlook is flat: FY2027 forecast N$ 465.6 m, +1.5 %</a:t>
            </a:r>
            <a:endParaRPr lang="en-US" sz="2800" dirty="0"/>
          </a:p>
        </p:txBody>
      </p:sp>
      <p:graphicFrame>
        <p:nvGraphicFramePr>
          <p:cNvPr id="3" name="Chart 0" descr=""/>
          <p:cNvGraphicFramePr/>
          <p:nvPr/>
        </p:nvGraphicFramePr>
        <p:xfrm>
          <a:off x="548640" y="123444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532120"/>
            <a:ext cx="6949440" cy="731520"/>
          </a:xfrm>
          <a:prstGeom prst="rect">
            <a:avLst/>
          </a:prstGeom>
          <a:noFill/>
          <a:ln/>
        </p:spPr>
        <p:txBody>
          <a:bodyPr wrap="square" lIns="0" tIns="0" rIns="0" bIns="0" rtlCol="0" anchor="t"/>
          <a:lstStyle/>
          <a:p>
            <a:pPr indent="0" marL="0">
              <a:buNone/>
            </a:pPr>
            <a:r>
              <a:rPr lang="en-US" sz="1400" dirty="0">
                <a:solidFill>
                  <a:schemeClr val="tx1"/>
                </a:solidFill>
              </a:rPr>
              <a:t>Hold-out WAPE 12.7 % at division level; the simple seasonal benchmark beat ETS and SARIMA. FY2026: N$ 458.8 m.</a:t>
            </a:r>
            <a:endParaRPr lang="en-US" sz="1400" dirty="0"/>
          </a:p>
        </p:txBody>
      </p:sp>
      <p:graphicFrame>
        <p:nvGraphicFramePr>
          <p:cNvPr id="5" name="Chart 1" descr=""/>
          <p:cNvGraphicFramePr/>
          <p:nvPr/>
        </p:nvGraphicFramePr>
        <p:xfrm>
          <a:off x="7772400" y="1234440"/>
          <a:ext cx="3840480" cy="42062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7772400" y="5532120"/>
            <a:ext cx="3840480" cy="731520"/>
          </a:xfrm>
          <a:prstGeom prst="rect">
            <a:avLst/>
          </a:prstGeom>
          <a:noFill/>
          <a:ln/>
        </p:spPr>
        <p:txBody>
          <a:bodyPr wrap="square" lIns="0" tIns="0" rIns="0" bIns="0" rtlCol="0" anchor="t"/>
          <a:lstStyle/>
          <a:p>
            <a:pPr indent="0" marL="0">
              <a:buNone/>
            </a:pPr>
            <a:r>
              <a:rPr lang="en-US" sz="1400" dirty="0">
                <a:solidFill>
                  <a:schemeClr val="tx1"/>
                </a:solidFill>
              </a:rPr>
              <a:t>20 key accounts earn 58.6 %; top-10 customers 57.3 % of FY2026.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Irrigation doubles maize yield; rain drives dryland swings</a:t>
            </a:r>
            <a:endParaRPr lang="en-US" sz="2800" dirty="0"/>
          </a:p>
        </p:txBody>
      </p:sp>
      <p:graphicFrame>
        <p:nvGraphicFramePr>
          <p:cNvPr id="3" name="Chart 0" descr=""/>
          <p:cNvGraphicFramePr/>
          <p:nvPr/>
        </p:nvGraphicFramePr>
        <p:xfrm>
          <a:off x="548640" y="123444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280160"/>
            <a:ext cx="4114800" cy="73152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0.77</a:t>
            </a:r>
            <a:endParaRPr lang="en-US" sz="3600" dirty="0"/>
          </a:p>
        </p:txBody>
      </p:sp>
      <p:sp>
        <p:nvSpPr>
          <p:cNvPr id="5" name="Text 2"/>
          <p:cNvSpPr txBox="1"/>
          <p:nvPr/>
        </p:nvSpPr>
        <p:spPr>
          <a:xfrm>
            <a:off x="7498080" y="2011680"/>
            <a:ext cx="4114800" cy="548640"/>
          </a:xfrm>
          <a:prstGeom prst="rect">
            <a:avLst/>
          </a:prstGeom>
          <a:noFill/>
          <a:ln/>
        </p:spPr>
        <p:txBody>
          <a:bodyPr wrap="square" lIns="0" tIns="0" rIns="0" bIns="0" rtlCol="0" anchor="t"/>
          <a:lstStyle/>
          <a:p>
            <a:pPr indent="0" marL="0">
              <a:buNone/>
            </a:pPr>
            <a:r>
              <a:rPr lang="en-US" sz="1400" dirty="0">
                <a:solidFill>
                  <a:schemeClr val="tx1"/>
                </a:solidFill>
              </a:rPr>
              <a:t>within-farm rainfall elasticity of dryland maize - equals the generator's true value</a:t>
            </a:r>
            <a:endParaRPr lang="en-US" sz="1400" dirty="0"/>
          </a:p>
        </p:txBody>
      </p:sp>
      <p:sp>
        <p:nvSpPr>
          <p:cNvPr id="6" name="Text 3"/>
          <p:cNvSpPr txBox="1"/>
          <p:nvPr/>
        </p:nvSpPr>
        <p:spPr>
          <a:xfrm>
            <a:off x="7498080" y="2788920"/>
            <a:ext cx="411480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~N$ 16,000/ha</a:t>
            </a:r>
            <a:endParaRPr lang="en-US" sz="3200" dirty="0"/>
          </a:p>
        </p:txBody>
      </p:sp>
      <p:sp>
        <p:nvSpPr>
          <p:cNvPr id="7" name="Text 4"/>
          <p:cNvSpPr txBox="1"/>
          <p:nvPr/>
        </p:nvSpPr>
        <p:spPr>
          <a:xfrm>
            <a:off x="7498080" y="3520440"/>
            <a:ext cx="4114800" cy="548640"/>
          </a:xfrm>
          <a:prstGeom prst="rect">
            <a:avLst/>
          </a:prstGeom>
          <a:noFill/>
          <a:ln/>
        </p:spPr>
        <p:txBody>
          <a:bodyPr wrap="square" lIns="0" tIns="0" rIns="0" bIns="0" rtlCol="0" anchor="t"/>
          <a:lstStyle/>
          <a:p>
            <a:pPr indent="0" marL="0">
              <a:buNone/>
            </a:pPr>
            <a:r>
              <a:rPr lang="en-US" sz="1400" dirty="0">
                <a:solidFill>
                  <a:schemeClr val="tx1"/>
                </a:solidFill>
              </a:rPr>
              <a:t>margin per season from irrigating a dryland maize block, before capital cost</a:t>
            </a:r>
            <a:endParaRPr lang="en-US" sz="1400" dirty="0"/>
          </a:p>
        </p:txBody>
      </p:sp>
      <p:sp>
        <p:nvSpPr>
          <p:cNvPr id="8" name="Text 5"/>
          <p:cNvSpPr txBox="1"/>
          <p:nvPr/>
        </p:nvSpPr>
        <p:spPr>
          <a:xfrm>
            <a:off x="7498080" y="4297680"/>
            <a:ext cx="411480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1.00 vs 0.33</a:t>
            </a:r>
            <a:endParaRPr lang="en-US" sz="3200" dirty="0"/>
          </a:p>
        </p:txBody>
      </p:sp>
      <p:sp>
        <p:nvSpPr>
          <p:cNvPr id="9" name="Text 6"/>
          <p:cNvSpPr txBox="1"/>
          <p:nvPr/>
        </p:nvSpPr>
        <p:spPr>
          <a:xfrm>
            <a:off x="7498080" y="5029200"/>
            <a:ext cx="4114800" cy="548640"/>
          </a:xfrm>
          <a:prstGeom prst="rect">
            <a:avLst/>
          </a:prstGeom>
          <a:noFill/>
          <a:ln/>
        </p:spPr>
        <p:txBody>
          <a:bodyPr wrap="square" lIns="0" tIns="0" rIns="0" bIns="0" rtlCol="0" anchor="t"/>
          <a:lstStyle/>
          <a:p>
            <a:pPr indent="0" marL="0">
              <a:buNone/>
            </a:pPr>
            <a:r>
              <a:rPr lang="en-US" sz="1400" dirty="0">
                <a:solidFill>
                  <a:schemeClr val="tx1"/>
                </a:solidFill>
              </a:rPr>
              <a:t>precision: domain rule HV06 vs Isolation Forest on harvest keying errors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Optimised: faster queries, smaller model, lighter refresh</a:t>
            </a:r>
            <a:endParaRPr lang="en-US" sz="2800" dirty="0"/>
          </a:p>
        </p:txBody>
      </p:sp>
      <p:graphicFrame>
        <p:nvGraphicFramePr>
          <p:cNvPr id="3" name="Chart 0" descr=""/>
          <p:cNvGraphicFramePr/>
          <p:nvPr/>
        </p:nvGraphicFramePr>
        <p:xfrm>
          <a:off x="548640" y="123444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280160"/>
            <a:ext cx="411480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414x</a:t>
            </a:r>
            <a:endParaRPr lang="en-US" sz="3600" dirty="0"/>
          </a:p>
        </p:txBody>
      </p:sp>
      <p:sp>
        <p:nvSpPr>
          <p:cNvPr id="5" name="Text 2"/>
          <p:cNvSpPr txBox="1"/>
          <p:nvPr/>
        </p:nvSpPr>
        <p:spPr>
          <a:xfrm>
            <a:off x="7498080" y="2011680"/>
            <a:ext cx="4114800" cy="548640"/>
          </a:xfrm>
          <a:prstGeom prst="rect">
            <a:avLst/>
          </a:prstGeom>
          <a:noFill/>
          <a:ln/>
        </p:spPr>
        <p:txBody>
          <a:bodyPr wrap="square" lIns="0" tIns="0" rIns="0" bIns="0" rtlCol="0" anchor="t"/>
          <a:lstStyle/>
          <a:p>
            <a:pPr indent="0" marL="0">
              <a:buNone/>
            </a:pPr>
            <a:r>
              <a:rPr lang="en-US" sz="1400" dirty="0">
                <a:solidFill>
                  <a:schemeClr val="tx1"/>
                </a:solidFill>
              </a:rPr>
              <a:t>faster: customer drill-through (one customer, one quarter) (covering index)</a:t>
            </a:r>
            <a:endParaRPr lang="en-US" sz="1400" dirty="0"/>
          </a:p>
        </p:txBody>
      </p:sp>
      <p:sp>
        <p:nvSpPr>
          <p:cNvPr id="6" name="Text 3"/>
          <p:cNvSpPr txBox="1"/>
          <p:nvPr/>
        </p:nvSpPr>
        <p:spPr>
          <a:xfrm>
            <a:off x="7498080" y="2788920"/>
            <a:ext cx="411480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-32 %</a:t>
            </a:r>
            <a:endParaRPr lang="en-US" sz="3600" dirty="0"/>
          </a:p>
        </p:txBody>
      </p:sp>
      <p:sp>
        <p:nvSpPr>
          <p:cNvPr id="7" name="Text 4"/>
          <p:cNvSpPr txBox="1"/>
          <p:nvPr/>
        </p:nvSpPr>
        <p:spPr>
          <a:xfrm>
            <a:off x="7498080" y="3520440"/>
            <a:ext cx="4114800" cy="548640"/>
          </a:xfrm>
          <a:prstGeom prst="rect">
            <a:avLst/>
          </a:prstGeom>
          <a:noFill/>
          <a:ln/>
        </p:spPr>
        <p:txBody>
          <a:bodyPr wrap="square" lIns="0" tIns="0" rIns="0" bIns="0" rtlCol="0" anchor="t"/>
          <a:lstStyle/>
          <a:p>
            <a:pPr indent="0" marL="0">
              <a:buNone/>
            </a:pPr>
            <a:r>
              <a:rPr lang="en-US" sz="1400" dirty="0">
                <a:solidFill>
                  <a:schemeClr val="tx1"/>
                </a:solidFill>
              </a:rPr>
              <a:t>columns imported (243 to 165); model size proxy 16.0 to 10.8 MB</a:t>
            </a:r>
            <a:endParaRPr lang="en-US" sz="1400" dirty="0"/>
          </a:p>
        </p:txBody>
      </p:sp>
      <p:sp>
        <p:nvSpPr>
          <p:cNvPr id="8" name="Text 5"/>
          <p:cNvSpPr txBox="1"/>
          <p:nvPr/>
        </p:nvSpPr>
        <p:spPr>
          <a:xfrm>
            <a:off x="7498080" y="4297680"/>
            <a:ext cx="411480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-99.3 %</a:t>
            </a:r>
            <a:endParaRPr lang="en-US" sz="3600" dirty="0"/>
          </a:p>
        </p:txBody>
      </p:sp>
      <p:sp>
        <p:nvSpPr>
          <p:cNvPr id="9" name="Text 6"/>
          <p:cNvSpPr txBox="1"/>
          <p:nvPr/>
        </p:nvSpPr>
        <p:spPr>
          <a:xfrm>
            <a:off x="7498080" y="5029200"/>
            <a:ext cx="4114800" cy="548640"/>
          </a:xfrm>
          <a:prstGeom prst="rect">
            <a:avLst/>
          </a:prstGeom>
          <a:noFill/>
          <a:ln/>
        </p:spPr>
        <p:txBody>
          <a:bodyPr wrap="square" lIns="0" tIns="0" rIns="0" bIns="0" rtlCol="0" anchor="t"/>
          <a:lstStyle/>
          <a:p>
            <a:pPr indent="0" marL="0">
              <a:buNone/>
            </a:pPr>
            <a:r>
              <a:rPr lang="en-US" sz="1400" dirty="0">
                <a:solidFill>
                  <a:schemeClr val="tx1"/>
                </a:solidFill>
              </a:rPr>
              <a:t>rows per daily refresh with incremental refresh (302,903 to 2,162)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p>
            <a:pPr algn="l" indent="0" marL="0">
              <a:buNone/>
            </a:pPr>
            <a:r>
              <a:rPr lang="en-US" sz="3600" b="1" dirty="0">
                <a:solidFill>
                  <a:schemeClr val="bg1"/>
                </a:solidFill>
              </a:rPr>
              <a:t>Recommendations</a:t>
            </a:r>
            <a:endParaRPr lang="en-US" sz="3600" dirty="0"/>
          </a:p>
        </p:txBody>
      </p:sp>
      <p:sp>
        <p:nvSpPr>
          <p:cNvPr id="3" name="step 1"/>
          <p:cNvSpPr/>
          <p:nvPr/>
        </p:nvSpPr>
        <p:spPr>
          <a:xfrm>
            <a:off x="731520" y="1645920"/>
            <a:ext cx="548640" cy="54864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4" name="Text 2"/>
          <p:cNvSpPr txBox="1"/>
          <p:nvPr/>
        </p:nvSpPr>
        <p:spPr>
          <a:xfrm>
            <a:off x="1508760" y="1600200"/>
            <a:ext cx="9966960" cy="960120"/>
          </a:xfrm>
          <a:prstGeom prst="rect">
            <a:avLst/>
          </a:prstGeom>
          <a:noFill/>
          <a:ln/>
        </p:spPr>
        <p:txBody>
          <a:bodyPr wrap="square" lIns="0" tIns="0" rIns="0" bIns="0" rtlCol="0" anchor="t"/>
          <a:lstStyle/>
          <a:p>
            <a:pPr indent="0" marL="0">
              <a:buNone/>
            </a:pPr>
            <a:r>
              <a:rPr lang="en-US" sz="2000" b="1" dirty="0">
                <a:solidFill>
                  <a:schemeClr val="bg1"/>
                </a:solidFill>
              </a:rPr>
              <a:t>Irrigate maize where water rights allow</a:t>
            </a:r>
            <a:endParaRPr lang="en-US" sz="2000" dirty="0"/>
          </a:p>
          <a:p>
            <a:pPr indent="0" marL="0">
              <a:buNone/>
            </a:pPr>
            <a:r>
              <a:rPr lang="en-US" sz="1600" dirty="0">
                <a:solidFill>
                  <a:schemeClr val="bg1"/>
                </a:solidFill>
              </a:rPr>
              <a:t>a 4.9 t/ha gap, about N$ 16,000/ha per season in margin</a:t>
            </a:r>
            <a:endParaRPr lang="en-US" sz="2000" dirty="0"/>
          </a:p>
        </p:txBody>
      </p:sp>
      <p:sp>
        <p:nvSpPr>
          <p:cNvPr id="5" name="step 2"/>
          <p:cNvSpPr/>
          <p:nvPr/>
        </p:nvSpPr>
        <p:spPr>
          <a:xfrm>
            <a:off x="731520" y="2724912"/>
            <a:ext cx="548640" cy="54864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6" name="Text 4"/>
          <p:cNvSpPr txBox="1"/>
          <p:nvPr/>
        </p:nvSpPr>
        <p:spPr>
          <a:xfrm>
            <a:off x="1508760" y="2679192"/>
            <a:ext cx="9966960" cy="960120"/>
          </a:xfrm>
          <a:prstGeom prst="rect">
            <a:avLst/>
          </a:prstGeom>
          <a:noFill/>
          <a:ln/>
        </p:spPr>
        <p:txBody>
          <a:bodyPr wrap="square" lIns="0" tIns="0" rIns="0" bIns="0" rtlCol="0" anchor="t"/>
          <a:lstStyle/>
          <a:p>
            <a:pPr indent="0" marL="0">
              <a:buNone/>
            </a:pPr>
            <a:r>
              <a:rPr lang="en-US" sz="2000" b="1" dirty="0">
                <a:solidFill>
                  <a:schemeClr val="bg1"/>
                </a:solidFill>
              </a:rPr>
              <a:t>De-risk revenue concentration</a:t>
            </a:r>
            <a:endParaRPr lang="en-US" sz="2000" dirty="0"/>
          </a:p>
          <a:p>
            <a:pPr indent="0" marL="0">
              <a:buNone/>
            </a:pPr>
            <a:r>
              <a:rPr lang="en-US" sz="1600" dirty="0">
                <a:solidFill>
                  <a:schemeClr val="bg1"/>
                </a:solidFill>
              </a:rPr>
              <a:t>57 % from 10 buyers, 60 % in one quarter: add a second export window</a:t>
            </a:r>
            <a:endParaRPr lang="en-US" sz="2000" dirty="0"/>
          </a:p>
        </p:txBody>
      </p:sp>
      <p:sp>
        <p:nvSpPr>
          <p:cNvPr id="7" name="step 3"/>
          <p:cNvSpPr/>
          <p:nvPr/>
        </p:nvSpPr>
        <p:spPr>
          <a:xfrm>
            <a:off x="731520" y="3803904"/>
            <a:ext cx="548640" cy="54864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8" name="Text 6"/>
          <p:cNvSpPr txBox="1"/>
          <p:nvPr/>
        </p:nvSpPr>
        <p:spPr>
          <a:xfrm>
            <a:off x="1508760" y="3758184"/>
            <a:ext cx="9966960" cy="960120"/>
          </a:xfrm>
          <a:prstGeom prst="rect">
            <a:avLst/>
          </a:prstGeom>
          <a:noFill/>
          <a:ln/>
        </p:spPr>
        <p:txBody>
          <a:bodyPr wrap="square" lIns="0" tIns="0" rIns="0" bIns="0" rtlCol="0" anchor="t"/>
          <a:lstStyle/>
          <a:p>
            <a:pPr indent="0" marL="0">
              <a:buNone/>
            </a:pPr>
            <a:r>
              <a:rPr lang="en-US" sz="2000" b="1" dirty="0">
                <a:solidFill>
                  <a:schemeClr val="bg1"/>
                </a:solidFill>
              </a:rPr>
              <a:t>Run the data-quality process weekly</a:t>
            </a:r>
            <a:endParaRPr lang="en-US" sz="2000" dirty="0"/>
          </a:p>
          <a:p>
            <a:pPr indent="0" marL="0">
              <a:buNone/>
            </a:pPr>
            <a:r>
              <a:rPr lang="en-US" sz="1600" dirty="0">
                <a:solidFill>
                  <a:schemeClr val="bg1"/>
                </a:solidFill>
              </a:rPr>
              <a:t>37 rules with named stewards; credit the N$ 4.9 m mispriced invoices</a:t>
            </a:r>
            <a:endParaRPr lang="en-US" sz="2000" dirty="0"/>
          </a:p>
        </p:txBody>
      </p:sp>
      <p:sp>
        <p:nvSpPr>
          <p:cNvPr id="9" name="step 4"/>
          <p:cNvSpPr/>
          <p:nvPr/>
        </p:nvSpPr>
        <p:spPr>
          <a:xfrm>
            <a:off x="731520" y="4882896"/>
            <a:ext cx="548640" cy="54864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0" name="Text 8"/>
          <p:cNvSpPr txBox="1"/>
          <p:nvPr/>
        </p:nvSpPr>
        <p:spPr>
          <a:xfrm>
            <a:off x="1508760" y="4837176"/>
            <a:ext cx="9966960" cy="960120"/>
          </a:xfrm>
          <a:prstGeom prst="rect">
            <a:avLst/>
          </a:prstGeom>
          <a:noFill/>
          <a:ln/>
        </p:spPr>
        <p:txBody>
          <a:bodyPr wrap="square" lIns="0" tIns="0" rIns="0" bIns="0" rtlCol="0" anchor="t"/>
          <a:lstStyle/>
          <a:p>
            <a:pPr indent="0" marL="0">
              <a:buNone/>
            </a:pPr>
            <a:r>
              <a:rPr lang="en-US" sz="2000" b="1" dirty="0">
                <a:solidFill>
                  <a:schemeClr val="bg1"/>
                </a:solidFill>
              </a:rPr>
              <a:t>Publish the Power BI app with RLS</a:t>
            </a:r>
            <a:endParaRPr lang="en-US" sz="2000" dirty="0"/>
          </a:p>
          <a:p>
            <a:pPr indent="0" marL="0">
              <a:buNone/>
            </a:pPr>
            <a:r>
              <a:rPr lang="en-US" sz="1600" dirty="0">
                <a:solidFill>
                  <a:schemeClr val="bg1"/>
                </a:solidFill>
              </a:rPr>
              <a:t>one trusted view for executives, zone managers and the export desk</a:t>
            </a:r>
            <a:endParaRPr lang="en-US" sz="2000" dirty="0"/>
          </a:p>
        </p:txBody>
      </p:sp>
      <p:sp>
        <p:nvSpPr>
          <p:cNvPr id="11" name="Text 9"/>
          <p:cNvSpPr txBox="1"/>
          <p:nvPr/>
        </p:nvSpPr>
        <p:spPr>
          <a:xfrm>
            <a:off x="731520" y="5989320"/>
            <a:ext cx="10698480" cy="457200"/>
          </a:xfrm>
          <a:prstGeom prst="rect">
            <a:avLst/>
          </a:prstGeom>
          <a:noFill/>
          <a:ln/>
        </p:spPr>
        <p:txBody>
          <a:bodyPr wrap="square" rtlCol="0" anchor="ctr"/>
          <a:lstStyle/>
          <a:p>
            <a:pPr indent="0" marL="0">
              <a:buNone/>
            </a:pPr>
            <a:r>
              <a:rPr lang="en-US" sz="2000" b="1" dirty="0">
                <a:solidFill>
                  <a:schemeClr val="bg2"/>
                </a:solidFill>
                <a:latin typeface="Cambria" pitchFamily="34" charset="0"/>
                <a:ea typeface="Cambria" pitchFamily="34" charset="-122"/>
                <a:cs typeface="Cambria" pitchFamily="34" charset="-120"/>
              </a:rPr>
              <a:t>Thank you - questions?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Backup: Production and Yield page</a:t>
            </a:r>
            <a:endParaRPr lang="en-US" sz="2800" dirty="0"/>
          </a:p>
        </p:txBody>
      </p:sp>
      <p:pic>
        <p:nvPicPr>
          <p:cNvPr id="3" name="Image 0" descr="Production and yield diagnostics page: yield by region and farm, yield by season and irrigation method, rainfall versus yield, harvest by month">    </p:cNvPr>
          <p:cNvPicPr>
            <a:picLocks noChangeAspect="1"/>
          </p:cNvPicPr>
          <p:nvPr/>
        </p:nvPicPr>
        <p:blipFill>
          <a:blip r:embed="rId1"/>
          <a:stretch>
            <a:fillRect/>
          </a:stretch>
        </p:blipFill>
        <p:spPr>
          <a:xfrm>
            <a:off x="1545336" y="1188720"/>
            <a:ext cx="9107424" cy="512064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Backup: Advanced Analytics page</a:t>
            </a:r>
            <a:endParaRPr lang="en-US" sz="2800" dirty="0"/>
          </a:p>
        </p:txBody>
      </p:sp>
      <p:pic>
        <p:nvPicPr>
          <p:cNvPr id="3" name="Image 0" descr="Advanced analytics page: forecast with interval, yield drivers, customer segments">    </p:cNvPr>
          <p:cNvPicPr>
            <a:picLocks noChangeAspect="1"/>
          </p:cNvPicPr>
          <p:nvPr/>
        </p:nvPicPr>
        <p:blipFill>
          <a:blip r:embed="rId1"/>
          <a:stretch>
            <a:fillRect/>
          </a:stretch>
        </p:blipFill>
        <p:spPr>
          <a:xfrm>
            <a:off x="1545336" y="1188720"/>
            <a:ext cx="9107424" cy="512064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Backup: Operations and Data Quality page</a:t>
            </a:r>
            <a:endParaRPr lang="en-US" sz="2800" dirty="0"/>
          </a:p>
        </p:txBody>
      </p:sp>
      <p:pic>
        <p:nvPicPr>
          <p:cNvPr id="3" name="Image 0" descr="Operations page: closing stock, received versus dispatched, farm operations table, security and data-quality card">    </p:cNvPr>
          <p:cNvPicPr>
            <a:picLocks noChangeAspect="1"/>
          </p:cNvPicPr>
          <p:nvPr/>
        </p:nvPicPr>
        <p:blipFill>
          <a:blip r:embed="rId1"/>
          <a:stretch>
            <a:fillRect/>
          </a:stretch>
        </p:blipFill>
        <p:spPr>
          <a:xfrm>
            <a:off x="1545336" y="1188720"/>
            <a:ext cx="9107424" cy="512064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Green Basket">
  <a:themeElements>
    <a:clrScheme name="Green Basket">
      <a:dk1>
        <a:srgbClr val="0B0B0B"/>
      </a:dk1>
      <a:lt1>
        <a:srgbClr val="FFFFFF"/>
      </a:lt1>
      <a:dk2>
        <a:srgbClr val="1F4D3A"/>
      </a:dk2>
      <a:lt2>
        <a:srgbClr val="EEF3EF"/>
      </a:lt2>
      <a:accent1>
        <a:srgbClr val="2A78D6"/>
      </a:accent1>
      <a:accent2>
        <a:srgbClr val="EB6834"/>
      </a:accent2>
      <a:accent3>
        <a:srgbClr val="1BAF7A"/>
      </a:accent3>
      <a:accent4>
        <a:srgbClr val="EDA100"/>
      </a:accent4>
      <a:accent5>
        <a:srgbClr val="E87BA4"/>
      </a:accent5>
      <a:accent6>
        <a:srgbClr val="6250D6"/>
      </a:accent6>
      <a:hlink>
        <a:srgbClr val="2A78D6"/>
      </a:hlink>
      <a:folHlink>
        <a:srgbClr val="6250D6"/>
      </a:folHlink>
    </a:clrScheme>
    <a:fontScheme name="Green Bask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Basket cc - ABI820S group presentation</dc:title>
  <dc:subject>End-to-end BI solution for the Agriculture Division</dc:subject>
  <dc:creator>ABI820S consulting group</dc:creator>
  <cp:lastModifiedBy>ABI820S consulting group</cp:lastModifiedBy>
  <cp:revision>1</cp:revision>
  <dcterms:created xsi:type="dcterms:W3CDTF">2026-10-27T14:07:11Z</dcterms:created>
  <dcterms:modified xsi:type="dcterms:W3CDTF">2026-10-27T14:07:11Z</dcterms:modified>
</cp:coreProperties>
</file>